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4647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377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9143107" y="521990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8749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6273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4140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8813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4140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8813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4140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8813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3308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11603137" y="62115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630" y="521990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815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7941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8907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1033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2390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7791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29084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0737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2092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7276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8385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5716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44810" y="4639667"/>
            <a:ext cx="1578235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544810" y="4912717"/>
            <a:ext cx="1742683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Outdated info, lost chats and unanswered messages hide good vendors.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2725738" y="4639667"/>
            <a:ext cx="185617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170" dirty="0"/>
          </a:p>
        </p:txBody>
      </p:sp>
      <p:sp>
        <p:nvSpPr>
          <p:cNvPr id="19" name="Text 17"/>
          <p:cNvSpPr txBox="1"/>
          <p:nvPr/>
        </p:nvSpPr>
        <p:spPr>
          <a:xfrm>
            <a:off x="2725738" y="4912717"/>
            <a:ext cx="1680365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sellers run on status updates: no storefront, no order tracking.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4906764" y="4639667"/>
            <a:ext cx="124328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structure or recourse</a:t>
            </a:r>
            <a:endParaRPr lang="en-US" sz="1170" dirty="0"/>
          </a:p>
        </p:txBody>
      </p:sp>
      <p:sp>
        <p:nvSpPr>
          <p:cNvPr id="21" name="Text 19"/>
          <p:cNvSpPr txBox="1"/>
          <p:nvPr/>
        </p:nvSpPr>
        <p:spPr>
          <a:xfrm>
            <a:off x="4906764" y="5128617"/>
            <a:ext cx="1812858" cy="50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6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delivery and disputes happen off-platform, with no record.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11899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7321550" y="1443930"/>
            <a:ext cx="106026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340" dirty="0"/>
          </a:p>
        </p:txBody>
      </p:sp>
      <p:sp>
        <p:nvSpPr>
          <p:cNvPr id="24" name="Text 22"/>
          <p:cNvSpPr txBox="1"/>
          <p:nvPr/>
        </p:nvSpPr>
        <p:spPr>
          <a:xfrm>
            <a:off x="9660638" y="1647130"/>
            <a:ext cx="191541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7321550" y="2185392"/>
            <a:ext cx="1049007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340" dirty="0"/>
          </a:p>
        </p:txBody>
      </p:sp>
      <p:sp>
        <p:nvSpPr>
          <p:cNvPr id="26" name="Text 24"/>
          <p:cNvSpPr txBox="1"/>
          <p:nvPr/>
        </p:nvSpPr>
        <p:spPr>
          <a:xfrm>
            <a:off x="9902480" y="2388592"/>
            <a:ext cx="1673570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930" dirty="0"/>
          </a:p>
        </p:txBody>
      </p:sp>
      <p:sp>
        <p:nvSpPr>
          <p:cNvPr id="27" name="Text 25"/>
          <p:cNvSpPr txBox="1"/>
          <p:nvPr/>
        </p:nvSpPr>
        <p:spPr>
          <a:xfrm>
            <a:off x="7321550" y="2926854"/>
            <a:ext cx="89676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340" dirty="0"/>
          </a:p>
        </p:txBody>
      </p:sp>
      <p:sp>
        <p:nvSpPr>
          <p:cNvPr id="28" name="Text 26"/>
          <p:cNvSpPr txBox="1"/>
          <p:nvPr/>
        </p:nvSpPr>
        <p:spPr>
          <a:xfrm>
            <a:off x="9719028" y="3130054"/>
            <a:ext cx="18570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930" dirty="0"/>
          </a:p>
        </p:txBody>
      </p:sp>
      <p:sp>
        <p:nvSpPr>
          <p:cNvPr id="29" name="Text 27"/>
          <p:cNvSpPr txBox="1"/>
          <p:nvPr/>
        </p:nvSpPr>
        <p:spPr>
          <a:xfrm>
            <a:off x="7321550" y="3668316"/>
            <a:ext cx="1150818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34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340" dirty="0"/>
          </a:p>
        </p:txBody>
      </p:sp>
      <p:sp>
        <p:nvSpPr>
          <p:cNvPr id="30" name="Text 28"/>
          <p:cNvSpPr txBox="1"/>
          <p:nvPr/>
        </p:nvSpPr>
        <p:spPr>
          <a:xfrm>
            <a:off x="9410091" y="3871516"/>
            <a:ext cx="2165959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930" dirty="0"/>
          </a:p>
        </p:txBody>
      </p:sp>
      <p:sp>
        <p:nvSpPr>
          <p:cNvPr id="31" name="Text 29"/>
          <p:cNvSpPr txBox="1"/>
          <p:nvPr/>
        </p:nvSpPr>
        <p:spPr>
          <a:xfrm>
            <a:off x="7321550" y="4409777"/>
            <a:ext cx="4481185" cy="636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Buyers: students &amp; the campus community. Sellers: student vendors and small campus businesses. *Assumes ₦12,000 spent per student per month through vendors (≈₦360B a year). Enrolment: NUC (2018), UNESCO/World Bank; UNILAG and LASU published figures.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67570"/>
            <a:ext cx="510765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structured place for the whole campus commerce journey.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34070" y="2139454"/>
            <a:ext cx="8590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1134070" y="2393454"/>
            <a:ext cx="4189871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 and packages from vendors near you, by campus, category or map.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1134070" y="3023592"/>
            <a:ext cx="81480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380" dirty="0"/>
          </a:p>
        </p:txBody>
      </p:sp>
      <p:sp>
        <p:nvSpPr>
          <p:cNvPr id="9" name="Text 7"/>
          <p:cNvSpPr txBox="1"/>
          <p:nvPr/>
        </p:nvSpPr>
        <p:spPr>
          <a:xfrm>
            <a:off x="1134070" y="3277592"/>
            <a:ext cx="4304740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 storefronts, in-app chat and negotiation. Follow your favourites.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1134070" y="3907730"/>
            <a:ext cx="8654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380" dirty="0"/>
          </a:p>
        </p:txBody>
      </p:sp>
      <p:sp>
        <p:nvSpPr>
          <p:cNvPr id="11" name="Text 9"/>
          <p:cNvSpPr txBox="1"/>
          <p:nvPr/>
        </p:nvSpPr>
        <p:spPr>
          <a:xfrm>
            <a:off x="1134070" y="4161730"/>
            <a:ext cx="4354001" cy="336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 and rate, with a record and a dispute process behind every sale.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0628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0628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2024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2024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4969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0523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4365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29697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0553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5029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0538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488384"/>
            <a:ext cx="114954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708055"/>
            <a:ext cx="2010960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Can’t find it? Post a request; vendors in that sector who opt in send you offers.</a:t>
            </a:r>
            <a:endParaRPr lang="en-US" sz="74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488384"/>
            <a:ext cx="141474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708055"/>
            <a:ext cx="1900655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week of promotion for the top vendor. Our live growth campaign.</a:t>
            </a:r>
            <a:endParaRPr lang="en-US" sz="74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488384"/>
            <a:ext cx="117693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708055"/>
            <a:ext cx="2040261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Negotiable listings, rentals and services booked in the same app.</a:t>
            </a:r>
            <a:endParaRPr lang="en-US" sz="74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488384"/>
            <a:ext cx="130273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708055"/>
            <a:ext cx="1865303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helper that finds products and answers questions.</a:t>
            </a:r>
            <a:endParaRPr lang="en-US" sz="74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488384"/>
            <a:ext cx="110707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708055"/>
            <a:ext cx="1938343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 and referral rewards to grow buyers and sales.</a:t>
            </a:r>
            <a:endParaRPr lang="en-US" sz="740" dirty="0"/>
          </a:p>
        </p:txBody>
      </p:sp>
      <p:sp>
        <p:nvSpPr>
          <p:cNvPr id="35" name="Text 33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3768" y="521990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284089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418259"/>
            <a:ext cx="4984297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and vendors are using it now. Tap through the screens to see what they see.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79874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848795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79874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848795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79874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848795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61582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61582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947543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947543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335488"/>
            <a:ext cx="5371902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stage: pre-revenue. Building and validating the marketplace network in Lagos; billing and payments are rolling out next.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622" y="521990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7613" y="180002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7492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8685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826048"/>
            <a:ext cx="3943889" cy="36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96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0804327" y="180002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7492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8685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826048"/>
            <a:ext cx="3712451" cy="36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96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896816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3896816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3896816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896816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168477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168477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168477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168477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34098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34098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34098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34098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899720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899720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899720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899720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281216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265341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265341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265341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747742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760442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760442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760442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760442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760442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4772402" y="6227465"/>
            <a:ext cx="701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5714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5714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5714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7110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0016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0828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5169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5169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5169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5169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4903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8699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3650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4462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4195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8601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0226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539357"/>
            <a:ext cx="6241916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advantage: students are the founders and the users; the vendors are their classmates; every campus we open makes the next one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5022751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5022751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5022751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5022751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5022751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5022751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646436"/>
            <a:ext cx="24559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14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855986"/>
            <a:ext cx="3927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week of promotion pulls vendors in, and their followers follow.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400598"/>
            <a:ext cx="291271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14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610148"/>
            <a:ext cx="46198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and faculty reps onboard vendors; orientation-week stalls with QR codes.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154759"/>
            <a:ext cx="15907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14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364309"/>
            <a:ext cx="42694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TikTok, Instagram, LinkedIn and a WhatsApp community, one @levromart.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908921"/>
            <a:ext cx="15396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14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118471"/>
            <a:ext cx="39259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 and referral rewards to lift first orders and repeat use.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663083"/>
            <a:ext cx="14417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14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872633"/>
            <a:ext cx="39321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logistics such as Run It (partnership in progress, not yet live).</a:t>
            </a:r>
            <a:endParaRPr lang="en-US" sz="830" dirty="0"/>
          </a:p>
        </p:txBody>
      </p:sp>
      <p:sp>
        <p:nvSpPr>
          <p:cNvPr id="41" name="Text 39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87659" y="521990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105521"/>
            <a:ext cx="5449507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bring their own stock and (mostly) their own delivery. 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723059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413323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723059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413323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923705"/>
            <a:ext cx="8329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4134445"/>
            <a:ext cx="196477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inventory, no fleet, no warehouses.</a:t>
            </a:r>
            <a:endParaRPr lang="en-US" sz="74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923705"/>
            <a:ext cx="1690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4134445"/>
            <a:ext cx="1908299" cy="41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reminders, auto-cancel, auto-complete, payment matching, Levi support.</a:t>
            </a:r>
            <a:endParaRPr lang="en-US" sz="74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869458"/>
            <a:ext cx="146750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5270698"/>
            <a:ext cx="2017542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Nigerian institutions are already in the app, including medical colleges.</a:t>
            </a:r>
            <a:endParaRPr lang="en-US" sz="74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869458"/>
            <a:ext cx="867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5080198"/>
            <a:ext cx="1951932" cy="27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web app, managed database, CDN: capacity on demand.</a:t>
            </a:r>
            <a:endParaRPr lang="en-US" sz="74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2000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580856"/>
            <a:ext cx="5240470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 1,100 (M12) → 3,600 (M24) → 8,500 (M36); about 45–60% active. Network effects (follows, leaderboard, requests) lower the cost of each new vendor.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745581"/>
            <a:ext cx="113128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141762"/>
            <a:ext cx="3041388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Recurring, 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commission only on completed sales, or a flat monthly listing fee.</a:t>
            </a:r>
            <a:endParaRPr lang="en-US" sz="89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561259"/>
            <a:ext cx="2838402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team on stipends; infrastructure under ₦150K a month in Year 1.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3980755"/>
            <a:ext cx="3225795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with a funded runway and a 36% cash buffer.</a:t>
            </a:r>
            <a:endParaRPr lang="en-US" sz="89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745581"/>
            <a:ext cx="14320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141762"/>
            <a:ext cx="3106360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 verification, ratings, dispute process, order records.</a:t>
            </a:r>
            <a:endParaRPr lang="en-US" sz="89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561259"/>
            <a:ext cx="3116977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 workflows: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reminders, auto-cancel, auto-complete, payment matching.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3980755"/>
            <a:ext cx="3011874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 and Refund policies updated Oct 2026; NDPA-aware data handling.</a:t>
            </a:r>
            <a:endParaRPr lang="en-US" sz="89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745581"/>
            <a:ext cx="2656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141762"/>
            <a:ext cx="3250850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rentals and second-hand listings extend product life.</a:t>
            </a:r>
            <a:endParaRPr lang="en-US" sz="89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61259"/>
            <a:ext cx="3085446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distance-sorted results mean shorter trips and fewer parcels.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980755"/>
            <a:ext cx="3223247" cy="33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89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 vendors earn online, without a shop or ads budget.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18609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092303"/>
            <a:ext cx="8267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276354"/>
            <a:ext cx="2119035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goes live first; a funded runway to month 19.</a:t>
            </a:r>
            <a:endParaRPr lang="en-US" sz="76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092303"/>
            <a:ext cx="102575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89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276354"/>
            <a:ext cx="2265860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activations, ambassadors, Vendor of the Week.</a:t>
            </a:r>
            <a:endParaRPr lang="en-US" sz="76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092303"/>
            <a:ext cx="10617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89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276354"/>
            <a:ext cx="2007350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campus partner (Run It) in progress.</a:t>
            </a:r>
            <a:endParaRPr lang="en-US" sz="76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092303"/>
            <a:ext cx="10846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276354"/>
            <a:ext cx="2279979" cy="291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6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keep chat, and add storefronts, records and trust.</a:t>
            </a:r>
            <a:endParaRPr lang="en-US" sz="76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6984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6984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6984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6984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1995487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1995487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1995487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1995487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344738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344738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344738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344738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6939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6939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6939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6939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062287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062287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062287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062287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4115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4115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2254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5556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2254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5556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2254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5556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2254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5556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128121"/>
            <a:ext cx="5362665" cy="464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Costs: team stipends and hires (₦0.45M → ₦2.6M/month), campus marketing (₦0.65M → ₦3.0M), infrastructure, legal and 8% support. Revenue starts in month 3. Downside check: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7086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8" name="Text 36"/>
          <p:cNvSpPr txBox="1"/>
          <p:nvPr/>
        </p:nvSpPr>
        <p:spPr>
          <a:xfrm>
            <a:off x="6750645" y="6217940"/>
            <a:ext cx="53874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03137" y="5219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47230"/>
            <a:ext cx="9471533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Product, technology, finance, growth, community and research: every function a two-sided marketplace needs.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4069854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7" name="Text 5"/>
          <p:cNvSpPr txBox="1"/>
          <p:nvPr/>
        </p:nvSpPr>
        <p:spPr>
          <a:xfrm>
            <a:off x="406400" y="4293295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4069854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9" name="Text 7"/>
          <p:cNvSpPr txBox="1"/>
          <p:nvPr/>
        </p:nvSpPr>
        <p:spPr>
          <a:xfrm>
            <a:off x="1683147" y="4293295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4069854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2959894" y="4293295"/>
            <a:ext cx="989661" cy="549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BUSINESS DEVELOPMENT LEAD</a:t>
            </a:r>
            <a:endParaRPr lang="en-US" sz="72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4069854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4236641" y="4293295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069953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5513388" y="4468614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069854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790234" y="4468515"/>
            <a:ext cx="978620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GROWTH LEAD</a:t>
            </a:r>
            <a:endParaRPr lang="en-US" sz="72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069854"/>
            <a:ext cx="11847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7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8066980" y="4293295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4069854"/>
            <a:ext cx="11910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8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9343727" y="4293295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4069953"/>
            <a:ext cx="11927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9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10620474" y="4293394"/>
            <a:ext cx="766465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TO BE ADDED</a:t>
            </a:r>
            <a:endParaRPr lang="en-US" sz="720" dirty="0"/>
          </a:p>
        </p:txBody>
      </p:sp>
      <p:sp>
        <p:nvSpPr>
          <p:cNvPr id="24" name="Text 22"/>
          <p:cNvSpPr txBox="1"/>
          <p:nvPr/>
        </p:nvSpPr>
        <p:spPr>
          <a:xfrm>
            <a:off x="761901" y="5260181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3407966" y="5260181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09766" y="5260181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8" name="Text 2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40245" y="521990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9327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3204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3204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5628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5628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805237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805237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0476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0476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2900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2900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0351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1901" y="542349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9701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3851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7686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3851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7686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3851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7686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3851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7686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3907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6297115" y="4318595"/>
            <a:ext cx="83721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7493000" y="4318595"/>
            <a:ext cx="599182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8664873" y="4318595"/>
            <a:ext cx="409377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9692779" y="4318595"/>
            <a:ext cx="50740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10577516" y="4318595"/>
            <a:ext cx="891672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community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6228060" y="4553545"/>
            <a:ext cx="359641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· @levromart · AMSUL Business Pitch Competition 2026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05827" y="6217940"/>
            <a:ext cx="1797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Buy · Sell · Connect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2026-10-25T00:03:54Z</dcterms:created>
  <dcterms:modified xsi:type="dcterms:W3CDTF">2026-10-25T00:03:54Z</dcterms:modified>
</cp:coreProperties>
</file>