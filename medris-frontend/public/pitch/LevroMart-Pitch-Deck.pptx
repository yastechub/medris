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5155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885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7397353" y="572691"/>
            <a:ext cx="266439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AMSUL Business Pitch Competition 2026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9765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728938"/>
            <a:ext cx="6614552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is the campus marketplace where students discover, trust and order from verified vendors, all in one app.</a:t>
            </a:r>
            <a:endParaRPr lang="en-US" sz="131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515644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8" name="Text 6"/>
          <p:cNvSpPr txBox="1"/>
          <p:nvPr/>
        </p:nvSpPr>
        <p:spPr>
          <a:xfrm>
            <a:off x="615950" y="4982964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515644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10" name="Text 8"/>
          <p:cNvSpPr txBox="1"/>
          <p:nvPr/>
        </p:nvSpPr>
        <p:spPr>
          <a:xfrm>
            <a:off x="2563316" y="4982964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515644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2" name="Text 10"/>
          <p:cNvSpPr txBox="1"/>
          <p:nvPr/>
        </p:nvSpPr>
        <p:spPr>
          <a:xfrm>
            <a:off x="4379813" y="4982964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3" name="Text 11"/>
          <p:cNvSpPr txBox="1"/>
          <p:nvPr/>
        </p:nvSpPr>
        <p:spPr>
          <a:xfrm>
            <a:off x="406400" y="5432425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11603137" y="62115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876" y="572691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831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8957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9923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2049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3406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8807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30100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1753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3108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8292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9401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6732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95610" y="4893667"/>
            <a:ext cx="134860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380" dirty="0"/>
          </a:p>
        </p:txBody>
      </p:sp>
      <p:sp>
        <p:nvSpPr>
          <p:cNvPr id="17" name="Text 15"/>
          <p:cNvSpPr txBox="1"/>
          <p:nvPr/>
        </p:nvSpPr>
        <p:spPr>
          <a:xfrm>
            <a:off x="2776537" y="4893667"/>
            <a:ext cx="160137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957564" y="4893667"/>
            <a:ext cx="16388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order records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7321550" y="12915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7321550" y="1677988"/>
            <a:ext cx="130974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90" dirty="0"/>
          </a:p>
        </p:txBody>
      </p:sp>
      <p:sp>
        <p:nvSpPr>
          <p:cNvPr id="21" name="Text 19"/>
          <p:cNvSpPr txBox="1"/>
          <p:nvPr/>
        </p:nvSpPr>
        <p:spPr>
          <a:xfrm>
            <a:off x="9447248" y="1951037"/>
            <a:ext cx="2128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 (UNILAG &amp; LASU alone)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2653705"/>
            <a:ext cx="129573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890" dirty="0"/>
          </a:p>
        </p:txBody>
      </p:sp>
      <p:sp>
        <p:nvSpPr>
          <p:cNvPr id="23" name="Text 21"/>
          <p:cNvSpPr txBox="1"/>
          <p:nvPr/>
        </p:nvSpPr>
        <p:spPr>
          <a:xfrm>
            <a:off x="9716056" y="2926755"/>
            <a:ext cx="18599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across Nigeria’s tertiary institutions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7321550" y="3629422"/>
            <a:ext cx="110771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890" dirty="0"/>
          </a:p>
        </p:txBody>
      </p:sp>
      <p:sp>
        <p:nvSpPr>
          <p:cNvPr id="25" name="Text 23"/>
          <p:cNvSpPr txBox="1"/>
          <p:nvPr/>
        </p:nvSpPr>
        <p:spPr>
          <a:xfrm>
            <a:off x="9512008" y="3902472"/>
            <a:ext cx="20640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Africa: the long-term horizon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7321550" y="4605139"/>
            <a:ext cx="142164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890" dirty="0"/>
          </a:p>
        </p:txBody>
      </p:sp>
      <p:sp>
        <p:nvSpPr>
          <p:cNvPr id="27" name="Text 25"/>
          <p:cNvSpPr txBox="1"/>
          <p:nvPr/>
        </p:nvSpPr>
        <p:spPr>
          <a:xfrm>
            <a:off x="9670087" y="4878189"/>
            <a:ext cx="19059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 in Nigeria at a 3% take rate*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7321550" y="5580856"/>
            <a:ext cx="4056953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NUC (2018), UNESCO/World Bank, UNILAG and LASU. *Assumes ₦12,000 per student per month, 3% take rate.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769170"/>
            <a:ext cx="274954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for campus commerce.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64530" y="2383334"/>
            <a:ext cx="10306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64530" y="2688134"/>
            <a:ext cx="346710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services, rentals, packages: near you</a:t>
            </a:r>
            <a:endParaRPr lang="en-US" sz="1070" dirty="0"/>
          </a:p>
        </p:txBody>
      </p:sp>
      <p:sp>
        <p:nvSpPr>
          <p:cNvPr id="8" name="Text 6"/>
          <p:cNvSpPr txBox="1"/>
          <p:nvPr/>
        </p:nvSpPr>
        <p:spPr>
          <a:xfrm>
            <a:off x="1164530" y="3352502"/>
            <a:ext cx="9775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164530" y="3657302"/>
            <a:ext cx="309064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storefronts, chat and negotiation</a:t>
            </a:r>
            <a:endParaRPr lang="en-US" sz="1070" dirty="0"/>
          </a:p>
        </p:txBody>
      </p:sp>
      <p:sp>
        <p:nvSpPr>
          <p:cNvPr id="10" name="Text 8"/>
          <p:cNvSpPr txBox="1"/>
          <p:nvPr/>
        </p:nvSpPr>
        <p:spPr>
          <a:xfrm>
            <a:off x="1164530" y="4321671"/>
            <a:ext cx="10381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164530" y="4626471"/>
            <a:ext cx="272862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pay, track, rate, with a record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7477657" y="11644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8695502" y="11644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9853975" y="13040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10857043" y="13040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15985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8970863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10159802" y="16841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5933380" y="21539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25381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933380" y="30713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10159802" y="31569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5933380" y="36045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5831780" y="41554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534591" y="5576590"/>
            <a:ext cx="1268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34591" y="5821561"/>
            <a:ext cx="172930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it. Vendors send offers.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2830711" y="5576590"/>
            <a:ext cx="15616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830711" y="5821561"/>
            <a:ext cx="14939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week of promotion</a:t>
            </a:r>
            <a:endParaRPr lang="en-US" sz="890" dirty="0"/>
          </a:p>
        </p:txBody>
      </p:sp>
      <p:sp>
        <p:nvSpPr>
          <p:cNvPr id="29" name="Text 27"/>
          <p:cNvSpPr txBox="1"/>
          <p:nvPr/>
        </p:nvSpPr>
        <p:spPr>
          <a:xfrm>
            <a:off x="5126831" y="5576590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26831" y="5821561"/>
            <a:ext cx="13353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Negotiate, rent, book</a:t>
            </a:r>
            <a:endParaRPr lang="en-US" sz="890" dirty="0"/>
          </a:p>
        </p:txBody>
      </p:sp>
      <p:sp>
        <p:nvSpPr>
          <p:cNvPr id="31" name="Text 29"/>
          <p:cNvSpPr txBox="1"/>
          <p:nvPr/>
        </p:nvSpPr>
        <p:spPr>
          <a:xfrm>
            <a:off x="7423051" y="5576590"/>
            <a:ext cx="14379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423051" y="5821561"/>
            <a:ext cx="11752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finds things</a:t>
            </a:r>
            <a:endParaRPr lang="en-US" sz="890" dirty="0"/>
          </a:p>
        </p:txBody>
      </p:sp>
      <p:sp>
        <p:nvSpPr>
          <p:cNvPr id="33" name="Text 31"/>
          <p:cNvSpPr txBox="1"/>
          <p:nvPr/>
        </p:nvSpPr>
        <p:spPr>
          <a:xfrm>
            <a:off x="9719171" y="5576590"/>
            <a:ext cx="12219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719171" y="5821561"/>
            <a:ext cx="14618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offers, referrals</a:t>
            </a:r>
            <a:endParaRPr lang="en-US" sz="890" dirty="0"/>
          </a:p>
        </p:txBody>
      </p:sp>
      <p:sp>
        <p:nvSpPr>
          <p:cNvPr id="35" name="Text 33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28014" y="572691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549896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604000" y="2684066"/>
            <a:ext cx="25171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today. Tap the screens.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279279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7" name="Text 5"/>
          <p:cNvSpPr txBox="1"/>
          <p:nvPr/>
        </p:nvSpPr>
        <p:spPr>
          <a:xfrm>
            <a:off x="6793210" y="3848199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279279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9" name="Text 7"/>
          <p:cNvSpPr txBox="1"/>
          <p:nvPr/>
        </p:nvSpPr>
        <p:spPr>
          <a:xfrm>
            <a:off x="8560991" y="3848199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279279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1" name="Text 9"/>
          <p:cNvSpPr txBox="1"/>
          <p:nvPr/>
        </p:nvSpPr>
        <p:spPr>
          <a:xfrm>
            <a:off x="10328771" y="3848199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6989961" y="4560987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62021" y="4560987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989961" y="4946948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62021" y="4946948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604000" y="5334893"/>
            <a:ext cx="232138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Stage: pre-revenue · billing rolling out next</a:t>
            </a:r>
            <a:endParaRPr lang="en-US" sz="790" dirty="0"/>
          </a:p>
        </p:txBody>
      </p:sp>
      <p:sp>
        <p:nvSpPr>
          <p:cNvPr id="17" name="Text 1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868" y="572691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1262" y="190797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8508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9701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921298"/>
            <a:ext cx="3754917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sale, no commission. Aligned with the vendor from day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797977" y="190797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8508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9701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921298"/>
            <a:ext cx="3878704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pricing, no commission on that listing. One mode per listing, never both.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4002385"/>
            <a:ext cx="28755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(PER ACTIVE VENDOR)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7203182" y="4002385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9046170" y="4002385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4002385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253706"/>
            <a:ext cx="301176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per vendor / month (ARPV)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7137499" y="4253706"/>
            <a:ext cx="56733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₦1,640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9044583" y="4253706"/>
            <a:ext cx="52298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₦2,110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864652" y="4253706"/>
            <a:ext cx="58955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₦2,690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578648"/>
            <a:ext cx="30315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cost per active vendor (CAC)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7073900" y="4578648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962529" y="4578648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85574" y="4578648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903589"/>
            <a:ext cx="35001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value, 24 months at 92% margin (LTV)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7007523" y="4903589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7" name="Text 25"/>
          <p:cNvSpPr txBox="1"/>
          <p:nvPr/>
        </p:nvSpPr>
        <p:spPr>
          <a:xfrm>
            <a:off x="8880078" y="4903589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8" name="Text 26"/>
          <p:cNvSpPr txBox="1"/>
          <p:nvPr/>
        </p:nvSpPr>
        <p:spPr>
          <a:xfrm>
            <a:off x="10766524" y="4903589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737791" y="5244405"/>
            <a:ext cx="1567194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30" name="Text 28"/>
          <p:cNvSpPr txBox="1"/>
          <p:nvPr/>
        </p:nvSpPr>
        <p:spPr>
          <a:xfrm>
            <a:off x="6582466" y="5228530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31" name="Text 29"/>
          <p:cNvSpPr txBox="1"/>
          <p:nvPr/>
        </p:nvSpPr>
        <p:spPr>
          <a:xfrm>
            <a:off x="8442863" y="5228530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10313052" y="5228530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33" name="Text 31"/>
          <p:cNvSpPr txBox="1"/>
          <p:nvPr/>
        </p:nvSpPr>
        <p:spPr>
          <a:xfrm>
            <a:off x="656530" y="5690592"/>
            <a:ext cx="201064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REVENUE LAYERS (Year 2+):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2883396" y="5703292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4196060" y="5703292"/>
            <a:ext cx="217891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sponsorship &amp; ads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6592887" y="5703292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7699077" y="5703292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9189541" y="5703292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4772402" y="6227465"/>
            <a:ext cx="701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Assumptions: GMV per active vendor ₦40K→₦55K/month; 60% of vendors on commission; CAC = marketing spend ÷ new active vendors.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6730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6730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6730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8126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1032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1844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6185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6185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6185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6185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5919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9715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4666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5478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5478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5211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9617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1242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06400" y="4640957"/>
            <a:ext cx="38016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building for students; each campus makes the next cheaper.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497780" y="4960739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053B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1389757" y="4960739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2126258" y="4960739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3519487" y="4960739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4640263" y="4960739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5501779" y="4960739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1715691"/>
            <a:ext cx="28283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31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1956991"/>
            <a:ext cx="230545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promo week pulls vendors in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2469852"/>
            <a:ext cx="335425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31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2711152"/>
            <a:ext cx="1475362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reps, QR stalls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290495" y="3224014"/>
            <a:ext cx="183196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310" dirty="0"/>
          </a:p>
        </p:txBody>
      </p:sp>
      <p:sp>
        <p:nvSpPr>
          <p:cNvPr id="36" name="Text 34"/>
          <p:cNvSpPr txBox="1"/>
          <p:nvPr/>
        </p:nvSpPr>
        <p:spPr>
          <a:xfrm>
            <a:off x="7290495" y="3465314"/>
            <a:ext cx="1617303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name: @levromart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290495" y="3978176"/>
            <a:ext cx="177304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310" dirty="0"/>
          </a:p>
        </p:txBody>
      </p:sp>
      <p:sp>
        <p:nvSpPr>
          <p:cNvPr id="38" name="Text 36"/>
          <p:cNvSpPr txBox="1"/>
          <p:nvPr/>
        </p:nvSpPr>
        <p:spPr>
          <a:xfrm>
            <a:off x="7290495" y="4219476"/>
            <a:ext cx="226235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and referral rewards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290495" y="4732338"/>
            <a:ext cx="166019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310" dirty="0"/>
          </a:p>
        </p:txBody>
      </p:sp>
      <p:sp>
        <p:nvSpPr>
          <p:cNvPr id="40" name="Text 38"/>
          <p:cNvSpPr txBox="1"/>
          <p:nvPr/>
        </p:nvSpPr>
        <p:spPr>
          <a:xfrm>
            <a:off x="7290495" y="4973638"/>
            <a:ext cx="186827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(in progress, not live)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2134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MODEL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41905" y="572691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93291"/>
            <a:ext cx="5551531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207121"/>
            <a:ext cx="53376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4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sell software, so each new vendor costs almost nothing to serve.</a:t>
            </a:r>
            <a:endParaRPr lang="en-US" sz="114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2593280"/>
            <a:ext cx="95760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</a:t>
            </a:r>
            <a:endParaRPr lang="en-US" sz="385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3283545"/>
            <a:ext cx="2215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YEAR 1 → YEAR 3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3308747" y="2593280"/>
            <a:ext cx="1089668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5.5×</a:t>
            </a:r>
            <a:endParaRPr lang="en-US" sz="3850" dirty="0"/>
          </a:p>
        </p:txBody>
      </p:sp>
      <p:sp>
        <p:nvSpPr>
          <p:cNvPr id="9" name="Text 7"/>
          <p:cNvSpPr txBox="1"/>
          <p:nvPr/>
        </p:nvSpPr>
        <p:spPr>
          <a:xfrm>
            <a:off x="3308747" y="3283545"/>
            <a:ext cx="198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COSTS, YEAR 1 → YEAR 3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1032371" y="3793927"/>
            <a:ext cx="94358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170" dirty="0"/>
          </a:p>
        </p:txBody>
      </p:sp>
      <p:sp>
        <p:nvSpPr>
          <p:cNvPr id="11" name="Text 9"/>
          <p:cNvSpPr txBox="1"/>
          <p:nvPr/>
        </p:nvSpPr>
        <p:spPr>
          <a:xfrm>
            <a:off x="1032371" y="4030067"/>
            <a:ext cx="18339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stock, fleet or warehouses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3846612" y="3793927"/>
            <a:ext cx="191551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operations</a:t>
            </a:r>
            <a:endParaRPr lang="en-US" sz="1170" dirty="0"/>
          </a:p>
        </p:txBody>
      </p:sp>
      <p:sp>
        <p:nvSpPr>
          <p:cNvPr id="13" name="Text 11"/>
          <p:cNvSpPr txBox="1"/>
          <p:nvPr/>
        </p:nvSpPr>
        <p:spPr>
          <a:xfrm>
            <a:off x="3846612" y="4030067"/>
            <a:ext cx="199684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Reminders, auto-complete, Levi</a:t>
            </a:r>
            <a:endParaRPr lang="en-US" sz="890" dirty="0"/>
          </a:p>
        </p:txBody>
      </p:sp>
      <p:sp>
        <p:nvSpPr>
          <p:cNvPr id="14" name="Text 12"/>
          <p:cNvSpPr txBox="1"/>
          <p:nvPr/>
        </p:nvSpPr>
        <p:spPr>
          <a:xfrm>
            <a:off x="1032371" y="4508996"/>
            <a:ext cx="166242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campus playbook</a:t>
            </a:r>
            <a:endParaRPr lang="en-US" sz="1170" dirty="0"/>
          </a:p>
        </p:txBody>
      </p:sp>
      <p:sp>
        <p:nvSpPr>
          <p:cNvPr id="15" name="Text 13"/>
          <p:cNvSpPr txBox="1"/>
          <p:nvPr/>
        </p:nvSpPr>
        <p:spPr>
          <a:xfrm>
            <a:off x="1032371" y="4961037"/>
            <a:ext cx="17564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1,100+ institutions in the app</a:t>
            </a:r>
            <a:endParaRPr lang="en-US" sz="890" dirty="0"/>
          </a:p>
        </p:txBody>
      </p:sp>
      <p:sp>
        <p:nvSpPr>
          <p:cNvPr id="16" name="Text 14"/>
          <p:cNvSpPr txBox="1"/>
          <p:nvPr/>
        </p:nvSpPr>
        <p:spPr>
          <a:xfrm>
            <a:off x="3846612" y="4508996"/>
            <a:ext cx="98244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stack</a:t>
            </a:r>
            <a:endParaRPr lang="en-US" sz="1170" dirty="0"/>
          </a:p>
        </p:txBody>
      </p:sp>
      <p:sp>
        <p:nvSpPr>
          <p:cNvPr id="17" name="Text 15"/>
          <p:cNvSpPr txBox="1"/>
          <p:nvPr/>
        </p:nvSpPr>
        <p:spPr>
          <a:xfrm>
            <a:off x="3846612" y="4745137"/>
            <a:ext cx="185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app, managed database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498530" y="1301651"/>
            <a:ext cx="42242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&amp; MONTHLY REVENUE, BY MONTH</a:t>
            </a:r>
            <a:endParaRPr lang="en-US" sz="79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5744468"/>
            <a:ext cx="40565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case. Registered vendors: 1,100 (M12) → 3,600 (M24) → 8,500 (M36).</a:t>
            </a:r>
            <a:endParaRPr lang="en-US" sz="790" dirty="0"/>
          </a:p>
        </p:txBody>
      </p:sp>
      <p:sp>
        <p:nvSpPr>
          <p:cNvPr id="20" name="Text 18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3769" y="572691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840831"/>
            <a:ext cx="13201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93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294063"/>
            <a:ext cx="3059224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revenue: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3% on sales or ₦999 a month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794125"/>
            <a:ext cx="2910382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costs: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team, tools under ₦150K a month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4294188"/>
            <a:ext cx="32909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month 19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 cash buffer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840831"/>
            <a:ext cx="167102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93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294063"/>
            <a:ext cx="3004443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built in: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verified vendors, ratings, disputes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794125"/>
            <a:ext cx="2701026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Self-running: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reminders and auto-complete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4294188"/>
            <a:ext cx="3174730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Terms, Privacy, Refund (Oct 2026)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840831"/>
            <a:ext cx="309946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93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294063"/>
            <a:ext cx="29794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Rent, resell, reuse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extends product life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579614"/>
            <a:ext cx="2504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Hyperlocal buying: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shorter trips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865166"/>
            <a:ext cx="25948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income: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sell with no shop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317034"/>
            <a:ext cx="1257195" cy="60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 &amp; HOW WE MANAGE THEM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5289252"/>
            <a:ext cx="9539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505152"/>
            <a:ext cx="19500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first; runway to month 19</a:t>
            </a:r>
            <a:endParaRPr lang="en-US" sz="890" dirty="0"/>
          </a:p>
        </p:txBody>
      </p:sp>
      <p:sp>
        <p:nvSpPr>
          <p:cNvPr id="20" name="Text 18"/>
          <p:cNvSpPr txBox="1"/>
          <p:nvPr/>
        </p:nvSpPr>
        <p:spPr>
          <a:xfrm>
            <a:off x="4519116" y="5289252"/>
            <a:ext cx="11837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4519116" y="5505152"/>
            <a:ext cx="217158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Ambassadors, Vendor of the Week</a:t>
            </a:r>
            <a:endParaRPr lang="en-US" sz="890" dirty="0"/>
          </a:p>
        </p:txBody>
      </p:sp>
      <p:sp>
        <p:nvSpPr>
          <p:cNvPr id="22" name="Text 20"/>
          <p:cNvSpPr txBox="1"/>
          <p:nvPr/>
        </p:nvSpPr>
        <p:spPr>
          <a:xfrm>
            <a:off x="6918821" y="5289252"/>
            <a:ext cx="1225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6918821" y="5505152"/>
            <a:ext cx="173748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first; partner coming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9318526" y="5289252"/>
            <a:ext cx="1251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9318526" y="5505152"/>
            <a:ext cx="20405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>
                    <a:alpha val="88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chat, add trust and records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27611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 &amp; P&amp;L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32479" y="572691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30771"/>
            <a:ext cx="988164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pre-revenue to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19 months.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97111" y="1800027"/>
            <a:ext cx="16745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(₦ MILLION)</a:t>
            </a:r>
            <a:endParaRPr lang="en-US" sz="720" dirty="0"/>
          </a:p>
        </p:txBody>
      </p:sp>
      <p:sp>
        <p:nvSpPr>
          <p:cNvPr id="6" name="Text 4"/>
          <p:cNvSpPr txBox="1"/>
          <p:nvPr/>
        </p:nvSpPr>
        <p:spPr>
          <a:xfrm>
            <a:off x="3371453" y="1800027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4114403" y="1800027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4878189" y="1800027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697111" y="2097088"/>
            <a:ext cx="623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3608586" y="2097088"/>
            <a:ext cx="2645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4282777" y="2097088"/>
            <a:ext cx="353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5005784" y="2097088"/>
            <a:ext cx="393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697111" y="2446337"/>
            <a:ext cx="11557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costs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555206" y="2446337"/>
            <a:ext cx="3178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4265414" y="2446337"/>
            <a:ext cx="3703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5043686" y="2446337"/>
            <a:ext cx="35520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97111" y="2795588"/>
            <a:ext cx="1409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 / (loss)</a:t>
            </a:r>
            <a:endParaRPr lang="en-US" sz="1140" dirty="0"/>
          </a:p>
        </p:txBody>
      </p:sp>
      <p:sp>
        <p:nvSpPr>
          <p:cNvPr id="18" name="Text 16"/>
          <p:cNvSpPr txBox="1"/>
          <p:nvPr/>
        </p:nvSpPr>
        <p:spPr>
          <a:xfrm>
            <a:off x="3388519" y="2795588"/>
            <a:ext cx="484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140" dirty="0"/>
          </a:p>
        </p:txBody>
      </p:sp>
      <p:sp>
        <p:nvSpPr>
          <p:cNvPr id="19" name="Text 17"/>
          <p:cNvSpPr txBox="1"/>
          <p:nvPr/>
        </p:nvSpPr>
        <p:spPr>
          <a:xfrm>
            <a:off x="4378325" y="2795588"/>
            <a:ext cx="2574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5044877" y="2795588"/>
            <a:ext cx="3540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140" dirty="0"/>
          </a:p>
        </p:txBody>
      </p:sp>
      <p:sp>
        <p:nvSpPr>
          <p:cNvPr id="21" name="Text 19"/>
          <p:cNvSpPr txBox="1"/>
          <p:nvPr/>
        </p:nvSpPr>
        <p:spPr>
          <a:xfrm>
            <a:off x="697111" y="3163888"/>
            <a:ext cx="18267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(year end)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3581598" y="3163888"/>
            <a:ext cx="2915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4220369" y="3163888"/>
            <a:ext cx="4154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4972447" y="3163888"/>
            <a:ext cx="4264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697111" y="3513138"/>
            <a:ext cx="25652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revenue, month 3 / 12 / 24 / 36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3617031" y="3513138"/>
            <a:ext cx="17818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₦0.18M · ₦1.0M · ₦4.8M · ₦14.2M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534591" y="4327029"/>
            <a:ext cx="106185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1720" dirty="0"/>
          </a:p>
        </p:txBody>
      </p:sp>
      <p:sp>
        <p:nvSpPr>
          <p:cNvPr id="28" name="Text 26"/>
          <p:cNvSpPr txBox="1"/>
          <p:nvPr/>
        </p:nvSpPr>
        <p:spPr>
          <a:xfrm>
            <a:off x="534591" y="4657229"/>
            <a:ext cx="1005268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BREAK-EVEN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1875631" y="4327029"/>
            <a:ext cx="8630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1720" dirty="0"/>
          </a:p>
        </p:txBody>
      </p:sp>
      <p:sp>
        <p:nvSpPr>
          <p:cNvPr id="30" name="Text 28"/>
          <p:cNvSpPr txBox="1"/>
          <p:nvPr/>
        </p:nvSpPr>
        <p:spPr>
          <a:xfrm>
            <a:off x="1875631" y="4657229"/>
            <a:ext cx="967367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 (MONTH 18)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16771" y="4327029"/>
            <a:ext cx="4983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720" dirty="0"/>
          </a:p>
        </p:txBody>
      </p:sp>
      <p:sp>
        <p:nvSpPr>
          <p:cNvPr id="32" name="Text 30"/>
          <p:cNvSpPr txBox="1"/>
          <p:nvPr/>
        </p:nvSpPr>
        <p:spPr>
          <a:xfrm>
            <a:off x="3216771" y="4657229"/>
            <a:ext cx="865768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VENDOR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557911" y="4327029"/>
            <a:ext cx="74275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1720" dirty="0"/>
          </a:p>
        </p:txBody>
      </p:sp>
      <p:sp>
        <p:nvSpPr>
          <p:cNvPr id="34" name="Text 32"/>
          <p:cNvSpPr txBox="1"/>
          <p:nvPr/>
        </p:nvSpPr>
        <p:spPr>
          <a:xfrm>
            <a:off x="4557911" y="4657229"/>
            <a:ext cx="992634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COVERS THE PEAK + 36% BUFFER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06400" y="5229721"/>
            <a:ext cx="366903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Downside: 30% fewer vendors moves break-even to about month 27.</a:t>
            </a:r>
            <a:endParaRPr lang="en-US" sz="770" dirty="0"/>
          </a:p>
        </p:txBody>
      </p:sp>
      <p:sp>
        <p:nvSpPr>
          <p:cNvPr id="36" name="Text 34"/>
          <p:cNvSpPr txBox="1"/>
          <p:nvPr/>
        </p:nvSpPr>
        <p:spPr>
          <a:xfrm>
            <a:off x="6183511" y="1810246"/>
            <a:ext cx="467493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VS COSTS, AND CASH POSITION (₦M)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8" name="Text 36"/>
          <p:cNvSpPr txBox="1"/>
          <p:nvPr/>
        </p:nvSpPr>
        <p:spPr>
          <a:xfrm>
            <a:off x="6750645" y="6217940"/>
            <a:ext cx="53874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built on stated assumptions, to be validated with live billing data.</a:t>
            </a:r>
            <a:endParaRPr lang="en-US" sz="8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57383" y="572691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3760688"/>
            <a:ext cx="9287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0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984129"/>
            <a:ext cx="10681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1683147" y="3760688"/>
            <a:ext cx="898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030" dirty="0"/>
          </a:p>
        </p:txBody>
      </p:sp>
      <p:sp>
        <p:nvSpPr>
          <p:cNvPr id="8" name="Text 6"/>
          <p:cNvSpPr txBox="1"/>
          <p:nvPr/>
        </p:nvSpPr>
        <p:spPr>
          <a:xfrm>
            <a:off x="1683147" y="3984129"/>
            <a:ext cx="916408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2959894" y="3760688"/>
            <a:ext cx="11796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2959894" y="3984129"/>
            <a:ext cx="953566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BIZ DEV LEAD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4236641" y="3760688"/>
            <a:ext cx="8078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4236641" y="3984129"/>
            <a:ext cx="1177678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720" dirty="0"/>
          </a:p>
        </p:txBody>
      </p:sp>
      <p:sp>
        <p:nvSpPr>
          <p:cNvPr id="13" name="Text 11"/>
          <p:cNvSpPr txBox="1"/>
          <p:nvPr/>
        </p:nvSpPr>
        <p:spPr>
          <a:xfrm>
            <a:off x="5513388" y="3760788"/>
            <a:ext cx="79432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5513388" y="4159448"/>
            <a:ext cx="1074911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6790234" y="3760688"/>
            <a:ext cx="96545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6790234" y="4159349"/>
            <a:ext cx="120060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LEAD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8066980" y="3760688"/>
            <a:ext cx="856319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Toluwanimi Jegede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8066980" y="4159349"/>
            <a:ext cx="1157825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(FB &amp; TIKTOK)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9343727" y="3760688"/>
            <a:ext cx="11904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Mbaka</a:t>
            </a:r>
            <a:endParaRPr lang="en-US" sz="1030" dirty="0"/>
          </a:p>
        </p:txBody>
      </p:sp>
      <p:sp>
        <p:nvSpPr>
          <p:cNvPr id="20" name="Text 18"/>
          <p:cNvSpPr txBox="1"/>
          <p:nvPr/>
        </p:nvSpPr>
        <p:spPr>
          <a:xfrm>
            <a:off x="9343727" y="3984129"/>
            <a:ext cx="9814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720" dirty="0"/>
          </a:p>
        </p:txBody>
      </p:sp>
      <p:sp>
        <p:nvSpPr>
          <p:cNvPr id="21" name="Text 19"/>
          <p:cNvSpPr txBox="1"/>
          <p:nvPr/>
        </p:nvSpPr>
        <p:spPr>
          <a:xfrm>
            <a:off x="10620474" y="3760788"/>
            <a:ext cx="9478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Emeka Okoh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10620474" y="3984228"/>
            <a:ext cx="101407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(X)</a:t>
            </a:r>
            <a:endParaRPr lang="en-US" sz="720" dirty="0"/>
          </a:p>
        </p:txBody>
      </p:sp>
      <p:sp>
        <p:nvSpPr>
          <p:cNvPr id="23" name="Text 21"/>
          <p:cNvSpPr txBox="1"/>
          <p:nvPr/>
        </p:nvSpPr>
        <p:spPr>
          <a:xfrm>
            <a:off x="768251" y="5211366"/>
            <a:ext cx="21791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live product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3427016" y="5211366"/>
            <a:ext cx="202476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campus relationships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5941516" y="5211366"/>
            <a:ext cx="17489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growth planning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72691"/>
            <a:ext cx="32727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&amp; USE OF RESOURCES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9894491" y="572691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10729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0343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422055"/>
            <a:ext cx="20631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&amp; 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965898" y="34220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664446"/>
            <a:ext cx="19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 &amp; onboarding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939407" y="36644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906838"/>
            <a:ext cx="14133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technology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939407" y="3906838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1492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985048" y="41492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391620"/>
            <a:ext cx="174618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contingency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969966" y="43916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761901" y="5136753"/>
            <a:ext cx="283203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Mentorship: marketplace ops &amp; fundraising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768251" y="5531445"/>
            <a:ext cx="3213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Partnerships: logistics, payments, student unions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228060" y="1071761"/>
            <a:ext cx="39869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5EF2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12 MONTHS DELIVER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6376591" y="1486793"/>
            <a:ext cx="893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860" dirty="0"/>
          </a:p>
        </p:txBody>
      </p:sp>
      <p:sp>
        <p:nvSpPr>
          <p:cNvPr id="20" name="Text 18"/>
          <p:cNvSpPr txBox="1"/>
          <p:nvPr/>
        </p:nvSpPr>
        <p:spPr>
          <a:xfrm>
            <a:off x="6376591" y="1870273"/>
            <a:ext cx="602258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791351" y="1486793"/>
            <a:ext cx="9175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860" dirty="0"/>
          </a:p>
        </p:txBody>
      </p:sp>
      <p:sp>
        <p:nvSpPr>
          <p:cNvPr id="22" name="Text 20"/>
          <p:cNvSpPr txBox="1"/>
          <p:nvPr/>
        </p:nvSpPr>
        <p:spPr>
          <a:xfrm>
            <a:off x="7791351" y="1870273"/>
            <a:ext cx="636587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12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9206111" y="1486793"/>
            <a:ext cx="6486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1860" dirty="0"/>
          </a:p>
        </p:txBody>
      </p:sp>
      <p:sp>
        <p:nvSpPr>
          <p:cNvPr id="24" name="Text 22"/>
          <p:cNvSpPr txBox="1"/>
          <p:nvPr/>
        </p:nvSpPr>
        <p:spPr>
          <a:xfrm>
            <a:off x="9206111" y="1870273"/>
            <a:ext cx="801751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BY MONTH 12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10620871" y="1486793"/>
            <a:ext cx="5724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1860" dirty="0"/>
          </a:p>
        </p:txBody>
      </p:sp>
      <p:sp>
        <p:nvSpPr>
          <p:cNvPr id="26" name="Text 24"/>
          <p:cNvSpPr txBox="1"/>
          <p:nvPr/>
        </p:nvSpPr>
        <p:spPr>
          <a:xfrm>
            <a:off x="10620871" y="1870273"/>
            <a:ext cx="77945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BY MONTH 12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6228060" y="2492375"/>
            <a:ext cx="5909941" cy="813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 Easier to trust. </a:t>
            </a:r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2410" dirty="0"/>
          </a:p>
        </p:txBody>
      </p:sp>
      <p:sp>
        <p:nvSpPr>
          <p:cNvPr id="28" name="Text 26"/>
          <p:cNvSpPr txBox="1"/>
          <p:nvPr/>
        </p:nvSpPr>
        <p:spPr>
          <a:xfrm>
            <a:off x="8137922" y="3806726"/>
            <a:ext cx="38174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scan. Everything LevroMart.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137922" y="4161234"/>
            <a:ext cx="2434554" cy="521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Website, Instagram, TikTok, LinkedIn, WhatsApp community and more, all on levromart.com/links.</a:t>
            </a:r>
            <a:endParaRPr lang="en-US" sz="890" dirty="0"/>
          </a:p>
        </p:txBody>
      </p:sp>
      <p:sp>
        <p:nvSpPr>
          <p:cNvPr id="30" name="Text 28"/>
          <p:cNvSpPr txBox="1"/>
          <p:nvPr/>
        </p:nvSpPr>
        <p:spPr>
          <a:xfrm>
            <a:off x="6330851" y="5283597"/>
            <a:ext cx="5934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60" dirty="0"/>
          </a:p>
        </p:txBody>
      </p:sp>
      <p:sp>
        <p:nvSpPr>
          <p:cNvPr id="31" name="Text 29"/>
          <p:cNvSpPr txBox="1"/>
          <p:nvPr/>
        </p:nvSpPr>
        <p:spPr>
          <a:xfrm>
            <a:off x="7129859" y="5283597"/>
            <a:ext cx="4049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60" dirty="0"/>
          </a:p>
        </p:txBody>
      </p:sp>
      <p:sp>
        <p:nvSpPr>
          <p:cNvPr id="32" name="Text 30"/>
          <p:cNvSpPr txBox="1"/>
          <p:nvPr/>
        </p:nvSpPr>
        <p:spPr>
          <a:xfrm>
            <a:off x="7740352" y="5283597"/>
            <a:ext cx="56068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60" dirty="0"/>
          </a:p>
        </p:txBody>
      </p:sp>
      <p:sp>
        <p:nvSpPr>
          <p:cNvPr id="33" name="Text 31"/>
          <p:cNvSpPr txBox="1"/>
          <p:nvPr/>
        </p:nvSpPr>
        <p:spPr>
          <a:xfrm>
            <a:off x="8506619" y="5283597"/>
            <a:ext cx="1317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760" dirty="0"/>
          </a:p>
        </p:txBody>
      </p:sp>
      <p:sp>
        <p:nvSpPr>
          <p:cNvPr id="34" name="Text 32"/>
          <p:cNvSpPr txBox="1"/>
          <p:nvPr/>
        </p:nvSpPr>
        <p:spPr>
          <a:xfrm>
            <a:off x="8843963" y="5283597"/>
            <a:ext cx="49926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760" dirty="0"/>
          </a:p>
        </p:txBody>
      </p:sp>
      <p:sp>
        <p:nvSpPr>
          <p:cNvPr id="35" name="Text 33"/>
          <p:cNvSpPr txBox="1"/>
          <p:nvPr/>
        </p:nvSpPr>
        <p:spPr>
          <a:xfrm>
            <a:off x="9548812" y="5283597"/>
            <a:ext cx="61138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10365780" y="5283597"/>
            <a:ext cx="5300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Substack</a:t>
            </a:r>
            <a:endParaRPr lang="en-US" sz="760" dirty="0"/>
          </a:p>
        </p:txBody>
      </p:sp>
      <p:sp>
        <p:nvSpPr>
          <p:cNvPr id="37" name="Text 35"/>
          <p:cNvSpPr txBox="1"/>
          <p:nvPr/>
        </p:nvSpPr>
        <p:spPr>
          <a:xfrm>
            <a:off x="6228060" y="5574308"/>
            <a:ext cx="498546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name everywhere: @levromart · Thank you · AMSUL Business Pitch Competition 2026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10105827" y="6217940"/>
            <a:ext cx="1797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Buy · Sell · Connect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2026-10-25T00:17:45Z</dcterms:created>
  <dcterms:modified xsi:type="dcterms:W3CDTF">2026-10-25T00:17:45Z</dcterms:modified>
</cp:coreProperties>
</file>