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3841" y="464741"/>
            <a:ext cx="109423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440" dirty="0"/>
          </a:p>
        </p:txBody>
      </p:sp>
      <p:sp>
        <p:nvSpPr>
          <p:cNvPr id="3" name="Text 1"/>
          <p:cNvSpPr txBox="1"/>
          <p:nvPr/>
        </p:nvSpPr>
        <p:spPr>
          <a:xfrm>
            <a:off x="2058789" y="537766"/>
            <a:ext cx="18727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· SELL · CONNECT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9143107" y="521990"/>
            <a:ext cx="266439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AMSUL Business Pitch Competition 2026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874911"/>
            <a:ext cx="6589816" cy="268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what you need locally shouldn’t require </a:t>
            </a:r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remembering where you saw it.</a:t>
            </a:r>
            <a:endParaRPr lang="en-US" sz="4330" dirty="0"/>
          </a:p>
        </p:txBody>
      </p:sp>
      <p:sp>
        <p:nvSpPr>
          <p:cNvPr id="6" name="Text 4"/>
          <p:cNvSpPr txBox="1"/>
          <p:nvPr/>
        </p:nvSpPr>
        <p:spPr>
          <a:xfrm>
            <a:off x="406400" y="3627338"/>
            <a:ext cx="6614552" cy="507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is the campus marketplace where students discover, trust and order from verified vendors, all in one app.</a:t>
            </a:r>
            <a:endParaRPr lang="en-US" sz="131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4414044"/>
            <a:ext cx="922778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2480" dirty="0"/>
          </a:p>
        </p:txBody>
      </p:sp>
      <p:sp>
        <p:nvSpPr>
          <p:cNvPr id="8" name="Text 6"/>
          <p:cNvSpPr txBox="1"/>
          <p:nvPr/>
        </p:nvSpPr>
        <p:spPr>
          <a:xfrm>
            <a:off x="615950" y="4881364"/>
            <a:ext cx="151570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90" dirty="0"/>
          </a:p>
        </p:txBody>
      </p:sp>
      <p:sp>
        <p:nvSpPr>
          <p:cNvPr id="9" name="Text 7"/>
          <p:cNvSpPr txBox="1"/>
          <p:nvPr/>
        </p:nvSpPr>
        <p:spPr>
          <a:xfrm>
            <a:off x="2563316" y="4414044"/>
            <a:ext cx="676275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480" dirty="0"/>
          </a:p>
        </p:txBody>
      </p:sp>
      <p:sp>
        <p:nvSpPr>
          <p:cNvPr id="10" name="Text 8"/>
          <p:cNvSpPr txBox="1"/>
          <p:nvPr/>
        </p:nvSpPr>
        <p:spPr>
          <a:xfrm>
            <a:off x="2563316" y="4881364"/>
            <a:ext cx="13756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4379813" y="4414044"/>
            <a:ext cx="810881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2480" dirty="0"/>
          </a:p>
        </p:txBody>
      </p:sp>
      <p:sp>
        <p:nvSpPr>
          <p:cNvPr id="12" name="Text 10"/>
          <p:cNvSpPr txBox="1"/>
          <p:nvPr/>
        </p:nvSpPr>
        <p:spPr>
          <a:xfrm>
            <a:off x="4379813" y="4881364"/>
            <a:ext cx="112364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90" dirty="0"/>
          </a:p>
        </p:txBody>
      </p:sp>
      <p:sp>
        <p:nvSpPr>
          <p:cNvPr id="13" name="Text 11"/>
          <p:cNvSpPr txBox="1"/>
          <p:nvPr/>
        </p:nvSpPr>
        <p:spPr>
          <a:xfrm>
            <a:off x="406400" y="5330825"/>
            <a:ext cx="61160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CEO: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Kennis Dede · </a:t>
            </a:r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LevroMart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 members) · Lagos, Nigeria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11603137" y="6211590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6958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&amp; THE GAP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8630" y="521990"/>
            <a:ext cx="25777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81571"/>
            <a:ext cx="4724938" cy="109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commerce is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67299" y="2794117"/>
            <a:ext cx="418451" cy="15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76774" y="2890706"/>
            <a:ext cx="996370" cy="292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240" dirty="0"/>
          </a:p>
        </p:txBody>
      </p:sp>
      <p:sp>
        <p:nvSpPr>
          <p:cNvPr id="7" name="Text 5"/>
          <p:cNvSpPr txBox="1"/>
          <p:nvPr/>
        </p:nvSpPr>
        <p:spPr>
          <a:xfrm>
            <a:off x="1700250" y="2103370"/>
            <a:ext cx="342508" cy="14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1687824" y="2239014"/>
            <a:ext cx="961774" cy="274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1240" dirty="0"/>
          </a:p>
        </p:txBody>
      </p:sp>
      <p:sp>
        <p:nvSpPr>
          <p:cNvPr id="9" name="Text 7"/>
          <p:cNvSpPr txBox="1"/>
          <p:nvPr/>
        </p:nvSpPr>
        <p:spPr>
          <a:xfrm>
            <a:off x="3011254" y="2779165"/>
            <a:ext cx="681020" cy="14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SCROLL…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3015994" y="2908468"/>
            <a:ext cx="875580" cy="256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chats</a:t>
            </a:r>
            <a:endParaRPr lang="en-US" sz="1240" dirty="0"/>
          </a:p>
        </p:txBody>
      </p:sp>
      <p:sp>
        <p:nvSpPr>
          <p:cNvPr id="11" name="Text 9"/>
          <p:cNvSpPr txBox="1"/>
          <p:nvPr/>
        </p:nvSpPr>
        <p:spPr>
          <a:xfrm>
            <a:off x="3937693" y="2073759"/>
            <a:ext cx="962417" cy="18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“ASK TUNDE”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3921131" y="2209258"/>
            <a:ext cx="1640487" cy="33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contacts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5345465" y="2727621"/>
            <a:ext cx="862470" cy="168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HEARD…”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5352574" y="2838548"/>
            <a:ext cx="1372808" cy="294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of mouth</a:t>
            </a:r>
            <a:endParaRPr lang="en-US" sz="1240" dirty="0"/>
          </a:p>
        </p:txBody>
      </p:sp>
      <p:sp>
        <p:nvSpPr>
          <p:cNvPr id="15" name="Text 13"/>
          <p:cNvSpPr txBox="1"/>
          <p:nvPr/>
        </p:nvSpPr>
        <p:spPr>
          <a:xfrm>
            <a:off x="406400" y="3571677"/>
            <a:ext cx="32418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06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“Who sells this again?”</a:t>
            </a:r>
            <a:endParaRPr lang="en-US" sz="2060" dirty="0"/>
          </a:p>
        </p:txBody>
      </p:sp>
      <p:sp>
        <p:nvSpPr>
          <p:cNvPr id="16" name="Text 14"/>
          <p:cNvSpPr txBox="1"/>
          <p:nvPr/>
        </p:nvSpPr>
        <p:spPr>
          <a:xfrm>
            <a:off x="544810" y="4639667"/>
            <a:ext cx="1578235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find &amp; trust</a:t>
            </a:r>
            <a:endParaRPr lang="en-US" sz="1170" dirty="0"/>
          </a:p>
        </p:txBody>
      </p:sp>
      <p:sp>
        <p:nvSpPr>
          <p:cNvPr id="17" name="Text 15"/>
          <p:cNvSpPr txBox="1"/>
          <p:nvPr/>
        </p:nvSpPr>
        <p:spPr>
          <a:xfrm>
            <a:off x="544810" y="4912717"/>
            <a:ext cx="1742683" cy="501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86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Outdated info, lost chats and unanswered messages hide good vendors.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2725738" y="4639667"/>
            <a:ext cx="185617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have no home</a:t>
            </a:r>
            <a:endParaRPr lang="en-US" sz="1170" dirty="0"/>
          </a:p>
        </p:txBody>
      </p:sp>
      <p:sp>
        <p:nvSpPr>
          <p:cNvPr id="19" name="Text 17"/>
          <p:cNvSpPr txBox="1"/>
          <p:nvPr/>
        </p:nvSpPr>
        <p:spPr>
          <a:xfrm>
            <a:off x="2725738" y="4912717"/>
            <a:ext cx="1680365" cy="501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86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sellers run on status updates: no storefront, no order tracking.</a:t>
            </a:r>
            <a:endParaRPr lang="en-US" sz="860" dirty="0"/>
          </a:p>
        </p:txBody>
      </p:sp>
      <p:sp>
        <p:nvSpPr>
          <p:cNvPr id="20" name="Text 18"/>
          <p:cNvSpPr txBox="1"/>
          <p:nvPr/>
        </p:nvSpPr>
        <p:spPr>
          <a:xfrm>
            <a:off x="4906764" y="4639667"/>
            <a:ext cx="1243287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structure or recourse</a:t>
            </a:r>
            <a:endParaRPr lang="en-US" sz="1170" dirty="0"/>
          </a:p>
        </p:txBody>
      </p:sp>
      <p:sp>
        <p:nvSpPr>
          <p:cNvPr id="21" name="Text 19"/>
          <p:cNvSpPr txBox="1"/>
          <p:nvPr/>
        </p:nvSpPr>
        <p:spPr>
          <a:xfrm>
            <a:off x="4906764" y="5128617"/>
            <a:ext cx="1812858" cy="501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86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Payments, delivery and disputes happen off-platform, with no record.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7321550" y="1189930"/>
            <a:ext cx="3317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2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SERVE &amp; THE OPPORTUNITY</a:t>
            </a:r>
            <a:endParaRPr lang="en-US" sz="830" dirty="0"/>
          </a:p>
        </p:txBody>
      </p:sp>
      <p:sp>
        <p:nvSpPr>
          <p:cNvPr id="23" name="Text 21"/>
          <p:cNvSpPr txBox="1"/>
          <p:nvPr/>
        </p:nvSpPr>
        <p:spPr>
          <a:xfrm>
            <a:off x="7321550" y="1443930"/>
            <a:ext cx="106026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34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</a:t>
            </a:r>
            <a:endParaRPr lang="en-US" sz="2340" dirty="0"/>
          </a:p>
        </p:txBody>
      </p:sp>
      <p:sp>
        <p:nvSpPr>
          <p:cNvPr id="24" name="Text 22"/>
          <p:cNvSpPr txBox="1"/>
          <p:nvPr/>
        </p:nvSpPr>
        <p:spPr>
          <a:xfrm>
            <a:off x="9660638" y="1647130"/>
            <a:ext cx="1915412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Lagos (UNILAG &amp; LASU alone)</a:t>
            </a:r>
            <a:endParaRPr lang="en-US" sz="930" dirty="0"/>
          </a:p>
        </p:txBody>
      </p:sp>
      <p:sp>
        <p:nvSpPr>
          <p:cNvPr id="25" name="Text 23"/>
          <p:cNvSpPr txBox="1"/>
          <p:nvPr/>
        </p:nvSpPr>
        <p:spPr>
          <a:xfrm>
            <a:off x="7321550" y="2185392"/>
            <a:ext cx="1049007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34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≈2.5M</a:t>
            </a:r>
            <a:endParaRPr lang="en-US" sz="2340" dirty="0"/>
          </a:p>
        </p:txBody>
      </p:sp>
      <p:sp>
        <p:nvSpPr>
          <p:cNvPr id="26" name="Text 24"/>
          <p:cNvSpPr txBox="1"/>
          <p:nvPr/>
        </p:nvSpPr>
        <p:spPr>
          <a:xfrm>
            <a:off x="9902480" y="2388592"/>
            <a:ext cx="1673570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across Nigeria’s tertiary institutions</a:t>
            </a:r>
            <a:endParaRPr lang="en-US" sz="930" dirty="0"/>
          </a:p>
        </p:txBody>
      </p:sp>
      <p:sp>
        <p:nvSpPr>
          <p:cNvPr id="27" name="Text 25"/>
          <p:cNvSpPr txBox="1"/>
          <p:nvPr/>
        </p:nvSpPr>
        <p:spPr>
          <a:xfrm>
            <a:off x="7321550" y="2926854"/>
            <a:ext cx="896768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34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≈14M</a:t>
            </a:r>
            <a:endParaRPr lang="en-US" sz="2340" dirty="0"/>
          </a:p>
        </p:txBody>
      </p:sp>
      <p:sp>
        <p:nvSpPr>
          <p:cNvPr id="28" name="Text 26"/>
          <p:cNvSpPr txBox="1"/>
          <p:nvPr/>
        </p:nvSpPr>
        <p:spPr>
          <a:xfrm>
            <a:off x="9719028" y="3130054"/>
            <a:ext cx="1857022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Africa: the long-term horizon</a:t>
            </a:r>
            <a:endParaRPr lang="en-US" sz="930" dirty="0"/>
          </a:p>
        </p:txBody>
      </p:sp>
      <p:sp>
        <p:nvSpPr>
          <p:cNvPr id="29" name="Text 27"/>
          <p:cNvSpPr txBox="1"/>
          <p:nvPr/>
        </p:nvSpPr>
        <p:spPr>
          <a:xfrm>
            <a:off x="7321550" y="3668316"/>
            <a:ext cx="1150818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34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₦10.8B</a:t>
            </a:r>
            <a:endParaRPr lang="en-US" sz="2340" dirty="0"/>
          </a:p>
        </p:txBody>
      </p:sp>
      <p:sp>
        <p:nvSpPr>
          <p:cNvPr id="30" name="Text 28"/>
          <p:cNvSpPr txBox="1"/>
          <p:nvPr/>
        </p:nvSpPr>
        <p:spPr>
          <a:xfrm>
            <a:off x="9410091" y="3871516"/>
            <a:ext cx="2165959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revenue pool in Nigeria at a 3% take rate*</a:t>
            </a:r>
            <a:endParaRPr lang="en-US" sz="930" dirty="0"/>
          </a:p>
        </p:txBody>
      </p:sp>
      <p:sp>
        <p:nvSpPr>
          <p:cNvPr id="31" name="Text 29"/>
          <p:cNvSpPr txBox="1"/>
          <p:nvPr/>
        </p:nvSpPr>
        <p:spPr>
          <a:xfrm>
            <a:off x="7321550" y="4409777"/>
            <a:ext cx="4481185" cy="636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Buyers: students &amp; the campus community. Sellers: student vendors and small campus businesses. *Assumes ₦12,000 spent per student per month through vendors (≈₦360B a year). Enrolment: NUC (2018), UNESCO/World Bank; UNILAG and LASU published figures.</a:t>
            </a:r>
            <a:endParaRPr lang="en-US" sz="790" dirty="0"/>
          </a:p>
        </p:txBody>
      </p:sp>
      <p:sp>
        <p:nvSpPr>
          <p:cNvPr id="32" name="Text 30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3" name="Text 31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158513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9523" y="521990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91691"/>
            <a:ext cx="378528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667570"/>
            <a:ext cx="5107659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7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structured place for the whole campus commerce journey.</a:t>
            </a:r>
            <a:endParaRPr lang="en-US" sz="1170" dirty="0"/>
          </a:p>
        </p:txBody>
      </p:sp>
      <p:sp>
        <p:nvSpPr>
          <p:cNvPr id="6" name="Text 4"/>
          <p:cNvSpPr txBox="1"/>
          <p:nvPr/>
        </p:nvSpPr>
        <p:spPr>
          <a:xfrm>
            <a:off x="1134070" y="2139454"/>
            <a:ext cx="8590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380" dirty="0"/>
          </a:p>
        </p:txBody>
      </p:sp>
      <p:sp>
        <p:nvSpPr>
          <p:cNvPr id="7" name="Text 5"/>
          <p:cNvSpPr txBox="1"/>
          <p:nvPr/>
        </p:nvSpPr>
        <p:spPr>
          <a:xfrm>
            <a:off x="1134070" y="2393454"/>
            <a:ext cx="4189871" cy="336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Products, services, rentals and packages from vendors near you, by campus, category or map.</a:t>
            </a:r>
            <a:endParaRPr lang="en-US" sz="890" dirty="0"/>
          </a:p>
        </p:txBody>
      </p:sp>
      <p:sp>
        <p:nvSpPr>
          <p:cNvPr id="8" name="Text 6"/>
          <p:cNvSpPr txBox="1"/>
          <p:nvPr/>
        </p:nvSpPr>
        <p:spPr>
          <a:xfrm>
            <a:off x="1134070" y="3023592"/>
            <a:ext cx="81480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1380" dirty="0"/>
          </a:p>
        </p:txBody>
      </p:sp>
      <p:sp>
        <p:nvSpPr>
          <p:cNvPr id="9" name="Text 7"/>
          <p:cNvSpPr txBox="1"/>
          <p:nvPr/>
        </p:nvSpPr>
        <p:spPr>
          <a:xfrm>
            <a:off x="1134070" y="3277592"/>
            <a:ext cx="4304740" cy="336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 storefronts, in-app chat and negotiation. Follow your favourites.</a:t>
            </a:r>
            <a:endParaRPr lang="en-US" sz="890" dirty="0"/>
          </a:p>
        </p:txBody>
      </p:sp>
      <p:sp>
        <p:nvSpPr>
          <p:cNvPr id="10" name="Text 8"/>
          <p:cNvSpPr txBox="1"/>
          <p:nvPr/>
        </p:nvSpPr>
        <p:spPr>
          <a:xfrm>
            <a:off x="1134070" y="3907730"/>
            <a:ext cx="8654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</a:t>
            </a:r>
            <a:endParaRPr lang="en-US" sz="1380" dirty="0"/>
          </a:p>
        </p:txBody>
      </p:sp>
      <p:sp>
        <p:nvSpPr>
          <p:cNvPr id="11" name="Text 9"/>
          <p:cNvSpPr txBox="1"/>
          <p:nvPr/>
        </p:nvSpPr>
        <p:spPr>
          <a:xfrm>
            <a:off x="1134070" y="4161730"/>
            <a:ext cx="4354001" cy="336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Order, pay, track and rate, with a record and a dispute process behind every sale.</a:t>
            </a:r>
            <a:endParaRPr lang="en-US" sz="890" dirty="0"/>
          </a:p>
        </p:txBody>
      </p:sp>
      <p:sp>
        <p:nvSpPr>
          <p:cNvPr id="12" name="Text 10"/>
          <p:cNvSpPr txBox="1"/>
          <p:nvPr/>
        </p:nvSpPr>
        <p:spPr>
          <a:xfrm>
            <a:off x="7477657" y="1062831"/>
            <a:ext cx="90281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/ IG</a:t>
            </a:r>
            <a:endParaRPr lang="en-US" sz="760" dirty="0"/>
          </a:p>
        </p:txBody>
      </p:sp>
      <p:sp>
        <p:nvSpPr>
          <p:cNvPr id="13" name="Text 11"/>
          <p:cNvSpPr txBox="1"/>
          <p:nvPr/>
        </p:nvSpPr>
        <p:spPr>
          <a:xfrm>
            <a:off x="8695502" y="1062831"/>
            <a:ext cx="88052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E-COMMERCE</a:t>
            </a:r>
            <a:endParaRPr lang="en-US" sz="760" dirty="0"/>
          </a:p>
        </p:txBody>
      </p:sp>
      <p:sp>
        <p:nvSpPr>
          <p:cNvPr id="14" name="Text 12"/>
          <p:cNvSpPr txBox="1"/>
          <p:nvPr/>
        </p:nvSpPr>
        <p:spPr>
          <a:xfrm>
            <a:off x="9853975" y="1202432"/>
            <a:ext cx="9413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CLASSIFIEDS</a:t>
            </a:r>
            <a:endParaRPr lang="en-US" sz="760" dirty="0"/>
          </a:p>
        </p:txBody>
      </p:sp>
      <p:sp>
        <p:nvSpPr>
          <p:cNvPr id="15" name="Text 13"/>
          <p:cNvSpPr txBox="1"/>
          <p:nvPr/>
        </p:nvSpPr>
        <p:spPr>
          <a:xfrm>
            <a:off x="10857043" y="1202432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16" name="Text 14"/>
          <p:cNvSpPr txBox="1"/>
          <p:nvPr/>
        </p:nvSpPr>
        <p:spPr>
          <a:xfrm>
            <a:off x="5933380" y="1496913"/>
            <a:ext cx="103403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Campus-aware discovery</a:t>
            </a:r>
            <a:endParaRPr lang="en-US" sz="930" dirty="0"/>
          </a:p>
        </p:txBody>
      </p:sp>
      <p:sp>
        <p:nvSpPr>
          <p:cNvPr id="17" name="Text 15"/>
          <p:cNvSpPr txBox="1"/>
          <p:nvPr/>
        </p:nvSpPr>
        <p:spPr>
          <a:xfrm>
            <a:off x="8970863" y="15825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10159802" y="15825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9" name="Text 17"/>
          <p:cNvSpPr txBox="1"/>
          <p:nvPr/>
        </p:nvSpPr>
        <p:spPr>
          <a:xfrm>
            <a:off x="5933380" y="2052340"/>
            <a:ext cx="108191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5933380" y="2436515"/>
            <a:ext cx="120963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Storefront + order tracking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5933380" y="2969716"/>
            <a:ext cx="146081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negotiation in-app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10159802" y="3055342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23" name="Text 21"/>
          <p:cNvSpPr txBox="1"/>
          <p:nvPr/>
        </p:nvSpPr>
        <p:spPr>
          <a:xfrm>
            <a:off x="5933380" y="3502918"/>
            <a:ext cx="1416122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 from vendors</a:t>
            </a:r>
            <a:endParaRPr lang="en-US" sz="930" dirty="0"/>
          </a:p>
        </p:txBody>
      </p:sp>
      <p:sp>
        <p:nvSpPr>
          <p:cNvPr id="24" name="Text 22"/>
          <p:cNvSpPr txBox="1"/>
          <p:nvPr/>
        </p:nvSpPr>
        <p:spPr>
          <a:xfrm>
            <a:off x="5831780" y="4053880"/>
            <a:ext cx="355394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yes · “Part” = partly · ✕ no. Our assessment of typical features.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534591" y="5488384"/>
            <a:ext cx="1149544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34591" y="5708055"/>
            <a:ext cx="2010960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Can’t find it? Post a request; vendors in that sector who opt in send you offers.</a:t>
            </a:r>
            <a:endParaRPr lang="en-US" sz="740" dirty="0"/>
          </a:p>
        </p:txBody>
      </p:sp>
      <p:sp>
        <p:nvSpPr>
          <p:cNvPr id="27" name="Text 25"/>
          <p:cNvSpPr txBox="1"/>
          <p:nvPr/>
        </p:nvSpPr>
        <p:spPr>
          <a:xfrm>
            <a:off x="2830711" y="5488384"/>
            <a:ext cx="1414742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830711" y="5708055"/>
            <a:ext cx="1900655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week of promotion for the top vendor. Our live growth campaign.</a:t>
            </a:r>
            <a:endParaRPr lang="en-US" sz="740" dirty="0"/>
          </a:p>
        </p:txBody>
      </p:sp>
      <p:sp>
        <p:nvSpPr>
          <p:cNvPr id="29" name="Text 27"/>
          <p:cNvSpPr txBox="1"/>
          <p:nvPr/>
        </p:nvSpPr>
        <p:spPr>
          <a:xfrm>
            <a:off x="5126831" y="5488384"/>
            <a:ext cx="117693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your price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126831" y="5708055"/>
            <a:ext cx="2040261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Negotiable listings, rentals and services booked in the same app.</a:t>
            </a:r>
            <a:endParaRPr lang="en-US" sz="740" dirty="0"/>
          </a:p>
        </p:txBody>
      </p:sp>
      <p:sp>
        <p:nvSpPr>
          <p:cNvPr id="31" name="Text 29"/>
          <p:cNvSpPr txBox="1"/>
          <p:nvPr/>
        </p:nvSpPr>
        <p:spPr>
          <a:xfrm>
            <a:off x="7423051" y="5488384"/>
            <a:ext cx="130273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Levi, our assistant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423051" y="5708055"/>
            <a:ext cx="1865303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helper that finds products and answers questions.</a:t>
            </a:r>
            <a:endParaRPr lang="en-US" sz="740" dirty="0"/>
          </a:p>
        </p:txBody>
      </p:sp>
      <p:sp>
        <p:nvSpPr>
          <p:cNvPr id="33" name="Text 31"/>
          <p:cNvSpPr txBox="1"/>
          <p:nvPr/>
        </p:nvSpPr>
        <p:spPr>
          <a:xfrm>
            <a:off x="9719171" y="5488384"/>
            <a:ext cx="110707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coming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719171" y="5708055"/>
            <a:ext cx="1938343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offers and referral rewards to grow buyers and sales.</a:t>
            </a:r>
            <a:endParaRPr lang="en-US" sz="740" dirty="0"/>
          </a:p>
        </p:txBody>
      </p:sp>
      <p:sp>
        <p:nvSpPr>
          <p:cNvPr id="35" name="Text 33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6" name="Text 34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44474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MVP · LIVE TODAY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3768" y="521990"/>
            <a:ext cx="26263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6604000" y="1284089"/>
            <a:ext cx="4880893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product,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live.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604000" y="2418259"/>
            <a:ext cx="4984297" cy="507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and vendors are using it now. Tap through the screens to see what they see.</a:t>
            </a:r>
            <a:endParaRPr lang="en-US" sz="1310" dirty="0"/>
          </a:p>
        </p:txBody>
      </p:sp>
      <p:sp>
        <p:nvSpPr>
          <p:cNvPr id="6" name="Text 4"/>
          <p:cNvSpPr txBox="1"/>
          <p:nvPr/>
        </p:nvSpPr>
        <p:spPr>
          <a:xfrm>
            <a:off x="6793210" y="3279874"/>
            <a:ext cx="110867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3030" dirty="0"/>
          </a:p>
        </p:txBody>
      </p:sp>
      <p:sp>
        <p:nvSpPr>
          <p:cNvPr id="7" name="Text 5"/>
          <p:cNvSpPr txBox="1"/>
          <p:nvPr/>
        </p:nvSpPr>
        <p:spPr>
          <a:xfrm>
            <a:off x="6793210" y="3848795"/>
            <a:ext cx="912268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8560991" y="3279874"/>
            <a:ext cx="80355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3030" dirty="0"/>
          </a:p>
        </p:txBody>
      </p:sp>
      <p:sp>
        <p:nvSpPr>
          <p:cNvPr id="9" name="Text 7"/>
          <p:cNvSpPr txBox="1"/>
          <p:nvPr/>
        </p:nvSpPr>
        <p:spPr>
          <a:xfrm>
            <a:off x="8560991" y="3848795"/>
            <a:ext cx="12825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60" dirty="0"/>
          </a:p>
        </p:txBody>
      </p:sp>
      <p:sp>
        <p:nvSpPr>
          <p:cNvPr id="10" name="Text 8"/>
          <p:cNvSpPr txBox="1"/>
          <p:nvPr/>
        </p:nvSpPr>
        <p:spPr>
          <a:xfrm>
            <a:off x="10328771" y="3279874"/>
            <a:ext cx="97193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3030" dirty="0"/>
          </a:p>
        </p:txBody>
      </p:sp>
      <p:sp>
        <p:nvSpPr>
          <p:cNvPr id="11" name="Text 9"/>
          <p:cNvSpPr txBox="1"/>
          <p:nvPr/>
        </p:nvSpPr>
        <p:spPr>
          <a:xfrm>
            <a:off x="10328771" y="3848795"/>
            <a:ext cx="104380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60" dirty="0"/>
          </a:p>
        </p:txBody>
      </p:sp>
      <p:sp>
        <p:nvSpPr>
          <p:cNvPr id="12" name="Text 10"/>
          <p:cNvSpPr txBox="1"/>
          <p:nvPr/>
        </p:nvSpPr>
        <p:spPr>
          <a:xfrm>
            <a:off x="6989961" y="4561582"/>
            <a:ext cx="2237938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Distance-sorted, campus filters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662021" y="4561582"/>
            <a:ext cx="182400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chat &amp; negotiation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989961" y="4947543"/>
            <a:ext cx="152886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alerts for orders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662021" y="4947543"/>
            <a:ext cx="1916474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 &amp; disputes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604000" y="5335488"/>
            <a:ext cx="5371902" cy="309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stage: pre-revenue. Building and validating the marketplace network in Lagos; billing and payments are rolling out next.</a:t>
            </a:r>
            <a:endParaRPr lang="en-US" sz="790" dirty="0"/>
          </a:p>
        </p:txBody>
      </p:sp>
      <p:sp>
        <p:nvSpPr>
          <p:cNvPr id="17" name="Text 15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398805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&amp; UNIT ECONOMICS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9622" y="521990"/>
            <a:ext cx="25677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941017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pay when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creates value.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5027613" y="1800027"/>
            <a:ext cx="64551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01</a:t>
            </a:r>
            <a:endParaRPr lang="en-US" sz="890" dirty="0"/>
          </a:p>
        </p:txBody>
      </p:sp>
      <p:sp>
        <p:nvSpPr>
          <p:cNvPr id="6" name="Text 4"/>
          <p:cNvSpPr txBox="1"/>
          <p:nvPr/>
        </p:nvSpPr>
        <p:spPr>
          <a:xfrm>
            <a:off x="676870" y="1749227"/>
            <a:ext cx="119201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</a:t>
            </a:r>
            <a:endParaRPr lang="en-US" sz="790" dirty="0"/>
          </a:p>
        </p:txBody>
      </p:sp>
      <p:sp>
        <p:nvSpPr>
          <p:cNvPr id="7" name="Text 5"/>
          <p:cNvSpPr txBox="1"/>
          <p:nvPr/>
        </p:nvSpPr>
        <p:spPr>
          <a:xfrm>
            <a:off x="676870" y="1868587"/>
            <a:ext cx="304245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completed sale</a:t>
            </a:r>
            <a:endParaRPr lang="en-US" sz="5230" dirty="0"/>
          </a:p>
        </p:txBody>
      </p:sp>
      <p:sp>
        <p:nvSpPr>
          <p:cNvPr id="8" name="Text 6"/>
          <p:cNvSpPr txBox="1"/>
          <p:nvPr/>
        </p:nvSpPr>
        <p:spPr>
          <a:xfrm>
            <a:off x="676870" y="2826048"/>
            <a:ext cx="3943889" cy="36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96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sale, no commission. Aligned with the vendor from day one.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0804327" y="1800027"/>
            <a:ext cx="67012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02</a:t>
            </a:r>
            <a:endParaRPr lang="en-US" sz="890" dirty="0"/>
          </a:p>
        </p:txBody>
      </p:sp>
      <p:sp>
        <p:nvSpPr>
          <p:cNvPr id="10" name="Text 8"/>
          <p:cNvSpPr txBox="1"/>
          <p:nvPr/>
        </p:nvSpPr>
        <p:spPr>
          <a:xfrm>
            <a:off x="6478191" y="1749227"/>
            <a:ext cx="167388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LISTING FEE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6478191" y="1868587"/>
            <a:ext cx="3859488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₦999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listing / month</a:t>
            </a:r>
            <a:endParaRPr lang="en-US" sz="5230" dirty="0"/>
          </a:p>
        </p:txBody>
      </p:sp>
      <p:sp>
        <p:nvSpPr>
          <p:cNvPr id="12" name="Text 10"/>
          <p:cNvSpPr txBox="1"/>
          <p:nvPr/>
        </p:nvSpPr>
        <p:spPr>
          <a:xfrm>
            <a:off x="6478191" y="2826048"/>
            <a:ext cx="3712451" cy="36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96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pricing, no commission on that listing. One mode per listing, never both.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737791" y="3896816"/>
            <a:ext cx="28755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 (PER ACTIVE VENDOR)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7203182" y="3896816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15" name="Text 13"/>
          <p:cNvSpPr txBox="1"/>
          <p:nvPr/>
        </p:nvSpPr>
        <p:spPr>
          <a:xfrm>
            <a:off x="9046170" y="3896816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16" name="Text 14"/>
          <p:cNvSpPr txBox="1"/>
          <p:nvPr/>
        </p:nvSpPr>
        <p:spPr>
          <a:xfrm>
            <a:off x="10933509" y="3896816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737791" y="4168477"/>
            <a:ext cx="301176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revenue per vendor / month (ARPV)</a:t>
            </a:r>
            <a:endParaRPr lang="en-US" sz="1070" dirty="0"/>
          </a:p>
        </p:txBody>
      </p:sp>
      <p:sp>
        <p:nvSpPr>
          <p:cNvPr id="18" name="Text 16"/>
          <p:cNvSpPr txBox="1"/>
          <p:nvPr/>
        </p:nvSpPr>
        <p:spPr>
          <a:xfrm>
            <a:off x="7137499" y="4168477"/>
            <a:ext cx="56733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₦1,640</a:t>
            </a:r>
            <a:endParaRPr lang="en-US" sz="1070" dirty="0"/>
          </a:p>
        </p:txBody>
      </p:sp>
      <p:sp>
        <p:nvSpPr>
          <p:cNvPr id="19" name="Text 17"/>
          <p:cNvSpPr txBox="1"/>
          <p:nvPr/>
        </p:nvSpPr>
        <p:spPr>
          <a:xfrm>
            <a:off x="9044583" y="4168477"/>
            <a:ext cx="52298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₦2,110</a:t>
            </a:r>
            <a:endParaRPr lang="en-US" sz="1070" dirty="0"/>
          </a:p>
        </p:txBody>
      </p:sp>
      <p:sp>
        <p:nvSpPr>
          <p:cNvPr id="20" name="Text 18"/>
          <p:cNvSpPr txBox="1"/>
          <p:nvPr/>
        </p:nvSpPr>
        <p:spPr>
          <a:xfrm>
            <a:off x="10864652" y="4168477"/>
            <a:ext cx="58955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₦2,690</a:t>
            </a:r>
            <a:endParaRPr lang="en-US" sz="1070" dirty="0"/>
          </a:p>
        </p:txBody>
      </p:sp>
      <p:sp>
        <p:nvSpPr>
          <p:cNvPr id="21" name="Text 19"/>
          <p:cNvSpPr txBox="1"/>
          <p:nvPr/>
        </p:nvSpPr>
        <p:spPr>
          <a:xfrm>
            <a:off x="737791" y="4534098"/>
            <a:ext cx="303151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cost per active vendor (CAC)</a:t>
            </a:r>
            <a:endParaRPr lang="en-US" sz="1070" dirty="0"/>
          </a:p>
        </p:txBody>
      </p:sp>
      <p:sp>
        <p:nvSpPr>
          <p:cNvPr id="22" name="Text 20"/>
          <p:cNvSpPr txBox="1"/>
          <p:nvPr/>
        </p:nvSpPr>
        <p:spPr>
          <a:xfrm>
            <a:off x="7073900" y="4534098"/>
            <a:ext cx="63093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₦14,100</a:t>
            </a:r>
            <a:endParaRPr lang="en-US" sz="1070" dirty="0"/>
          </a:p>
        </p:txBody>
      </p:sp>
      <p:sp>
        <p:nvSpPr>
          <p:cNvPr id="23" name="Text 21"/>
          <p:cNvSpPr txBox="1"/>
          <p:nvPr/>
        </p:nvSpPr>
        <p:spPr>
          <a:xfrm>
            <a:off x="8962529" y="4534098"/>
            <a:ext cx="605036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₦8,300</a:t>
            </a:r>
            <a:endParaRPr lang="en-US" sz="1070" dirty="0"/>
          </a:p>
        </p:txBody>
      </p:sp>
      <p:sp>
        <p:nvSpPr>
          <p:cNvPr id="24" name="Text 22"/>
          <p:cNvSpPr txBox="1"/>
          <p:nvPr/>
        </p:nvSpPr>
        <p:spPr>
          <a:xfrm>
            <a:off x="10785574" y="4534098"/>
            <a:ext cx="66863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₦12,200</a:t>
            </a:r>
            <a:endParaRPr lang="en-US" sz="1070" dirty="0"/>
          </a:p>
        </p:txBody>
      </p:sp>
      <p:sp>
        <p:nvSpPr>
          <p:cNvPr id="25" name="Text 23"/>
          <p:cNvSpPr txBox="1"/>
          <p:nvPr/>
        </p:nvSpPr>
        <p:spPr>
          <a:xfrm>
            <a:off x="737791" y="4899720"/>
            <a:ext cx="350012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Lifetime value, 24 months at 92% margin (LTV)</a:t>
            </a:r>
            <a:endParaRPr lang="en-US" sz="1070" dirty="0"/>
          </a:p>
        </p:txBody>
      </p:sp>
      <p:sp>
        <p:nvSpPr>
          <p:cNvPr id="26" name="Text 24"/>
          <p:cNvSpPr txBox="1"/>
          <p:nvPr/>
        </p:nvSpPr>
        <p:spPr>
          <a:xfrm>
            <a:off x="7007523" y="4899720"/>
            <a:ext cx="697309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₦36,200</a:t>
            </a:r>
            <a:endParaRPr lang="en-US" sz="1070" dirty="0"/>
          </a:p>
        </p:txBody>
      </p:sp>
      <p:sp>
        <p:nvSpPr>
          <p:cNvPr id="27" name="Text 25"/>
          <p:cNvSpPr txBox="1"/>
          <p:nvPr/>
        </p:nvSpPr>
        <p:spPr>
          <a:xfrm>
            <a:off x="8880078" y="4899720"/>
            <a:ext cx="687487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₦46,700</a:t>
            </a:r>
            <a:endParaRPr lang="en-US" sz="1070" dirty="0"/>
          </a:p>
        </p:txBody>
      </p:sp>
      <p:sp>
        <p:nvSpPr>
          <p:cNvPr id="28" name="Text 26"/>
          <p:cNvSpPr txBox="1"/>
          <p:nvPr/>
        </p:nvSpPr>
        <p:spPr>
          <a:xfrm>
            <a:off x="10766524" y="4899720"/>
            <a:ext cx="68768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₦59,300</a:t>
            </a:r>
            <a:endParaRPr lang="en-US" sz="1070" dirty="0"/>
          </a:p>
        </p:txBody>
      </p:sp>
      <p:sp>
        <p:nvSpPr>
          <p:cNvPr id="29" name="Text 27"/>
          <p:cNvSpPr txBox="1"/>
          <p:nvPr/>
        </p:nvSpPr>
        <p:spPr>
          <a:xfrm>
            <a:off x="737791" y="5281216"/>
            <a:ext cx="1567194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 : CAC · payback</a:t>
            </a:r>
            <a:endParaRPr lang="en-US" sz="1070" dirty="0"/>
          </a:p>
        </p:txBody>
      </p:sp>
      <p:sp>
        <p:nvSpPr>
          <p:cNvPr id="30" name="Text 28"/>
          <p:cNvSpPr txBox="1"/>
          <p:nvPr/>
        </p:nvSpPr>
        <p:spPr>
          <a:xfrm>
            <a:off x="6582466" y="5265341"/>
            <a:ext cx="11223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2.6× · 9.4 mo</a:t>
            </a:r>
            <a:endParaRPr lang="en-US" sz="1240" dirty="0"/>
          </a:p>
        </p:txBody>
      </p:sp>
      <p:sp>
        <p:nvSpPr>
          <p:cNvPr id="31" name="Text 29"/>
          <p:cNvSpPr txBox="1"/>
          <p:nvPr/>
        </p:nvSpPr>
        <p:spPr>
          <a:xfrm>
            <a:off x="8442863" y="5265341"/>
            <a:ext cx="1124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5.6× · 4.3 mo</a:t>
            </a:r>
            <a:endParaRPr lang="en-US" sz="1240" dirty="0"/>
          </a:p>
        </p:txBody>
      </p:sp>
      <p:sp>
        <p:nvSpPr>
          <p:cNvPr id="32" name="Text 30"/>
          <p:cNvSpPr txBox="1"/>
          <p:nvPr/>
        </p:nvSpPr>
        <p:spPr>
          <a:xfrm>
            <a:off x="10313052" y="5265341"/>
            <a:ext cx="1141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4.8× · 5.0 mo</a:t>
            </a:r>
            <a:endParaRPr lang="en-US" sz="1240" dirty="0"/>
          </a:p>
        </p:txBody>
      </p:sp>
      <p:sp>
        <p:nvSpPr>
          <p:cNvPr id="33" name="Text 31"/>
          <p:cNvSpPr txBox="1"/>
          <p:nvPr/>
        </p:nvSpPr>
        <p:spPr>
          <a:xfrm>
            <a:off x="656530" y="5747742"/>
            <a:ext cx="2010641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REVENUE LAYERS (Year 2+):</a:t>
            </a:r>
            <a:endParaRPr lang="en-US" sz="790" dirty="0"/>
          </a:p>
        </p:txBody>
      </p:sp>
      <p:sp>
        <p:nvSpPr>
          <p:cNvPr id="34" name="Text 32"/>
          <p:cNvSpPr txBox="1"/>
          <p:nvPr/>
        </p:nvSpPr>
        <p:spPr>
          <a:xfrm>
            <a:off x="2883396" y="5760442"/>
            <a:ext cx="10188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visibility</a:t>
            </a:r>
            <a:endParaRPr lang="en-US" sz="790" dirty="0"/>
          </a:p>
        </p:txBody>
      </p:sp>
      <p:sp>
        <p:nvSpPr>
          <p:cNvPr id="35" name="Text 33"/>
          <p:cNvSpPr txBox="1"/>
          <p:nvPr/>
        </p:nvSpPr>
        <p:spPr>
          <a:xfrm>
            <a:off x="4196060" y="5760442"/>
            <a:ext cx="2178911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sponsorship &amp; ads</a:t>
            </a:r>
            <a:endParaRPr lang="en-US" sz="790" dirty="0"/>
          </a:p>
        </p:txBody>
      </p:sp>
      <p:sp>
        <p:nvSpPr>
          <p:cNvPr id="36" name="Text 34"/>
          <p:cNvSpPr txBox="1"/>
          <p:nvPr/>
        </p:nvSpPr>
        <p:spPr>
          <a:xfrm>
            <a:off x="6592887" y="5760442"/>
            <a:ext cx="7979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tools</a:t>
            </a:r>
            <a:endParaRPr lang="en-US" sz="790" dirty="0"/>
          </a:p>
        </p:txBody>
      </p:sp>
      <p:sp>
        <p:nvSpPr>
          <p:cNvPr id="37" name="Text 35"/>
          <p:cNvSpPr txBox="1"/>
          <p:nvPr/>
        </p:nvSpPr>
        <p:spPr>
          <a:xfrm>
            <a:off x="7699077" y="5760442"/>
            <a:ext cx="120910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automation</a:t>
            </a:r>
            <a:endParaRPr lang="en-US" sz="790" dirty="0"/>
          </a:p>
        </p:txBody>
      </p:sp>
      <p:sp>
        <p:nvSpPr>
          <p:cNvPr id="38" name="Text 36"/>
          <p:cNvSpPr txBox="1"/>
          <p:nvPr/>
        </p:nvSpPr>
        <p:spPr>
          <a:xfrm>
            <a:off x="9189541" y="5760442"/>
            <a:ext cx="74146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</a:t>
            </a:r>
            <a:endParaRPr lang="en-US" sz="790" dirty="0"/>
          </a:p>
        </p:txBody>
      </p:sp>
      <p:sp>
        <p:nvSpPr>
          <p:cNvPr id="39" name="Text 37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4772402" y="6227465"/>
            <a:ext cx="701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Assumptions: GMV per active vendor ₦40K→₦55K/month; 60% of vendors on commission; CAC = marketing spend ÷ new active vendors.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525713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MARKET, COMPETITORS &amp; REACHING CUSTOMERS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8233" y="521990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90815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win where others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go: the campus.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1896864" y="1571427"/>
            <a:ext cx="1140521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&amp; IG VENDORS</a:t>
            </a:r>
            <a:endParaRPr lang="en-US" sz="760" dirty="0"/>
          </a:p>
        </p:txBody>
      </p:sp>
      <p:sp>
        <p:nvSpPr>
          <p:cNvPr id="6" name="Text 4"/>
          <p:cNvSpPr txBox="1"/>
          <p:nvPr/>
        </p:nvSpPr>
        <p:spPr>
          <a:xfrm>
            <a:off x="3244949" y="1571427"/>
            <a:ext cx="57417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JUMIA / KONGA</a:t>
            </a:r>
            <a:endParaRPr lang="en-US" sz="760" dirty="0"/>
          </a:p>
        </p:txBody>
      </p:sp>
      <p:sp>
        <p:nvSpPr>
          <p:cNvPr id="7" name="Text 5"/>
          <p:cNvSpPr txBox="1"/>
          <p:nvPr/>
        </p:nvSpPr>
        <p:spPr>
          <a:xfrm>
            <a:off x="4101634" y="1571427"/>
            <a:ext cx="106981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JIJI / FB MARKETPLACE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5349907" y="1711027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9" name="Text 7"/>
          <p:cNvSpPr txBox="1"/>
          <p:nvPr/>
        </p:nvSpPr>
        <p:spPr>
          <a:xfrm>
            <a:off x="497780" y="2001639"/>
            <a:ext cx="1058668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campus buyers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2309515" y="2082899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497780" y="2516981"/>
            <a:ext cx="1205387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 for tiny sellers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2305248" y="2516981"/>
            <a:ext cx="32365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3367088" y="2516981"/>
            <a:ext cx="3299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496891" y="2516981"/>
            <a:ext cx="2792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5405749" y="2490391"/>
            <a:ext cx="7851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/ ₦999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97780" y="2869902"/>
            <a:ext cx="105781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tracking &amp; records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497780" y="3365004"/>
            <a:ext cx="122109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own logistics network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2356247" y="34462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3405882" y="3446264"/>
            <a:ext cx="2524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525665" y="34462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5663505" y="3419574"/>
            <a:ext cx="2695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97780" y="3860105"/>
            <a:ext cx="977134" cy="483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discoverable by distance</a:t>
            </a:r>
            <a:endParaRPr lang="en-US" sz="880" dirty="0"/>
          </a:p>
        </p:txBody>
      </p:sp>
      <p:sp>
        <p:nvSpPr>
          <p:cNvPr id="23" name="Text 21"/>
          <p:cNvSpPr txBox="1"/>
          <p:nvPr/>
        </p:nvSpPr>
        <p:spPr>
          <a:xfrm>
            <a:off x="4478933" y="4022626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406400" y="4539357"/>
            <a:ext cx="6241916" cy="309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advantage: students are the founders and the users; the vendors are their classmates; every campus we open makes the next one cheaper.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497780" y="5022751"/>
            <a:ext cx="53657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UNILAG</a:t>
            </a:r>
            <a:endParaRPr lang="en-US" sz="790" dirty="0"/>
          </a:p>
        </p:txBody>
      </p:sp>
      <p:sp>
        <p:nvSpPr>
          <p:cNvPr id="26" name="Text 24"/>
          <p:cNvSpPr txBox="1"/>
          <p:nvPr/>
        </p:nvSpPr>
        <p:spPr>
          <a:xfrm>
            <a:off x="1389757" y="5022751"/>
            <a:ext cx="38109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LASU</a:t>
            </a:r>
            <a:endParaRPr lang="en-US" sz="790" dirty="0"/>
          </a:p>
        </p:txBody>
      </p:sp>
      <p:sp>
        <p:nvSpPr>
          <p:cNvPr id="27" name="Text 25"/>
          <p:cNvSpPr txBox="1"/>
          <p:nvPr/>
        </p:nvSpPr>
        <p:spPr>
          <a:xfrm>
            <a:off x="2126258" y="5022751"/>
            <a:ext cx="10561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Lagos campuses</a:t>
            </a:r>
            <a:endParaRPr lang="en-US" sz="790" dirty="0"/>
          </a:p>
        </p:txBody>
      </p:sp>
      <p:sp>
        <p:nvSpPr>
          <p:cNvPr id="28" name="Text 26"/>
          <p:cNvSpPr txBox="1"/>
          <p:nvPr/>
        </p:nvSpPr>
        <p:spPr>
          <a:xfrm>
            <a:off x="3519487" y="5022751"/>
            <a:ext cx="76537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South-West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4640263" y="5022751"/>
            <a:ext cx="50611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</a:t>
            </a:r>
            <a:endParaRPr lang="en-US" sz="790" dirty="0"/>
          </a:p>
        </p:txBody>
      </p:sp>
      <p:sp>
        <p:nvSpPr>
          <p:cNvPr id="30" name="Text 28"/>
          <p:cNvSpPr txBox="1"/>
          <p:nvPr/>
        </p:nvSpPr>
        <p:spPr>
          <a:xfrm>
            <a:off x="5501779" y="5022751"/>
            <a:ext cx="4364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</a:t>
            </a:r>
            <a:endParaRPr lang="en-US" sz="790" dirty="0"/>
          </a:p>
        </p:txBody>
      </p:sp>
      <p:sp>
        <p:nvSpPr>
          <p:cNvPr id="31" name="Text 29"/>
          <p:cNvSpPr txBox="1"/>
          <p:nvPr/>
        </p:nvSpPr>
        <p:spPr>
          <a:xfrm>
            <a:off x="7290495" y="1646436"/>
            <a:ext cx="24559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campaign</a:t>
            </a:r>
            <a:endParaRPr lang="en-US" sz="1140" dirty="0"/>
          </a:p>
        </p:txBody>
      </p:sp>
      <p:sp>
        <p:nvSpPr>
          <p:cNvPr id="32" name="Text 30"/>
          <p:cNvSpPr txBox="1"/>
          <p:nvPr/>
        </p:nvSpPr>
        <p:spPr>
          <a:xfrm>
            <a:off x="7290495" y="1855986"/>
            <a:ext cx="39277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week of promotion pulls vendors in, and their followers follow.</a:t>
            </a:r>
            <a:endParaRPr lang="en-US" sz="830" dirty="0"/>
          </a:p>
        </p:txBody>
      </p:sp>
      <p:sp>
        <p:nvSpPr>
          <p:cNvPr id="33" name="Text 31"/>
          <p:cNvSpPr txBox="1"/>
          <p:nvPr/>
        </p:nvSpPr>
        <p:spPr>
          <a:xfrm>
            <a:off x="7290495" y="2400598"/>
            <a:ext cx="291271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ambassadors &amp; activations</a:t>
            </a:r>
            <a:endParaRPr lang="en-US" sz="1140" dirty="0"/>
          </a:p>
        </p:txBody>
      </p:sp>
      <p:sp>
        <p:nvSpPr>
          <p:cNvPr id="34" name="Text 32"/>
          <p:cNvSpPr txBox="1"/>
          <p:nvPr/>
        </p:nvSpPr>
        <p:spPr>
          <a:xfrm>
            <a:off x="7290495" y="2610148"/>
            <a:ext cx="46198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Hostel and faculty reps onboard vendors; orientation-week stalls with QR codes.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7290495" y="3154759"/>
            <a:ext cx="15907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&amp; community</a:t>
            </a:r>
            <a:endParaRPr lang="en-US" sz="1140" dirty="0"/>
          </a:p>
        </p:txBody>
      </p:sp>
      <p:sp>
        <p:nvSpPr>
          <p:cNvPr id="36" name="Text 34"/>
          <p:cNvSpPr txBox="1"/>
          <p:nvPr/>
        </p:nvSpPr>
        <p:spPr>
          <a:xfrm>
            <a:off x="7290495" y="3364309"/>
            <a:ext cx="42694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TikTok, Instagram, LinkedIn and a WhatsApp community, one @levromart.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290495" y="3908921"/>
            <a:ext cx="153969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&amp; referrals</a:t>
            </a:r>
            <a:endParaRPr lang="en-US" sz="1140" dirty="0"/>
          </a:p>
        </p:txBody>
      </p:sp>
      <p:sp>
        <p:nvSpPr>
          <p:cNvPr id="38" name="Text 36"/>
          <p:cNvSpPr txBox="1"/>
          <p:nvPr/>
        </p:nvSpPr>
        <p:spPr>
          <a:xfrm>
            <a:off x="7290495" y="4118471"/>
            <a:ext cx="39259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offers and referral rewards to lift first orders and repeat use.</a:t>
            </a:r>
            <a:endParaRPr lang="en-US" sz="830" dirty="0"/>
          </a:p>
        </p:txBody>
      </p:sp>
      <p:sp>
        <p:nvSpPr>
          <p:cNvPr id="39" name="Text 37"/>
          <p:cNvSpPr txBox="1"/>
          <p:nvPr/>
        </p:nvSpPr>
        <p:spPr>
          <a:xfrm>
            <a:off x="7290495" y="4663083"/>
            <a:ext cx="144170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partners</a:t>
            </a:r>
            <a:endParaRPr lang="en-US" sz="1140" dirty="0"/>
          </a:p>
        </p:txBody>
      </p:sp>
      <p:sp>
        <p:nvSpPr>
          <p:cNvPr id="40" name="Text 38"/>
          <p:cNvSpPr txBox="1"/>
          <p:nvPr/>
        </p:nvSpPr>
        <p:spPr>
          <a:xfrm>
            <a:off x="7290495" y="4872633"/>
            <a:ext cx="39321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logistics such as Run It (partnership in progress, not yet live).</a:t>
            </a:r>
            <a:endParaRPr lang="en-US" sz="830" dirty="0"/>
          </a:p>
        </p:txBody>
      </p:sp>
      <p:sp>
        <p:nvSpPr>
          <p:cNvPr id="41" name="Text 39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42" name="Text 40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21341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MODEL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87659" y="521990"/>
            <a:ext cx="24874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91691"/>
            <a:ext cx="5551531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22×.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Costs grow 5×.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2105521"/>
            <a:ext cx="5449507" cy="440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4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bring their own stock and (mostly) their own delivery. We sell software, so each new vendor costs almost nothing to serve.</a:t>
            </a:r>
            <a:endParaRPr lang="en-US" sz="1140" dirty="0"/>
          </a:p>
        </p:txBody>
      </p:sp>
      <p:sp>
        <p:nvSpPr>
          <p:cNvPr id="6" name="Text 4"/>
          <p:cNvSpPr txBox="1"/>
          <p:nvPr/>
        </p:nvSpPr>
        <p:spPr>
          <a:xfrm>
            <a:off x="615950" y="2723059"/>
            <a:ext cx="957600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5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</a:t>
            </a:r>
            <a:endParaRPr lang="en-US" sz="385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3413323"/>
            <a:ext cx="22154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YEAR 1 → YEAR 3</a:t>
            </a:r>
            <a:endParaRPr lang="en-US" sz="830" dirty="0"/>
          </a:p>
        </p:txBody>
      </p:sp>
      <p:sp>
        <p:nvSpPr>
          <p:cNvPr id="8" name="Text 6"/>
          <p:cNvSpPr txBox="1"/>
          <p:nvPr/>
        </p:nvSpPr>
        <p:spPr>
          <a:xfrm>
            <a:off x="3308747" y="2723059"/>
            <a:ext cx="1089668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5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5.5×</a:t>
            </a:r>
            <a:endParaRPr lang="en-US" sz="3850" dirty="0"/>
          </a:p>
        </p:txBody>
      </p:sp>
      <p:sp>
        <p:nvSpPr>
          <p:cNvPr id="9" name="Text 7"/>
          <p:cNvSpPr txBox="1"/>
          <p:nvPr/>
        </p:nvSpPr>
        <p:spPr>
          <a:xfrm>
            <a:off x="3308747" y="3413323"/>
            <a:ext cx="1984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COSTS, YEAR 1 → YEAR 3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1032371" y="3923705"/>
            <a:ext cx="8329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</a:t>
            </a:r>
            <a:endParaRPr lang="en-US" sz="1030" dirty="0"/>
          </a:p>
        </p:txBody>
      </p:sp>
      <p:sp>
        <p:nvSpPr>
          <p:cNvPr id="11" name="Text 9"/>
          <p:cNvSpPr txBox="1"/>
          <p:nvPr/>
        </p:nvSpPr>
        <p:spPr>
          <a:xfrm>
            <a:off x="1032371" y="4134445"/>
            <a:ext cx="196477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inventory, no fleet, no warehouses.</a:t>
            </a:r>
            <a:endParaRPr lang="en-US" sz="740" dirty="0"/>
          </a:p>
        </p:txBody>
      </p:sp>
      <p:sp>
        <p:nvSpPr>
          <p:cNvPr id="12" name="Text 10"/>
          <p:cNvSpPr txBox="1"/>
          <p:nvPr/>
        </p:nvSpPr>
        <p:spPr>
          <a:xfrm>
            <a:off x="3846612" y="3923705"/>
            <a:ext cx="1690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operations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3846612" y="4134445"/>
            <a:ext cx="1908299" cy="41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reminders, auto-cancel, auto-complete, payment matching, Levi support.</a:t>
            </a:r>
            <a:endParaRPr lang="en-US" sz="740" dirty="0"/>
          </a:p>
        </p:txBody>
      </p:sp>
      <p:sp>
        <p:nvSpPr>
          <p:cNvPr id="14" name="Text 12"/>
          <p:cNvSpPr txBox="1"/>
          <p:nvPr/>
        </p:nvSpPr>
        <p:spPr>
          <a:xfrm>
            <a:off x="1032371" y="4869458"/>
            <a:ext cx="14675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campus playbook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1032371" y="5270698"/>
            <a:ext cx="2017542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1,100+ Nigerian institutions are already in the app, including medical colleges.</a:t>
            </a:r>
            <a:endParaRPr lang="en-US" sz="740" dirty="0"/>
          </a:p>
        </p:txBody>
      </p:sp>
      <p:sp>
        <p:nvSpPr>
          <p:cNvPr id="16" name="Text 14"/>
          <p:cNvSpPr txBox="1"/>
          <p:nvPr/>
        </p:nvSpPr>
        <p:spPr>
          <a:xfrm>
            <a:off x="3846612" y="4869458"/>
            <a:ext cx="8672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stack</a:t>
            </a:r>
            <a:endParaRPr lang="en-US" sz="1030" dirty="0"/>
          </a:p>
        </p:txBody>
      </p:sp>
      <p:sp>
        <p:nvSpPr>
          <p:cNvPr id="17" name="Text 15"/>
          <p:cNvSpPr txBox="1"/>
          <p:nvPr/>
        </p:nvSpPr>
        <p:spPr>
          <a:xfrm>
            <a:off x="3846612" y="5080198"/>
            <a:ext cx="1951932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web app, managed database, CDN: capacity on demand.</a:t>
            </a:r>
            <a:endParaRPr lang="en-US" sz="740" dirty="0"/>
          </a:p>
        </p:txBody>
      </p:sp>
      <p:sp>
        <p:nvSpPr>
          <p:cNvPr id="18" name="Text 16"/>
          <p:cNvSpPr txBox="1"/>
          <p:nvPr/>
        </p:nvSpPr>
        <p:spPr>
          <a:xfrm>
            <a:off x="6498530" y="1200051"/>
            <a:ext cx="42242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 &amp; MONTHLY REVENUE, BY MONTH</a:t>
            </a:r>
            <a:endParaRPr lang="en-US" sz="790" dirty="0"/>
          </a:p>
        </p:txBody>
      </p:sp>
      <p:sp>
        <p:nvSpPr>
          <p:cNvPr id="19" name="Text 17"/>
          <p:cNvSpPr txBox="1"/>
          <p:nvPr/>
        </p:nvSpPr>
        <p:spPr>
          <a:xfrm>
            <a:off x="6498530" y="5580856"/>
            <a:ext cx="5240470" cy="309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case. Registered vendors 1,100 (M12) → 3,600 (M24) → 8,500 (M36); about 45–60% active. Network effects (follows, leaderboard, requests) lower the cost of each new vendor.</a:t>
            </a:r>
            <a:endParaRPr lang="en-US" sz="790" dirty="0"/>
          </a:p>
        </p:txBody>
      </p:sp>
      <p:sp>
        <p:nvSpPr>
          <p:cNvPr id="20" name="Text 18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94573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STRATEGY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9523" y="521990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7529580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last: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economic, operational, environmental.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15950" y="2745581"/>
            <a:ext cx="113128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98810" y="3141762"/>
            <a:ext cx="3041388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Recurring, aligned revenue: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commission only on completed sales, or a flat monthly listing fee.</a:t>
            </a:r>
            <a:endParaRPr lang="en-US" sz="890" dirty="0"/>
          </a:p>
        </p:txBody>
      </p:sp>
      <p:sp>
        <p:nvSpPr>
          <p:cNvPr id="7" name="Text 5"/>
          <p:cNvSpPr txBox="1"/>
          <p:nvPr/>
        </p:nvSpPr>
        <p:spPr>
          <a:xfrm>
            <a:off x="798810" y="3561259"/>
            <a:ext cx="2838402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costs: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student team on stipends; infrastructure under ₦150K a month in Year 1.</a:t>
            </a:r>
            <a:endParaRPr lang="en-US" sz="890" dirty="0"/>
          </a:p>
        </p:txBody>
      </p:sp>
      <p:sp>
        <p:nvSpPr>
          <p:cNvPr id="8" name="Text 6"/>
          <p:cNvSpPr txBox="1"/>
          <p:nvPr/>
        </p:nvSpPr>
        <p:spPr>
          <a:xfrm>
            <a:off x="798810" y="3980755"/>
            <a:ext cx="3225795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month 19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with a funded runway and a 36% cash buffer.</a:t>
            </a:r>
            <a:endParaRPr lang="en-US" sz="890" dirty="0"/>
          </a:p>
        </p:txBody>
      </p:sp>
      <p:sp>
        <p:nvSpPr>
          <p:cNvPr id="9" name="Text 7"/>
          <p:cNvSpPr txBox="1"/>
          <p:nvPr/>
        </p:nvSpPr>
        <p:spPr>
          <a:xfrm>
            <a:off x="4463157" y="2745581"/>
            <a:ext cx="143204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4646017" y="3141762"/>
            <a:ext cx="3106360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built in: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vendor verification, ratings, dispute process, order records.</a:t>
            </a:r>
            <a:endParaRPr lang="en-US" sz="890" dirty="0"/>
          </a:p>
        </p:txBody>
      </p:sp>
      <p:sp>
        <p:nvSpPr>
          <p:cNvPr id="11" name="Text 9"/>
          <p:cNvSpPr txBox="1"/>
          <p:nvPr/>
        </p:nvSpPr>
        <p:spPr>
          <a:xfrm>
            <a:off x="4646017" y="3561259"/>
            <a:ext cx="3116977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Self-running workflows: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reminders, auto-cancel, auto-complete, payment matching.</a:t>
            </a:r>
            <a:endParaRPr lang="en-US" sz="890" dirty="0"/>
          </a:p>
        </p:txBody>
      </p:sp>
      <p:sp>
        <p:nvSpPr>
          <p:cNvPr id="12" name="Text 10"/>
          <p:cNvSpPr txBox="1"/>
          <p:nvPr/>
        </p:nvSpPr>
        <p:spPr>
          <a:xfrm>
            <a:off x="4646017" y="3980755"/>
            <a:ext cx="3011874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Terms, Privacy and Refund policies updated Oct 2026; NDPA-aware data handling.</a:t>
            </a:r>
            <a:endParaRPr lang="en-US" sz="890" dirty="0"/>
          </a:p>
        </p:txBody>
      </p:sp>
      <p:sp>
        <p:nvSpPr>
          <p:cNvPr id="13" name="Text 11"/>
          <p:cNvSpPr txBox="1"/>
          <p:nvPr/>
        </p:nvSpPr>
        <p:spPr>
          <a:xfrm>
            <a:off x="8310364" y="2745581"/>
            <a:ext cx="26562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&amp; social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8493224" y="3141762"/>
            <a:ext cx="3250850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Rent, resell, reuse: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rentals and second-hand listings extend product life.</a:t>
            </a:r>
            <a:endParaRPr lang="en-US" sz="890" dirty="0"/>
          </a:p>
        </p:txBody>
      </p:sp>
      <p:sp>
        <p:nvSpPr>
          <p:cNvPr id="15" name="Text 13"/>
          <p:cNvSpPr txBox="1"/>
          <p:nvPr/>
        </p:nvSpPr>
        <p:spPr>
          <a:xfrm>
            <a:off x="8493224" y="3561259"/>
            <a:ext cx="3085446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Hyperlocal buying: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distance-sorted results mean shorter trips and fewer parcels.</a:t>
            </a:r>
            <a:endParaRPr lang="en-US" sz="890" dirty="0"/>
          </a:p>
        </p:txBody>
      </p:sp>
      <p:sp>
        <p:nvSpPr>
          <p:cNvPr id="16" name="Text 14"/>
          <p:cNvSpPr txBox="1"/>
          <p:nvPr/>
        </p:nvSpPr>
        <p:spPr>
          <a:xfrm>
            <a:off x="8493224" y="3980755"/>
            <a:ext cx="3223247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income: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small vendors earn online, without a shop or ads budget.</a:t>
            </a:r>
            <a:endParaRPr lang="en-US" sz="890" dirty="0"/>
          </a:p>
        </p:txBody>
      </p:sp>
      <p:sp>
        <p:nvSpPr>
          <p:cNvPr id="17" name="Text 15"/>
          <p:cNvSpPr txBox="1"/>
          <p:nvPr/>
        </p:nvSpPr>
        <p:spPr>
          <a:xfrm>
            <a:off x="636191" y="5218609"/>
            <a:ext cx="1257195" cy="601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90" b="1" spc="1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WEAKNESSES &amp; HOW WE MANAGE THEM</a:t>
            </a:r>
            <a:endParaRPr lang="en-US" sz="790" dirty="0"/>
          </a:p>
        </p:txBody>
      </p:sp>
      <p:sp>
        <p:nvSpPr>
          <p:cNvPr id="18" name="Text 16"/>
          <p:cNvSpPr txBox="1"/>
          <p:nvPr/>
        </p:nvSpPr>
        <p:spPr>
          <a:xfrm>
            <a:off x="2119511" y="5092303"/>
            <a:ext cx="8267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Pre-revenue</a:t>
            </a:r>
            <a:endParaRPr lang="en-US" sz="890" dirty="0"/>
          </a:p>
        </p:txBody>
      </p:sp>
      <p:sp>
        <p:nvSpPr>
          <p:cNvPr id="19" name="Text 17"/>
          <p:cNvSpPr txBox="1"/>
          <p:nvPr/>
        </p:nvSpPr>
        <p:spPr>
          <a:xfrm>
            <a:off x="2119511" y="5276354"/>
            <a:ext cx="2119035" cy="291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6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goes live first; a funded runway to month 19.</a:t>
            </a:r>
            <a:endParaRPr lang="en-US" sz="760" dirty="0"/>
          </a:p>
        </p:txBody>
      </p:sp>
      <p:sp>
        <p:nvSpPr>
          <p:cNvPr id="20" name="Text 18"/>
          <p:cNvSpPr txBox="1"/>
          <p:nvPr/>
        </p:nvSpPr>
        <p:spPr>
          <a:xfrm>
            <a:off x="4519116" y="5092303"/>
            <a:ext cx="102575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user base</a:t>
            </a:r>
            <a:endParaRPr lang="en-US" sz="890" dirty="0"/>
          </a:p>
        </p:txBody>
      </p:sp>
      <p:sp>
        <p:nvSpPr>
          <p:cNvPr id="21" name="Text 19"/>
          <p:cNvSpPr txBox="1"/>
          <p:nvPr/>
        </p:nvSpPr>
        <p:spPr>
          <a:xfrm>
            <a:off x="4519116" y="5276354"/>
            <a:ext cx="2265860" cy="291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6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activations, ambassadors, Vendor of the Week.</a:t>
            </a:r>
            <a:endParaRPr lang="en-US" sz="760" dirty="0"/>
          </a:p>
        </p:txBody>
      </p:sp>
      <p:sp>
        <p:nvSpPr>
          <p:cNvPr id="22" name="Text 20"/>
          <p:cNvSpPr txBox="1"/>
          <p:nvPr/>
        </p:nvSpPr>
        <p:spPr>
          <a:xfrm>
            <a:off x="6918821" y="5092303"/>
            <a:ext cx="106174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not live</a:t>
            </a:r>
            <a:endParaRPr lang="en-US" sz="890" dirty="0"/>
          </a:p>
        </p:txBody>
      </p:sp>
      <p:sp>
        <p:nvSpPr>
          <p:cNvPr id="23" name="Text 21"/>
          <p:cNvSpPr txBox="1"/>
          <p:nvPr/>
        </p:nvSpPr>
        <p:spPr>
          <a:xfrm>
            <a:off x="6918821" y="5276354"/>
            <a:ext cx="2007350" cy="291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6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Pickup first; campus partner (Run It) in progress.</a:t>
            </a:r>
            <a:endParaRPr lang="en-US" sz="760" dirty="0"/>
          </a:p>
        </p:txBody>
      </p:sp>
      <p:sp>
        <p:nvSpPr>
          <p:cNvPr id="24" name="Text 22"/>
          <p:cNvSpPr txBox="1"/>
          <p:nvPr/>
        </p:nvSpPr>
        <p:spPr>
          <a:xfrm>
            <a:off x="9318526" y="5092303"/>
            <a:ext cx="108467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habit</a:t>
            </a:r>
            <a:endParaRPr lang="en-US" sz="890" dirty="0"/>
          </a:p>
        </p:txBody>
      </p:sp>
      <p:sp>
        <p:nvSpPr>
          <p:cNvPr id="25" name="Text 23"/>
          <p:cNvSpPr txBox="1"/>
          <p:nvPr/>
        </p:nvSpPr>
        <p:spPr>
          <a:xfrm>
            <a:off x="9318526" y="5276354"/>
            <a:ext cx="2279979" cy="291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6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keep chat, and add storefronts, records and trust.</a:t>
            </a:r>
            <a:endParaRPr lang="en-US" sz="760" dirty="0"/>
          </a:p>
        </p:txBody>
      </p:sp>
      <p:sp>
        <p:nvSpPr>
          <p:cNvPr id="26" name="Text 24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7" name="Text 25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76111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HEALTH &amp; P&amp;L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8233" y="521990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9881645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pre-revenue to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19 months.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97111" y="1698427"/>
            <a:ext cx="16745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 (₦ MILLION)</a:t>
            </a:r>
            <a:endParaRPr lang="en-US" sz="720" dirty="0"/>
          </a:p>
        </p:txBody>
      </p:sp>
      <p:sp>
        <p:nvSpPr>
          <p:cNvPr id="6" name="Text 4"/>
          <p:cNvSpPr txBox="1"/>
          <p:nvPr/>
        </p:nvSpPr>
        <p:spPr>
          <a:xfrm>
            <a:off x="3371453" y="1698427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7" name="Text 5"/>
          <p:cNvSpPr txBox="1"/>
          <p:nvPr/>
        </p:nvSpPr>
        <p:spPr>
          <a:xfrm>
            <a:off x="4114403" y="1698427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8" name="Text 6"/>
          <p:cNvSpPr txBox="1"/>
          <p:nvPr/>
        </p:nvSpPr>
        <p:spPr>
          <a:xfrm>
            <a:off x="4878189" y="1698427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9" name="Text 7"/>
          <p:cNvSpPr txBox="1"/>
          <p:nvPr/>
        </p:nvSpPr>
        <p:spPr>
          <a:xfrm>
            <a:off x="697111" y="1995487"/>
            <a:ext cx="623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3608586" y="1995487"/>
            <a:ext cx="26451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</a:t>
            </a:r>
            <a:endParaRPr lang="en-US" sz="1030" dirty="0"/>
          </a:p>
        </p:txBody>
      </p:sp>
      <p:sp>
        <p:nvSpPr>
          <p:cNvPr id="11" name="Text 9"/>
          <p:cNvSpPr txBox="1"/>
          <p:nvPr/>
        </p:nvSpPr>
        <p:spPr>
          <a:xfrm>
            <a:off x="4282777" y="1995487"/>
            <a:ext cx="3530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</a:t>
            </a:r>
            <a:endParaRPr lang="en-US" sz="1030" dirty="0"/>
          </a:p>
        </p:txBody>
      </p:sp>
      <p:sp>
        <p:nvSpPr>
          <p:cNvPr id="12" name="Text 10"/>
          <p:cNvSpPr txBox="1"/>
          <p:nvPr/>
        </p:nvSpPr>
        <p:spPr>
          <a:xfrm>
            <a:off x="5005784" y="1995487"/>
            <a:ext cx="3931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697111" y="2344738"/>
            <a:ext cx="11557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costs</a:t>
            </a:r>
            <a:endParaRPr lang="en-US" sz="1030" dirty="0"/>
          </a:p>
        </p:txBody>
      </p:sp>
      <p:sp>
        <p:nvSpPr>
          <p:cNvPr id="14" name="Text 12"/>
          <p:cNvSpPr txBox="1"/>
          <p:nvPr/>
        </p:nvSpPr>
        <p:spPr>
          <a:xfrm>
            <a:off x="3555206" y="2344738"/>
            <a:ext cx="3178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15.9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4265414" y="2344738"/>
            <a:ext cx="3703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5043686" y="2344738"/>
            <a:ext cx="35520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86.8</a:t>
            </a:r>
            <a:endParaRPr lang="en-US" sz="1030" dirty="0"/>
          </a:p>
        </p:txBody>
      </p:sp>
      <p:sp>
        <p:nvSpPr>
          <p:cNvPr id="17" name="Text 15"/>
          <p:cNvSpPr txBox="1"/>
          <p:nvPr/>
        </p:nvSpPr>
        <p:spPr>
          <a:xfrm>
            <a:off x="697111" y="2693988"/>
            <a:ext cx="14096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profit / (loss)</a:t>
            </a:r>
            <a:endParaRPr lang="en-US" sz="1140" dirty="0"/>
          </a:p>
        </p:txBody>
      </p:sp>
      <p:sp>
        <p:nvSpPr>
          <p:cNvPr id="18" name="Text 16"/>
          <p:cNvSpPr txBox="1"/>
          <p:nvPr/>
        </p:nvSpPr>
        <p:spPr>
          <a:xfrm>
            <a:off x="3388519" y="2693988"/>
            <a:ext cx="4845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FF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(10.6)</a:t>
            </a:r>
            <a:endParaRPr lang="en-US" sz="1140" dirty="0"/>
          </a:p>
        </p:txBody>
      </p:sp>
      <p:sp>
        <p:nvSpPr>
          <p:cNvPr id="19" name="Text 17"/>
          <p:cNvSpPr txBox="1"/>
          <p:nvPr/>
        </p:nvSpPr>
        <p:spPr>
          <a:xfrm>
            <a:off x="4378325" y="2693988"/>
            <a:ext cx="2574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140" dirty="0"/>
          </a:p>
        </p:txBody>
      </p:sp>
      <p:sp>
        <p:nvSpPr>
          <p:cNvPr id="20" name="Text 18"/>
          <p:cNvSpPr txBox="1"/>
          <p:nvPr/>
        </p:nvSpPr>
        <p:spPr>
          <a:xfrm>
            <a:off x="5044877" y="2693988"/>
            <a:ext cx="3540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28.1</a:t>
            </a:r>
            <a:endParaRPr lang="en-US" sz="1140" dirty="0"/>
          </a:p>
        </p:txBody>
      </p:sp>
      <p:sp>
        <p:nvSpPr>
          <p:cNvPr id="21" name="Text 19"/>
          <p:cNvSpPr txBox="1"/>
          <p:nvPr/>
        </p:nvSpPr>
        <p:spPr>
          <a:xfrm>
            <a:off x="697111" y="3062287"/>
            <a:ext cx="182676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 (year end)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3581598" y="3062287"/>
            <a:ext cx="2915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577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4220369" y="3062287"/>
            <a:ext cx="4154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2,160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4972447" y="3062287"/>
            <a:ext cx="4264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5,100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697111" y="3411538"/>
            <a:ext cx="25652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revenue, month 3 / 12 / 24 / 36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3617031" y="3411538"/>
            <a:ext cx="178185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₦0.18M · ₦1.0M · ₦4.8M · ₦14.2M</a:t>
            </a:r>
            <a:endParaRPr lang="en-US" sz="1030" dirty="0"/>
          </a:p>
        </p:txBody>
      </p:sp>
      <p:sp>
        <p:nvSpPr>
          <p:cNvPr id="27" name="Text 25"/>
          <p:cNvSpPr txBox="1"/>
          <p:nvPr/>
        </p:nvSpPr>
        <p:spPr>
          <a:xfrm>
            <a:off x="534591" y="4225429"/>
            <a:ext cx="106185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19</a:t>
            </a:r>
            <a:endParaRPr lang="en-US" sz="1720" dirty="0"/>
          </a:p>
        </p:txBody>
      </p:sp>
      <p:sp>
        <p:nvSpPr>
          <p:cNvPr id="28" name="Text 26"/>
          <p:cNvSpPr txBox="1"/>
          <p:nvPr/>
        </p:nvSpPr>
        <p:spPr>
          <a:xfrm>
            <a:off x="534591" y="4555629"/>
            <a:ext cx="1005268" cy="237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BREAK-EVEN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1875631" y="4225429"/>
            <a:ext cx="86300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₦14.7M</a:t>
            </a:r>
            <a:endParaRPr lang="en-US" sz="1720" dirty="0"/>
          </a:p>
        </p:txBody>
      </p:sp>
      <p:sp>
        <p:nvSpPr>
          <p:cNvPr id="30" name="Text 28"/>
          <p:cNvSpPr txBox="1"/>
          <p:nvPr/>
        </p:nvSpPr>
        <p:spPr>
          <a:xfrm>
            <a:off x="1875631" y="4555629"/>
            <a:ext cx="967367" cy="237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CASH NEED (MONTH 18)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3216771" y="4225429"/>
            <a:ext cx="4983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720" dirty="0"/>
          </a:p>
        </p:txBody>
      </p:sp>
      <p:sp>
        <p:nvSpPr>
          <p:cNvPr id="32" name="Text 30"/>
          <p:cNvSpPr txBox="1"/>
          <p:nvPr/>
        </p:nvSpPr>
        <p:spPr>
          <a:xfrm>
            <a:off x="3216771" y="4555629"/>
            <a:ext cx="865768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MARGIN PER VENDOR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4557911" y="4225429"/>
            <a:ext cx="74275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endParaRPr lang="en-US" sz="1720" dirty="0"/>
          </a:p>
        </p:txBody>
      </p:sp>
      <p:sp>
        <p:nvSpPr>
          <p:cNvPr id="34" name="Text 32"/>
          <p:cNvSpPr txBox="1"/>
          <p:nvPr/>
        </p:nvSpPr>
        <p:spPr>
          <a:xfrm>
            <a:off x="4557911" y="4555629"/>
            <a:ext cx="992634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COVERS THE PEAK + 36% BUFFER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06400" y="5128121"/>
            <a:ext cx="5362665" cy="464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Costs: team stipends and hires (₦0.45M → ₦2.6M/month), campus marketing (₦0.65M → ₦3.0M), infrastructure, legal and 8% support. Revenue starts in month 3. Downside check: 30% fewer vendors moves break-even to about month 27.</a:t>
            </a:r>
            <a:endParaRPr lang="en-US" sz="770" dirty="0"/>
          </a:p>
        </p:txBody>
      </p:sp>
      <p:sp>
        <p:nvSpPr>
          <p:cNvPr id="36" name="Text 34"/>
          <p:cNvSpPr txBox="1"/>
          <p:nvPr/>
        </p:nvSpPr>
        <p:spPr>
          <a:xfrm>
            <a:off x="6183511" y="1708646"/>
            <a:ext cx="467493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 VS COSTS, AND CASH POSITION (₦M)</a:t>
            </a:r>
            <a:endParaRPr lang="en-US" sz="790" dirty="0"/>
          </a:p>
        </p:txBody>
      </p:sp>
      <p:sp>
        <p:nvSpPr>
          <p:cNvPr id="37" name="Text 35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8" name="Text 36"/>
          <p:cNvSpPr txBox="1"/>
          <p:nvPr/>
        </p:nvSpPr>
        <p:spPr>
          <a:xfrm>
            <a:off x="6750645" y="6217940"/>
            <a:ext cx="53874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 are estimates built on stated assumptions, to be validated with live billing data.</a:t>
            </a:r>
            <a:endParaRPr lang="en-US" sz="8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107682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603137" y="521990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71352"/>
            <a:ext cx="7222235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students,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marketplace.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647230"/>
            <a:ext cx="9471533" cy="507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Product, technology, finance, growth, community and research: every function a two-sided marketplace needs.</a:t>
            </a:r>
            <a:endParaRPr lang="en-US" sz="1310" dirty="0"/>
          </a:p>
        </p:txBody>
      </p:sp>
      <p:sp>
        <p:nvSpPr>
          <p:cNvPr id="6" name="Text 4"/>
          <p:cNvSpPr txBox="1"/>
          <p:nvPr/>
        </p:nvSpPr>
        <p:spPr>
          <a:xfrm>
            <a:off x="406400" y="4069854"/>
            <a:ext cx="92872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 Dede</a:t>
            </a:r>
            <a:endParaRPr lang="en-US" sz="1030" dirty="0"/>
          </a:p>
        </p:txBody>
      </p:sp>
      <p:sp>
        <p:nvSpPr>
          <p:cNvPr id="7" name="Text 5"/>
          <p:cNvSpPr txBox="1"/>
          <p:nvPr/>
        </p:nvSpPr>
        <p:spPr>
          <a:xfrm>
            <a:off x="406400" y="4293295"/>
            <a:ext cx="10681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720" dirty="0"/>
          </a:p>
        </p:txBody>
      </p:sp>
      <p:sp>
        <p:nvSpPr>
          <p:cNvPr id="8" name="Text 6"/>
          <p:cNvSpPr txBox="1"/>
          <p:nvPr/>
        </p:nvSpPr>
        <p:spPr>
          <a:xfrm>
            <a:off x="1683147" y="4069854"/>
            <a:ext cx="8982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Yasir Oyebo</a:t>
            </a:r>
            <a:endParaRPr lang="en-US" sz="1030" dirty="0"/>
          </a:p>
        </p:txBody>
      </p:sp>
      <p:sp>
        <p:nvSpPr>
          <p:cNvPr id="9" name="Text 7"/>
          <p:cNvSpPr txBox="1"/>
          <p:nvPr/>
        </p:nvSpPr>
        <p:spPr>
          <a:xfrm>
            <a:off x="1683147" y="4293295"/>
            <a:ext cx="916408" cy="410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TECHNOLOGY OFFICER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2959894" y="4069854"/>
            <a:ext cx="11796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Korede Bankole</a:t>
            </a:r>
            <a:endParaRPr lang="en-US" sz="1030" dirty="0"/>
          </a:p>
        </p:txBody>
      </p:sp>
      <p:sp>
        <p:nvSpPr>
          <p:cNvPr id="11" name="Text 9"/>
          <p:cNvSpPr txBox="1"/>
          <p:nvPr/>
        </p:nvSpPr>
        <p:spPr>
          <a:xfrm>
            <a:off x="2959894" y="4293295"/>
            <a:ext cx="989661" cy="549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BUSINESS DEVELOPMENT LEAD</a:t>
            </a:r>
            <a:endParaRPr lang="en-US" sz="720" dirty="0"/>
          </a:p>
        </p:txBody>
      </p:sp>
      <p:sp>
        <p:nvSpPr>
          <p:cNvPr id="12" name="Text 10"/>
          <p:cNvSpPr txBox="1"/>
          <p:nvPr/>
        </p:nvSpPr>
        <p:spPr>
          <a:xfrm>
            <a:off x="4236641" y="4069854"/>
            <a:ext cx="8078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 Alalu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4236641" y="4293295"/>
            <a:ext cx="1177678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MARKETING LEAD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5513388" y="4069953"/>
            <a:ext cx="794320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Emmanuel Mbonu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5513388" y="4468614"/>
            <a:ext cx="1074911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PUBLICITY LEAD</a:t>
            </a:r>
            <a:endParaRPr lang="en-US" sz="720" dirty="0"/>
          </a:p>
        </p:txBody>
      </p:sp>
      <p:sp>
        <p:nvSpPr>
          <p:cNvPr id="16" name="Text 14"/>
          <p:cNvSpPr txBox="1"/>
          <p:nvPr/>
        </p:nvSpPr>
        <p:spPr>
          <a:xfrm>
            <a:off x="6790234" y="4069854"/>
            <a:ext cx="965456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Oluwanifemi Bayewu</a:t>
            </a:r>
            <a:endParaRPr lang="en-US" sz="1030" dirty="0"/>
          </a:p>
        </p:txBody>
      </p:sp>
      <p:sp>
        <p:nvSpPr>
          <p:cNvPr id="17" name="Text 15"/>
          <p:cNvSpPr txBox="1"/>
          <p:nvPr/>
        </p:nvSpPr>
        <p:spPr>
          <a:xfrm>
            <a:off x="6790234" y="4468515"/>
            <a:ext cx="978620" cy="410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COMMUNITY GROWTH LEAD</a:t>
            </a:r>
            <a:endParaRPr lang="en-US" sz="720" dirty="0"/>
          </a:p>
        </p:txBody>
      </p:sp>
      <p:sp>
        <p:nvSpPr>
          <p:cNvPr id="18" name="Text 16"/>
          <p:cNvSpPr txBox="1"/>
          <p:nvPr/>
        </p:nvSpPr>
        <p:spPr>
          <a:xfrm>
            <a:off x="8066980" y="4069854"/>
            <a:ext cx="11847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7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8066980" y="4293295"/>
            <a:ext cx="766465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TO BE ADDED</a:t>
            </a:r>
            <a:endParaRPr lang="en-US" sz="720" dirty="0"/>
          </a:p>
        </p:txBody>
      </p:sp>
      <p:sp>
        <p:nvSpPr>
          <p:cNvPr id="20" name="Text 18"/>
          <p:cNvSpPr txBox="1"/>
          <p:nvPr/>
        </p:nvSpPr>
        <p:spPr>
          <a:xfrm>
            <a:off x="9343727" y="4069854"/>
            <a:ext cx="119105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8</a:t>
            </a:r>
            <a:endParaRPr lang="en-US" sz="1030" dirty="0"/>
          </a:p>
        </p:txBody>
      </p:sp>
      <p:sp>
        <p:nvSpPr>
          <p:cNvPr id="21" name="Text 19"/>
          <p:cNvSpPr txBox="1"/>
          <p:nvPr/>
        </p:nvSpPr>
        <p:spPr>
          <a:xfrm>
            <a:off x="9343727" y="4293295"/>
            <a:ext cx="766465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TO BE ADDED</a:t>
            </a:r>
            <a:endParaRPr lang="en-US" sz="720" dirty="0"/>
          </a:p>
        </p:txBody>
      </p:sp>
      <p:sp>
        <p:nvSpPr>
          <p:cNvPr id="22" name="Text 20"/>
          <p:cNvSpPr txBox="1"/>
          <p:nvPr/>
        </p:nvSpPr>
        <p:spPr>
          <a:xfrm>
            <a:off x="10620474" y="4069953"/>
            <a:ext cx="119275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9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10620474" y="4293394"/>
            <a:ext cx="766465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TO BE ADDED</a:t>
            </a:r>
            <a:endParaRPr lang="en-US" sz="720" dirty="0"/>
          </a:p>
        </p:txBody>
      </p:sp>
      <p:sp>
        <p:nvSpPr>
          <p:cNvPr id="24" name="Text 22"/>
          <p:cNvSpPr txBox="1"/>
          <p:nvPr/>
        </p:nvSpPr>
        <p:spPr>
          <a:xfrm>
            <a:off x="761901" y="5260181"/>
            <a:ext cx="21791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shipped the live product</a:t>
            </a:r>
            <a:endParaRPr lang="en-US" sz="890" dirty="0"/>
          </a:p>
        </p:txBody>
      </p:sp>
      <p:sp>
        <p:nvSpPr>
          <p:cNvPr id="25" name="Text 23"/>
          <p:cNvSpPr txBox="1"/>
          <p:nvPr/>
        </p:nvSpPr>
        <p:spPr>
          <a:xfrm>
            <a:off x="3407966" y="5260181"/>
            <a:ext cx="202476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campus relationships</a:t>
            </a:r>
            <a:endParaRPr lang="en-US" sz="890" dirty="0"/>
          </a:p>
        </p:txBody>
      </p:sp>
      <p:sp>
        <p:nvSpPr>
          <p:cNvPr id="26" name="Text 24"/>
          <p:cNvSpPr txBox="1"/>
          <p:nvPr/>
        </p:nvSpPr>
        <p:spPr>
          <a:xfrm>
            <a:off x="5909766" y="5260181"/>
            <a:ext cx="174894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growth planning</a:t>
            </a:r>
            <a:endParaRPr lang="en-US" sz="890" dirty="0"/>
          </a:p>
        </p:txBody>
      </p:sp>
      <p:sp>
        <p:nvSpPr>
          <p:cNvPr id="27" name="Text 25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8" name="Text 26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327272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 &amp; USE OF RESOURCES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640245" y="521990"/>
            <a:ext cx="19615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71352"/>
            <a:ext cx="5472864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early adoption into a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 marketplace.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932781"/>
            <a:ext cx="3959283" cy="1022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50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pPr algn="l" indent="0" marL="0">
              <a:lnSpc>
                <a:spcPct val="8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support</a:t>
            </a:r>
            <a:endParaRPr lang="en-US" sz="5500" dirty="0"/>
          </a:p>
        </p:txBody>
      </p:sp>
      <p:sp>
        <p:nvSpPr>
          <p:cNvPr id="6" name="Text 4"/>
          <p:cNvSpPr txBox="1"/>
          <p:nvPr/>
        </p:nvSpPr>
        <p:spPr>
          <a:xfrm>
            <a:off x="2793901" y="3320455"/>
            <a:ext cx="20631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&amp; campus acquisition</a:t>
            </a:r>
            <a:endParaRPr lang="en-US" sz="930" dirty="0"/>
          </a:p>
        </p:txBody>
      </p:sp>
      <p:sp>
        <p:nvSpPr>
          <p:cNvPr id="7" name="Text 5"/>
          <p:cNvSpPr txBox="1"/>
          <p:nvPr/>
        </p:nvSpPr>
        <p:spPr>
          <a:xfrm>
            <a:off x="4965898" y="3320455"/>
            <a:ext cx="6750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· ₦7M</a:t>
            </a:r>
            <a:endParaRPr lang="en-US" sz="930" dirty="0"/>
          </a:p>
        </p:txBody>
      </p:sp>
      <p:sp>
        <p:nvSpPr>
          <p:cNvPr id="8" name="Text 6"/>
          <p:cNvSpPr txBox="1"/>
          <p:nvPr/>
        </p:nvSpPr>
        <p:spPr>
          <a:xfrm>
            <a:off x="2793901" y="3562846"/>
            <a:ext cx="19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growth &amp; onboarding</a:t>
            </a:r>
            <a:endParaRPr lang="en-US" sz="930" dirty="0"/>
          </a:p>
        </p:txBody>
      </p:sp>
      <p:sp>
        <p:nvSpPr>
          <p:cNvPr id="9" name="Text 7"/>
          <p:cNvSpPr txBox="1"/>
          <p:nvPr/>
        </p:nvSpPr>
        <p:spPr>
          <a:xfrm>
            <a:off x="4939407" y="3562846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2793901" y="3805237"/>
            <a:ext cx="141336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technology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4939407" y="3805237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2793901" y="4047629"/>
            <a:ext cx="123797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operations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4985048" y="4047629"/>
            <a:ext cx="65593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· ₦3M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2793901" y="4290020"/>
            <a:ext cx="174618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contingency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4969966" y="4290020"/>
            <a:ext cx="67101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· ₦2M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761901" y="5035153"/>
            <a:ext cx="283203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Mentorship: marketplace ops &amp; fundraising</a:t>
            </a:r>
            <a:endParaRPr lang="en-US" sz="890" dirty="0"/>
          </a:p>
        </p:txBody>
      </p:sp>
      <p:sp>
        <p:nvSpPr>
          <p:cNvPr id="17" name="Text 15"/>
          <p:cNvSpPr txBox="1"/>
          <p:nvPr/>
        </p:nvSpPr>
        <p:spPr>
          <a:xfrm>
            <a:off x="761901" y="5423495"/>
            <a:ext cx="3213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Partnerships: logistics, payments, student unions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6228060" y="970161"/>
            <a:ext cx="398699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NEXT 12 MONTHS DELIVER</a:t>
            </a:r>
            <a:endParaRPr lang="en-US" sz="890" dirty="0"/>
          </a:p>
        </p:txBody>
      </p:sp>
      <p:sp>
        <p:nvSpPr>
          <p:cNvPr id="19" name="Text 17"/>
          <p:cNvSpPr txBox="1"/>
          <p:nvPr/>
        </p:nvSpPr>
        <p:spPr>
          <a:xfrm>
            <a:off x="6376591" y="1385193"/>
            <a:ext cx="893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1,000+</a:t>
            </a:r>
            <a:endParaRPr lang="en-US" sz="1860" dirty="0"/>
          </a:p>
        </p:txBody>
      </p:sp>
      <p:sp>
        <p:nvSpPr>
          <p:cNvPr id="20" name="Text 18"/>
          <p:cNvSpPr txBox="1"/>
          <p:nvPr/>
        </p:nvSpPr>
        <p:spPr>
          <a:xfrm>
            <a:off x="6376591" y="1768673"/>
            <a:ext cx="602258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BY MONTH 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7791351" y="1385193"/>
            <a:ext cx="9175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1860" dirty="0"/>
          </a:p>
        </p:txBody>
      </p:sp>
      <p:sp>
        <p:nvSpPr>
          <p:cNvPr id="22" name="Text 20"/>
          <p:cNvSpPr txBox="1"/>
          <p:nvPr/>
        </p:nvSpPr>
        <p:spPr>
          <a:xfrm>
            <a:off x="7791351" y="1768673"/>
            <a:ext cx="636587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BY MONTH 12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9206111" y="1385193"/>
            <a:ext cx="6486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</a:t>
            </a:r>
            <a:endParaRPr lang="en-US" sz="1860" dirty="0"/>
          </a:p>
        </p:txBody>
      </p:sp>
      <p:sp>
        <p:nvSpPr>
          <p:cNvPr id="24" name="Text 22"/>
          <p:cNvSpPr txBox="1"/>
          <p:nvPr/>
        </p:nvSpPr>
        <p:spPr>
          <a:xfrm>
            <a:off x="9206111" y="1768673"/>
            <a:ext cx="801751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BY MONTH 12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10620871" y="1385193"/>
            <a:ext cx="5724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₦1M</a:t>
            </a:r>
            <a:endParaRPr lang="en-US" sz="1860" dirty="0"/>
          </a:p>
        </p:txBody>
      </p:sp>
      <p:sp>
        <p:nvSpPr>
          <p:cNvPr id="26" name="Text 24"/>
          <p:cNvSpPr txBox="1"/>
          <p:nvPr/>
        </p:nvSpPr>
        <p:spPr>
          <a:xfrm>
            <a:off x="10620871" y="1768673"/>
            <a:ext cx="779457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 BY MONTH 12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6228060" y="2390775"/>
            <a:ext cx="5909941" cy="813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find. Easier to trust. </a:t>
            </a:r>
            <a:pPr algn="l" indent="0" marL="0">
              <a:lnSpc>
                <a:spcPct val="85000"/>
              </a:lnSpc>
              <a:buNone/>
            </a:pPr>
            <a:r>
              <a:rPr lang="en-US" sz="241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transact.</a:t>
            </a:r>
            <a:endParaRPr lang="en-US" sz="2410" dirty="0"/>
          </a:p>
        </p:txBody>
      </p:sp>
      <p:sp>
        <p:nvSpPr>
          <p:cNvPr id="28" name="Text 26"/>
          <p:cNvSpPr txBox="1"/>
          <p:nvPr/>
        </p:nvSpPr>
        <p:spPr>
          <a:xfrm>
            <a:off x="8137922" y="3705126"/>
            <a:ext cx="381744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scan. Everything LevroMart.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8137922" y="4059634"/>
            <a:ext cx="2434554" cy="521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Website, Instagram, TikTok, LinkedIn, WhatsApp community and more, all on levromart.com/links.</a:t>
            </a:r>
            <a:endParaRPr lang="en-US" sz="890" dirty="0"/>
          </a:p>
        </p:txBody>
      </p:sp>
      <p:sp>
        <p:nvSpPr>
          <p:cNvPr id="30" name="Text 28"/>
          <p:cNvSpPr txBox="1"/>
          <p:nvPr/>
        </p:nvSpPr>
        <p:spPr>
          <a:xfrm>
            <a:off x="6324501" y="5175647"/>
            <a:ext cx="59342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760" dirty="0"/>
          </a:p>
        </p:txBody>
      </p:sp>
      <p:sp>
        <p:nvSpPr>
          <p:cNvPr id="31" name="Text 29"/>
          <p:cNvSpPr txBox="1"/>
          <p:nvPr/>
        </p:nvSpPr>
        <p:spPr>
          <a:xfrm>
            <a:off x="7110809" y="5175647"/>
            <a:ext cx="40491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760" dirty="0"/>
          </a:p>
        </p:txBody>
      </p:sp>
      <p:sp>
        <p:nvSpPr>
          <p:cNvPr id="32" name="Text 30"/>
          <p:cNvSpPr txBox="1"/>
          <p:nvPr/>
        </p:nvSpPr>
        <p:spPr>
          <a:xfrm>
            <a:off x="7708602" y="5175647"/>
            <a:ext cx="56068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</a:t>
            </a:r>
            <a:endParaRPr lang="en-US" sz="760" dirty="0"/>
          </a:p>
        </p:txBody>
      </p:sp>
      <p:sp>
        <p:nvSpPr>
          <p:cNvPr id="33" name="Text 31"/>
          <p:cNvSpPr txBox="1"/>
          <p:nvPr/>
        </p:nvSpPr>
        <p:spPr>
          <a:xfrm>
            <a:off x="8462169" y="5175647"/>
            <a:ext cx="1317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760" dirty="0"/>
          </a:p>
        </p:txBody>
      </p:sp>
      <p:sp>
        <p:nvSpPr>
          <p:cNvPr id="34" name="Text 32"/>
          <p:cNvSpPr txBox="1"/>
          <p:nvPr/>
        </p:nvSpPr>
        <p:spPr>
          <a:xfrm>
            <a:off x="8786813" y="5175647"/>
            <a:ext cx="49926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760" dirty="0"/>
          </a:p>
        </p:txBody>
      </p:sp>
      <p:sp>
        <p:nvSpPr>
          <p:cNvPr id="35" name="Text 33"/>
          <p:cNvSpPr txBox="1"/>
          <p:nvPr/>
        </p:nvSpPr>
        <p:spPr>
          <a:xfrm>
            <a:off x="9478963" y="5175647"/>
            <a:ext cx="61138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760" dirty="0"/>
          </a:p>
        </p:txBody>
      </p:sp>
      <p:sp>
        <p:nvSpPr>
          <p:cNvPr id="36" name="Text 34"/>
          <p:cNvSpPr txBox="1"/>
          <p:nvPr/>
        </p:nvSpPr>
        <p:spPr>
          <a:xfrm>
            <a:off x="10283230" y="5175647"/>
            <a:ext cx="53002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Substack</a:t>
            </a:r>
            <a:endParaRPr lang="en-US" sz="760" dirty="0"/>
          </a:p>
        </p:txBody>
      </p:sp>
      <p:sp>
        <p:nvSpPr>
          <p:cNvPr id="37" name="Text 35"/>
          <p:cNvSpPr txBox="1"/>
          <p:nvPr/>
        </p:nvSpPr>
        <p:spPr>
          <a:xfrm>
            <a:off x="6228060" y="5460008"/>
            <a:ext cx="498546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name everywhere: @levromart · Thank you · AMSUL Business Pitch Competition 2026</a:t>
            </a:r>
            <a:endParaRPr lang="en-US" sz="790" dirty="0"/>
          </a:p>
        </p:txBody>
      </p:sp>
      <p:sp>
        <p:nvSpPr>
          <p:cNvPr id="38" name="Text 36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9" name="Text 37"/>
          <p:cNvSpPr txBox="1"/>
          <p:nvPr/>
        </p:nvSpPr>
        <p:spPr>
          <a:xfrm>
            <a:off x="10105827" y="6217940"/>
            <a:ext cx="17973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Buy · Sell · Connect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LevroMart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LevroMart – AMSUL Business Pitch Competition 2026</dc:title>
  <dc:subject>PptxGenJS Presentation</dc:subject>
  <dc:creator>LevroMart</dc:creator>
  <cp:lastModifiedBy>LevroMart</cp:lastModifiedBy>
  <cp:revision>1</cp:revision>
  <dcterms:created xsi:type="dcterms:W3CDTF">2026-10-25T00:08:13Z</dcterms:created>
  <dcterms:modified xsi:type="dcterms:W3CDTF">2026-10-25T00:08:13Z</dcterms:modified>
</cp:coreProperties>
</file>