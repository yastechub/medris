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83841" y="464741"/>
            <a:ext cx="1094233" cy="273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4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1440" dirty="0"/>
          </a:p>
        </p:txBody>
      </p:sp>
      <p:sp>
        <p:nvSpPr>
          <p:cNvPr id="3" name="Text 1"/>
          <p:cNvSpPr txBox="1"/>
          <p:nvPr/>
        </p:nvSpPr>
        <p:spPr>
          <a:xfrm>
            <a:off x="2058789" y="537766"/>
            <a:ext cx="1872734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dirty="0">
                <a:solidFill>
                  <a:srgbClr val="FFD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 · SELL · CONNECT</a:t>
            </a:r>
            <a:endParaRPr lang="en-US" sz="720" dirty="0"/>
          </a:p>
        </p:txBody>
      </p:sp>
      <p:sp>
        <p:nvSpPr>
          <p:cNvPr id="4" name="Text 2"/>
          <p:cNvSpPr txBox="1"/>
          <p:nvPr/>
        </p:nvSpPr>
        <p:spPr>
          <a:xfrm>
            <a:off x="9143107" y="521990"/>
            <a:ext cx="266439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AMSUL Business Pitch Competition 2026</a:t>
            </a:r>
            <a:endParaRPr lang="en-US" sz="89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874911"/>
            <a:ext cx="6589816" cy="26879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3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Finding what you need locally shouldn’t require </a:t>
            </a:r>
            <a:pPr algn="l" indent="0" marL="0">
              <a:lnSpc>
                <a:spcPct val="85000"/>
              </a:lnSpc>
              <a:buNone/>
            </a:pPr>
            <a:r>
              <a:rPr lang="en-US" sz="4330" b="1" dirty="0">
                <a:solidFill>
                  <a:srgbClr val="FFD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remembering where you saw it.</a:t>
            </a:r>
            <a:endParaRPr lang="en-US" sz="4330" dirty="0"/>
          </a:p>
        </p:txBody>
      </p:sp>
      <p:sp>
        <p:nvSpPr>
          <p:cNvPr id="6" name="Text 4"/>
          <p:cNvSpPr txBox="1"/>
          <p:nvPr/>
        </p:nvSpPr>
        <p:spPr>
          <a:xfrm>
            <a:off x="406400" y="3627338"/>
            <a:ext cx="6614552" cy="507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1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is the campus marketplace where students discover, trust and order from verified vendors, all in one app.</a:t>
            </a:r>
            <a:endParaRPr lang="en-US" sz="1310" dirty="0"/>
          </a:p>
        </p:txBody>
      </p:sp>
      <p:sp>
        <p:nvSpPr>
          <p:cNvPr id="7" name="Text 5"/>
          <p:cNvSpPr txBox="1"/>
          <p:nvPr/>
        </p:nvSpPr>
        <p:spPr>
          <a:xfrm>
            <a:off x="615950" y="4414044"/>
            <a:ext cx="922778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2480" dirty="0"/>
          </a:p>
        </p:txBody>
      </p:sp>
      <p:sp>
        <p:nvSpPr>
          <p:cNvPr id="8" name="Text 6"/>
          <p:cNvSpPr txBox="1"/>
          <p:nvPr/>
        </p:nvSpPr>
        <p:spPr>
          <a:xfrm>
            <a:off x="615950" y="4881364"/>
            <a:ext cx="151570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USERS</a:t>
            </a:r>
            <a:endParaRPr lang="en-US" sz="790" dirty="0"/>
          </a:p>
        </p:txBody>
      </p:sp>
      <p:sp>
        <p:nvSpPr>
          <p:cNvPr id="9" name="Text 7"/>
          <p:cNvSpPr txBox="1"/>
          <p:nvPr/>
        </p:nvSpPr>
        <p:spPr>
          <a:xfrm>
            <a:off x="2563316" y="4414044"/>
            <a:ext cx="676275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2480" dirty="0"/>
          </a:p>
        </p:txBody>
      </p:sp>
      <p:sp>
        <p:nvSpPr>
          <p:cNvPr id="10" name="Text 8"/>
          <p:cNvSpPr txBox="1"/>
          <p:nvPr/>
        </p:nvSpPr>
        <p:spPr>
          <a:xfrm>
            <a:off x="2563316" y="4881364"/>
            <a:ext cx="13756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4379813" y="4414044"/>
            <a:ext cx="810881" cy="463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2480" dirty="0"/>
          </a:p>
        </p:txBody>
      </p:sp>
      <p:sp>
        <p:nvSpPr>
          <p:cNvPr id="12" name="Text 10"/>
          <p:cNvSpPr txBox="1"/>
          <p:nvPr/>
        </p:nvSpPr>
        <p:spPr>
          <a:xfrm>
            <a:off x="4379813" y="4881364"/>
            <a:ext cx="112364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LISTINGS</a:t>
            </a:r>
            <a:endParaRPr lang="en-US" sz="790" dirty="0"/>
          </a:p>
        </p:txBody>
      </p:sp>
      <p:sp>
        <p:nvSpPr>
          <p:cNvPr id="13" name="Text 11"/>
          <p:cNvSpPr txBox="1"/>
          <p:nvPr/>
        </p:nvSpPr>
        <p:spPr>
          <a:xfrm>
            <a:off x="406400" y="5330825"/>
            <a:ext cx="611600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D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CEO: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Kennis Dede · </a:t>
            </a:r>
            <a:pPr algn="l"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FFD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LevroMart</a:t>
            </a:r>
            <a:pPr algn="l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(9 members) · Lagos, Nigeria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15" name="Text 13"/>
          <p:cNvSpPr txBox="1"/>
          <p:nvPr/>
        </p:nvSpPr>
        <p:spPr>
          <a:xfrm>
            <a:off x="11603137" y="6211590"/>
            <a:ext cx="23326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9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269582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8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 &amp; THE GAP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8630" y="521990"/>
            <a:ext cx="25777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81571"/>
            <a:ext cx="4724938" cy="10937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commerce is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fragmented.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567299" y="2794117"/>
            <a:ext cx="418451" cy="151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700" dirty="0"/>
          </a:p>
        </p:txBody>
      </p:sp>
      <p:sp>
        <p:nvSpPr>
          <p:cNvPr id="6" name="Text 4"/>
          <p:cNvSpPr txBox="1"/>
          <p:nvPr/>
        </p:nvSpPr>
        <p:spPr>
          <a:xfrm>
            <a:off x="576774" y="2890706"/>
            <a:ext cx="996370" cy="2920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1240" dirty="0"/>
          </a:p>
        </p:txBody>
      </p:sp>
      <p:sp>
        <p:nvSpPr>
          <p:cNvPr id="7" name="Text 5"/>
          <p:cNvSpPr txBox="1"/>
          <p:nvPr/>
        </p:nvSpPr>
        <p:spPr>
          <a:xfrm>
            <a:off x="1700250" y="2103370"/>
            <a:ext cx="342508" cy="1417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DMS</a:t>
            </a:r>
            <a:endParaRPr lang="en-US" sz="700" dirty="0"/>
          </a:p>
        </p:txBody>
      </p:sp>
      <p:sp>
        <p:nvSpPr>
          <p:cNvPr id="8" name="Text 6"/>
          <p:cNvSpPr txBox="1"/>
          <p:nvPr/>
        </p:nvSpPr>
        <p:spPr>
          <a:xfrm>
            <a:off x="1687824" y="2239014"/>
            <a:ext cx="961774" cy="2747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1240" dirty="0"/>
          </a:p>
        </p:txBody>
      </p:sp>
      <p:sp>
        <p:nvSpPr>
          <p:cNvPr id="9" name="Text 7"/>
          <p:cNvSpPr txBox="1"/>
          <p:nvPr/>
        </p:nvSpPr>
        <p:spPr>
          <a:xfrm>
            <a:off x="3011254" y="2779165"/>
            <a:ext cx="681020" cy="148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SCROLL…</a:t>
            </a:r>
            <a:endParaRPr lang="en-US" sz="700" dirty="0"/>
          </a:p>
        </p:txBody>
      </p:sp>
      <p:sp>
        <p:nvSpPr>
          <p:cNvPr id="10" name="Text 8"/>
          <p:cNvSpPr txBox="1"/>
          <p:nvPr/>
        </p:nvSpPr>
        <p:spPr>
          <a:xfrm>
            <a:off x="3015994" y="2908468"/>
            <a:ext cx="875580" cy="2567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Old chats</a:t>
            </a:r>
            <a:endParaRPr lang="en-US" sz="1240" dirty="0"/>
          </a:p>
        </p:txBody>
      </p:sp>
      <p:sp>
        <p:nvSpPr>
          <p:cNvPr id="11" name="Text 9"/>
          <p:cNvSpPr txBox="1"/>
          <p:nvPr/>
        </p:nvSpPr>
        <p:spPr>
          <a:xfrm>
            <a:off x="3937693" y="2073759"/>
            <a:ext cx="962417" cy="188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“ASK TUNDE”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3921131" y="2209258"/>
            <a:ext cx="1640487" cy="334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 contacts</a:t>
            </a:r>
            <a:endParaRPr lang="en-US" sz="1240" dirty="0"/>
          </a:p>
        </p:txBody>
      </p:sp>
      <p:sp>
        <p:nvSpPr>
          <p:cNvPr id="13" name="Text 11"/>
          <p:cNvSpPr txBox="1"/>
          <p:nvPr/>
        </p:nvSpPr>
        <p:spPr>
          <a:xfrm>
            <a:off x="5345465" y="2727621"/>
            <a:ext cx="862470" cy="1687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700" b="1" spc="16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 HEARD…”</a:t>
            </a:r>
            <a:endParaRPr lang="en-US" sz="700" dirty="0"/>
          </a:p>
        </p:txBody>
      </p:sp>
      <p:sp>
        <p:nvSpPr>
          <p:cNvPr id="14" name="Text 12"/>
          <p:cNvSpPr txBox="1"/>
          <p:nvPr/>
        </p:nvSpPr>
        <p:spPr>
          <a:xfrm>
            <a:off x="5352574" y="2838548"/>
            <a:ext cx="1372808" cy="2948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2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Word of mouth</a:t>
            </a:r>
            <a:endParaRPr lang="en-US" sz="1240" dirty="0"/>
          </a:p>
        </p:txBody>
      </p:sp>
      <p:sp>
        <p:nvSpPr>
          <p:cNvPr id="15" name="Text 13"/>
          <p:cNvSpPr txBox="1"/>
          <p:nvPr/>
        </p:nvSpPr>
        <p:spPr>
          <a:xfrm>
            <a:off x="406400" y="3571677"/>
            <a:ext cx="3241826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06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“Who sells this again?”</a:t>
            </a:r>
            <a:endParaRPr lang="en-US" sz="2060" dirty="0"/>
          </a:p>
        </p:txBody>
      </p:sp>
      <p:sp>
        <p:nvSpPr>
          <p:cNvPr id="16" name="Text 14"/>
          <p:cNvSpPr txBox="1"/>
          <p:nvPr/>
        </p:nvSpPr>
        <p:spPr>
          <a:xfrm>
            <a:off x="595610" y="4792067"/>
            <a:ext cx="1348602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to find &amp; trust</a:t>
            </a:r>
            <a:endParaRPr lang="en-US" sz="1380" dirty="0"/>
          </a:p>
        </p:txBody>
      </p:sp>
      <p:sp>
        <p:nvSpPr>
          <p:cNvPr id="17" name="Text 15"/>
          <p:cNvSpPr txBox="1"/>
          <p:nvPr/>
        </p:nvSpPr>
        <p:spPr>
          <a:xfrm>
            <a:off x="2776537" y="4792067"/>
            <a:ext cx="1601379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have no home</a:t>
            </a:r>
            <a:endParaRPr lang="en-US" sz="1380" dirty="0"/>
          </a:p>
        </p:txBody>
      </p:sp>
      <p:sp>
        <p:nvSpPr>
          <p:cNvPr id="18" name="Text 16"/>
          <p:cNvSpPr txBox="1"/>
          <p:nvPr/>
        </p:nvSpPr>
        <p:spPr>
          <a:xfrm>
            <a:off x="4957564" y="4792067"/>
            <a:ext cx="1638855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order records</a:t>
            </a:r>
            <a:endParaRPr lang="en-US" sz="1380" dirty="0"/>
          </a:p>
        </p:txBody>
      </p:sp>
      <p:sp>
        <p:nvSpPr>
          <p:cNvPr id="19" name="Text 17"/>
          <p:cNvSpPr txBox="1"/>
          <p:nvPr/>
        </p:nvSpPr>
        <p:spPr>
          <a:xfrm>
            <a:off x="7321550" y="1189930"/>
            <a:ext cx="331741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230" kern="0" dirty="0">
                <a:solidFill>
                  <a:srgbClr val="8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SERVE &amp; THE OPPORTUNITY</a:t>
            </a:r>
            <a:endParaRPr lang="en-US" sz="830" dirty="0"/>
          </a:p>
        </p:txBody>
      </p:sp>
      <p:sp>
        <p:nvSpPr>
          <p:cNvPr id="20" name="Text 18"/>
          <p:cNvSpPr txBox="1"/>
          <p:nvPr/>
        </p:nvSpPr>
        <p:spPr>
          <a:xfrm>
            <a:off x="7321550" y="1596727"/>
            <a:ext cx="130974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100K+</a:t>
            </a:r>
            <a:endParaRPr lang="en-US" sz="2890" dirty="0"/>
          </a:p>
        </p:txBody>
      </p:sp>
      <p:sp>
        <p:nvSpPr>
          <p:cNvPr id="21" name="Text 19"/>
          <p:cNvSpPr txBox="1"/>
          <p:nvPr/>
        </p:nvSpPr>
        <p:spPr>
          <a:xfrm>
            <a:off x="9447248" y="1869777"/>
            <a:ext cx="212880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Lagos (UNILAG &amp; LASU alone)</a:t>
            </a:r>
            <a:endParaRPr lang="en-US" sz="1030" dirty="0"/>
          </a:p>
        </p:txBody>
      </p:sp>
      <p:sp>
        <p:nvSpPr>
          <p:cNvPr id="22" name="Text 20"/>
          <p:cNvSpPr txBox="1"/>
          <p:nvPr/>
        </p:nvSpPr>
        <p:spPr>
          <a:xfrm>
            <a:off x="7321550" y="2592784"/>
            <a:ext cx="129573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≈2.5M</a:t>
            </a:r>
            <a:endParaRPr lang="en-US" sz="2890" dirty="0"/>
          </a:p>
        </p:txBody>
      </p:sp>
      <p:sp>
        <p:nvSpPr>
          <p:cNvPr id="23" name="Text 21"/>
          <p:cNvSpPr txBox="1"/>
          <p:nvPr/>
        </p:nvSpPr>
        <p:spPr>
          <a:xfrm>
            <a:off x="9716056" y="2865834"/>
            <a:ext cx="1859994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across Nigeria’s tertiary institutions</a:t>
            </a:r>
            <a:endParaRPr lang="en-US" sz="1030" dirty="0"/>
          </a:p>
        </p:txBody>
      </p:sp>
      <p:sp>
        <p:nvSpPr>
          <p:cNvPr id="24" name="Text 22"/>
          <p:cNvSpPr txBox="1"/>
          <p:nvPr/>
        </p:nvSpPr>
        <p:spPr>
          <a:xfrm>
            <a:off x="7321550" y="3588742"/>
            <a:ext cx="1107716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≈14M</a:t>
            </a:r>
            <a:endParaRPr lang="en-US" sz="2890" dirty="0"/>
          </a:p>
        </p:txBody>
      </p:sp>
      <p:sp>
        <p:nvSpPr>
          <p:cNvPr id="25" name="Text 23"/>
          <p:cNvSpPr txBox="1"/>
          <p:nvPr/>
        </p:nvSpPr>
        <p:spPr>
          <a:xfrm>
            <a:off x="9512008" y="3861792"/>
            <a:ext cx="20640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in Africa: the long-term horizon</a:t>
            </a:r>
            <a:endParaRPr lang="en-US" sz="1030" dirty="0"/>
          </a:p>
        </p:txBody>
      </p:sp>
      <p:sp>
        <p:nvSpPr>
          <p:cNvPr id="26" name="Text 24"/>
          <p:cNvSpPr txBox="1"/>
          <p:nvPr/>
        </p:nvSpPr>
        <p:spPr>
          <a:xfrm>
            <a:off x="7321550" y="4584799"/>
            <a:ext cx="1421643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289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₦10.8B</a:t>
            </a:r>
            <a:endParaRPr lang="en-US" sz="2890" dirty="0"/>
          </a:p>
        </p:txBody>
      </p:sp>
      <p:sp>
        <p:nvSpPr>
          <p:cNvPr id="27" name="Text 25"/>
          <p:cNvSpPr txBox="1"/>
          <p:nvPr/>
        </p:nvSpPr>
        <p:spPr>
          <a:xfrm>
            <a:off x="9670087" y="4857849"/>
            <a:ext cx="1905963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yearly revenue pool in Nigeria at a 3% take rate*</a:t>
            </a:r>
            <a:endParaRPr lang="en-US" sz="1030" dirty="0"/>
          </a:p>
        </p:txBody>
      </p:sp>
      <p:sp>
        <p:nvSpPr>
          <p:cNvPr id="28" name="Text 26"/>
          <p:cNvSpPr txBox="1"/>
          <p:nvPr/>
        </p:nvSpPr>
        <p:spPr>
          <a:xfrm>
            <a:off x="7321550" y="5580856"/>
            <a:ext cx="4056953" cy="3096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Sources: NUC (2018), UNESCO/World Bank, UNILAG and LASU. *Assumes ₦12,000 per student per month, 3% take rate.</a:t>
            </a:r>
            <a:endParaRPr lang="en-US" sz="790" dirty="0"/>
          </a:p>
        </p:txBody>
      </p:sp>
      <p:sp>
        <p:nvSpPr>
          <p:cNvPr id="29" name="Text 27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30" name="Text 28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158513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FFD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SOLUTION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9523" y="521990"/>
            <a:ext cx="25687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91691"/>
            <a:ext cx="3785280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FFD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1667570"/>
            <a:ext cx="2749543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7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place for campus commerce.</a:t>
            </a:r>
            <a:endParaRPr lang="en-US" sz="1170" dirty="0"/>
          </a:p>
        </p:txBody>
      </p:sp>
      <p:sp>
        <p:nvSpPr>
          <p:cNvPr id="6" name="Text 4"/>
          <p:cNvSpPr txBox="1"/>
          <p:nvPr/>
        </p:nvSpPr>
        <p:spPr>
          <a:xfrm>
            <a:off x="1164530" y="2281734"/>
            <a:ext cx="1030641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</a:t>
            </a:r>
            <a:endParaRPr lang="en-US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1164530" y="2586534"/>
            <a:ext cx="3467106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Products, services, rentals, packages: near you</a:t>
            </a:r>
            <a:endParaRPr lang="en-US" sz="1070" dirty="0"/>
          </a:p>
        </p:txBody>
      </p:sp>
      <p:sp>
        <p:nvSpPr>
          <p:cNvPr id="8" name="Text 6"/>
          <p:cNvSpPr txBox="1"/>
          <p:nvPr/>
        </p:nvSpPr>
        <p:spPr>
          <a:xfrm>
            <a:off x="1164530" y="3250902"/>
            <a:ext cx="977559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1164530" y="3555702"/>
            <a:ext cx="309064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storefronts, chat and negotiation</a:t>
            </a:r>
            <a:endParaRPr lang="en-US" sz="1070" dirty="0"/>
          </a:p>
        </p:txBody>
      </p:sp>
      <p:sp>
        <p:nvSpPr>
          <p:cNvPr id="10" name="Text 8"/>
          <p:cNvSpPr txBox="1"/>
          <p:nvPr/>
        </p:nvSpPr>
        <p:spPr>
          <a:xfrm>
            <a:off x="1164530" y="4220071"/>
            <a:ext cx="1038178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Transact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1164530" y="4524871"/>
            <a:ext cx="2728629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Order, pay, track, rate, with a record</a:t>
            </a:r>
            <a:endParaRPr lang="en-US" sz="1070" dirty="0"/>
          </a:p>
        </p:txBody>
      </p:sp>
      <p:sp>
        <p:nvSpPr>
          <p:cNvPr id="12" name="Text 10"/>
          <p:cNvSpPr txBox="1"/>
          <p:nvPr/>
        </p:nvSpPr>
        <p:spPr>
          <a:xfrm>
            <a:off x="7477657" y="1062831"/>
            <a:ext cx="902819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/ IG</a:t>
            </a:r>
            <a:endParaRPr lang="en-US" sz="760" dirty="0"/>
          </a:p>
        </p:txBody>
      </p:sp>
      <p:sp>
        <p:nvSpPr>
          <p:cNvPr id="13" name="Text 11"/>
          <p:cNvSpPr txBox="1"/>
          <p:nvPr/>
        </p:nvSpPr>
        <p:spPr>
          <a:xfrm>
            <a:off x="8695502" y="1062831"/>
            <a:ext cx="880525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E-COMMERCE</a:t>
            </a:r>
            <a:endParaRPr lang="en-US" sz="760" dirty="0"/>
          </a:p>
        </p:txBody>
      </p:sp>
      <p:sp>
        <p:nvSpPr>
          <p:cNvPr id="14" name="Text 12"/>
          <p:cNvSpPr txBox="1"/>
          <p:nvPr/>
        </p:nvSpPr>
        <p:spPr>
          <a:xfrm>
            <a:off x="9853975" y="1202432"/>
            <a:ext cx="94135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CLASSIFIEDS</a:t>
            </a:r>
            <a:endParaRPr lang="en-US" sz="760" dirty="0"/>
          </a:p>
        </p:txBody>
      </p:sp>
      <p:sp>
        <p:nvSpPr>
          <p:cNvPr id="15" name="Text 13"/>
          <p:cNvSpPr txBox="1"/>
          <p:nvPr/>
        </p:nvSpPr>
        <p:spPr>
          <a:xfrm>
            <a:off x="10857043" y="1202432"/>
            <a:ext cx="8968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760" dirty="0"/>
          </a:p>
        </p:txBody>
      </p:sp>
      <p:sp>
        <p:nvSpPr>
          <p:cNvPr id="16" name="Text 14"/>
          <p:cNvSpPr txBox="1"/>
          <p:nvPr/>
        </p:nvSpPr>
        <p:spPr>
          <a:xfrm>
            <a:off x="5933380" y="1496913"/>
            <a:ext cx="1034038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Campus-aware discovery</a:t>
            </a:r>
            <a:endParaRPr lang="en-US" sz="930" dirty="0"/>
          </a:p>
        </p:txBody>
      </p:sp>
      <p:sp>
        <p:nvSpPr>
          <p:cNvPr id="17" name="Text 15"/>
          <p:cNvSpPr txBox="1"/>
          <p:nvPr/>
        </p:nvSpPr>
        <p:spPr>
          <a:xfrm>
            <a:off x="8970863" y="1582539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18" name="Text 16"/>
          <p:cNvSpPr txBox="1"/>
          <p:nvPr/>
        </p:nvSpPr>
        <p:spPr>
          <a:xfrm>
            <a:off x="10159802" y="1582539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19" name="Text 17"/>
          <p:cNvSpPr txBox="1"/>
          <p:nvPr/>
        </p:nvSpPr>
        <p:spPr>
          <a:xfrm>
            <a:off x="5933380" y="2052340"/>
            <a:ext cx="1081918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vendors</a:t>
            </a:r>
            <a:endParaRPr lang="en-US" sz="930" dirty="0"/>
          </a:p>
        </p:txBody>
      </p:sp>
      <p:sp>
        <p:nvSpPr>
          <p:cNvPr id="20" name="Text 18"/>
          <p:cNvSpPr txBox="1"/>
          <p:nvPr/>
        </p:nvSpPr>
        <p:spPr>
          <a:xfrm>
            <a:off x="5933380" y="2436515"/>
            <a:ext cx="1209633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Storefront + order tracking</a:t>
            </a:r>
            <a:endParaRPr lang="en-US" sz="930" dirty="0"/>
          </a:p>
        </p:txBody>
      </p:sp>
      <p:sp>
        <p:nvSpPr>
          <p:cNvPr id="21" name="Text 19"/>
          <p:cNvSpPr txBox="1"/>
          <p:nvPr/>
        </p:nvSpPr>
        <p:spPr>
          <a:xfrm>
            <a:off x="5933380" y="2969716"/>
            <a:ext cx="1460818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&amp; negotiation in-app</a:t>
            </a:r>
            <a:endParaRPr lang="en-US" sz="930" dirty="0"/>
          </a:p>
        </p:txBody>
      </p:sp>
      <p:sp>
        <p:nvSpPr>
          <p:cNvPr id="22" name="Text 20"/>
          <p:cNvSpPr txBox="1"/>
          <p:nvPr/>
        </p:nvSpPr>
        <p:spPr>
          <a:xfrm>
            <a:off x="10159802" y="3055342"/>
            <a:ext cx="32970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930" dirty="0"/>
          </a:p>
        </p:txBody>
      </p:sp>
      <p:sp>
        <p:nvSpPr>
          <p:cNvPr id="23" name="Text 21"/>
          <p:cNvSpPr txBox="1"/>
          <p:nvPr/>
        </p:nvSpPr>
        <p:spPr>
          <a:xfrm>
            <a:off x="5933380" y="3502918"/>
            <a:ext cx="1416122" cy="349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an item from vendors</a:t>
            </a:r>
            <a:endParaRPr lang="en-US" sz="930" dirty="0"/>
          </a:p>
        </p:txBody>
      </p:sp>
      <p:sp>
        <p:nvSpPr>
          <p:cNvPr id="24" name="Text 22"/>
          <p:cNvSpPr txBox="1"/>
          <p:nvPr/>
        </p:nvSpPr>
        <p:spPr>
          <a:xfrm>
            <a:off x="5831780" y="4053880"/>
            <a:ext cx="355394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yes · “Part” = partly · ✕ no. Our assessment of typical features.</a:t>
            </a:r>
            <a:endParaRPr lang="en-US" sz="790" dirty="0"/>
          </a:p>
        </p:txBody>
      </p:sp>
      <p:sp>
        <p:nvSpPr>
          <p:cNvPr id="25" name="Text 23"/>
          <p:cNvSpPr txBox="1"/>
          <p:nvPr/>
        </p:nvSpPr>
        <p:spPr>
          <a:xfrm>
            <a:off x="534591" y="5576590"/>
            <a:ext cx="126876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 an item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34591" y="5821561"/>
            <a:ext cx="172930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it. Vendors send offers.</a:t>
            </a:r>
            <a:endParaRPr lang="en-US" sz="890" dirty="0"/>
          </a:p>
        </p:txBody>
      </p:sp>
      <p:sp>
        <p:nvSpPr>
          <p:cNvPr id="27" name="Text 25"/>
          <p:cNvSpPr txBox="1"/>
          <p:nvPr/>
        </p:nvSpPr>
        <p:spPr>
          <a:xfrm>
            <a:off x="2830711" y="5576590"/>
            <a:ext cx="15616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2830711" y="5821561"/>
            <a:ext cx="149394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week of promotion</a:t>
            </a:r>
            <a:endParaRPr lang="en-US" sz="890" dirty="0"/>
          </a:p>
        </p:txBody>
      </p:sp>
      <p:sp>
        <p:nvSpPr>
          <p:cNvPr id="29" name="Text 27"/>
          <p:cNvSpPr txBox="1"/>
          <p:nvPr/>
        </p:nvSpPr>
        <p:spPr>
          <a:xfrm>
            <a:off x="5126831" y="5576590"/>
            <a:ext cx="129902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 your price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5126831" y="5821561"/>
            <a:ext cx="133533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Negotiate, rent, book</a:t>
            </a:r>
            <a:endParaRPr lang="en-US" sz="890" dirty="0"/>
          </a:p>
        </p:txBody>
      </p:sp>
      <p:sp>
        <p:nvSpPr>
          <p:cNvPr id="31" name="Text 29"/>
          <p:cNvSpPr txBox="1"/>
          <p:nvPr/>
        </p:nvSpPr>
        <p:spPr>
          <a:xfrm>
            <a:off x="7423051" y="5576590"/>
            <a:ext cx="143799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Levi, our assistant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7423051" y="5821561"/>
            <a:ext cx="117523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that finds things</a:t>
            </a:r>
            <a:endParaRPr lang="en-US" sz="890" dirty="0"/>
          </a:p>
        </p:txBody>
      </p:sp>
      <p:sp>
        <p:nvSpPr>
          <p:cNvPr id="33" name="Text 31"/>
          <p:cNvSpPr txBox="1"/>
          <p:nvPr/>
        </p:nvSpPr>
        <p:spPr>
          <a:xfrm>
            <a:off x="9719171" y="5576590"/>
            <a:ext cx="1221948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Promos coming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9719171" y="5821561"/>
            <a:ext cx="146187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Launch offers, referrals</a:t>
            </a:r>
            <a:endParaRPr lang="en-US" sz="890" dirty="0"/>
          </a:p>
        </p:txBody>
      </p:sp>
      <p:sp>
        <p:nvSpPr>
          <p:cNvPr id="35" name="Text 33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36" name="Text 34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244474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8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MVP · LIVE TODAY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3768" y="521990"/>
            <a:ext cx="26263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6604000" y="1499096"/>
            <a:ext cx="4880893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product,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already live.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604000" y="2633266"/>
            <a:ext cx="2517150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1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today. Tap the screens.</a:t>
            </a:r>
            <a:endParaRPr lang="en-US" sz="1310" dirty="0"/>
          </a:p>
        </p:txBody>
      </p:sp>
      <p:sp>
        <p:nvSpPr>
          <p:cNvPr id="6" name="Text 4"/>
          <p:cNvSpPr txBox="1"/>
          <p:nvPr/>
        </p:nvSpPr>
        <p:spPr>
          <a:xfrm>
            <a:off x="6793210" y="3228479"/>
            <a:ext cx="1108671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200+</a:t>
            </a:r>
            <a:endParaRPr lang="en-US" sz="3030" dirty="0"/>
          </a:p>
        </p:txBody>
      </p:sp>
      <p:sp>
        <p:nvSpPr>
          <p:cNvPr id="7" name="Text 5"/>
          <p:cNvSpPr txBox="1"/>
          <p:nvPr/>
        </p:nvSpPr>
        <p:spPr>
          <a:xfrm>
            <a:off x="6793210" y="3797399"/>
            <a:ext cx="912268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REGISTERED USERS</a:t>
            </a:r>
            <a:endParaRPr lang="en-US" sz="760" dirty="0"/>
          </a:p>
        </p:txBody>
      </p:sp>
      <p:sp>
        <p:nvSpPr>
          <p:cNvPr id="8" name="Text 6"/>
          <p:cNvSpPr txBox="1"/>
          <p:nvPr/>
        </p:nvSpPr>
        <p:spPr>
          <a:xfrm>
            <a:off x="8560991" y="3228479"/>
            <a:ext cx="80355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50+</a:t>
            </a:r>
            <a:endParaRPr lang="en-US" sz="3030" dirty="0"/>
          </a:p>
        </p:txBody>
      </p:sp>
      <p:sp>
        <p:nvSpPr>
          <p:cNvPr id="9" name="Text 7"/>
          <p:cNvSpPr txBox="1"/>
          <p:nvPr/>
        </p:nvSpPr>
        <p:spPr>
          <a:xfrm>
            <a:off x="8560991" y="3797399"/>
            <a:ext cx="128256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</a:t>
            </a:r>
            <a:endParaRPr lang="en-US" sz="760" dirty="0"/>
          </a:p>
        </p:txBody>
      </p:sp>
      <p:sp>
        <p:nvSpPr>
          <p:cNvPr id="10" name="Text 8"/>
          <p:cNvSpPr txBox="1"/>
          <p:nvPr/>
        </p:nvSpPr>
        <p:spPr>
          <a:xfrm>
            <a:off x="10328771" y="3228479"/>
            <a:ext cx="971932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03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180+</a:t>
            </a:r>
            <a:endParaRPr lang="en-US" sz="3030" dirty="0"/>
          </a:p>
        </p:txBody>
      </p:sp>
      <p:sp>
        <p:nvSpPr>
          <p:cNvPr id="11" name="Text 9"/>
          <p:cNvSpPr txBox="1"/>
          <p:nvPr/>
        </p:nvSpPr>
        <p:spPr>
          <a:xfrm>
            <a:off x="10328771" y="3797399"/>
            <a:ext cx="104380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LISTINGS</a:t>
            </a:r>
            <a:endParaRPr lang="en-US" sz="760" dirty="0"/>
          </a:p>
        </p:txBody>
      </p:sp>
      <p:sp>
        <p:nvSpPr>
          <p:cNvPr id="12" name="Text 10"/>
          <p:cNvSpPr txBox="1"/>
          <p:nvPr/>
        </p:nvSpPr>
        <p:spPr>
          <a:xfrm>
            <a:off x="6989961" y="4510187"/>
            <a:ext cx="2237938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Distance-sorted, campus filters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9662021" y="4510187"/>
            <a:ext cx="1824005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In-app chat &amp; negotiation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6989961" y="4896148"/>
            <a:ext cx="152886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Push alerts for orders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9662021" y="4896148"/>
            <a:ext cx="1916474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0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vendors &amp; disputes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6604000" y="5284093"/>
            <a:ext cx="232138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Stage: pre-revenue · billing rolling out next</a:t>
            </a:r>
            <a:endParaRPr lang="en-US" sz="790" dirty="0"/>
          </a:p>
        </p:txBody>
      </p:sp>
      <p:sp>
        <p:nvSpPr>
          <p:cNvPr id="17" name="Text 15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18" name="Text 16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398805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2C1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&amp; UNIT ECONOMICS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9622" y="521990"/>
            <a:ext cx="25677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829171"/>
            <a:ext cx="941017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pay when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2C1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creates value.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5027613" y="1800027"/>
            <a:ext cx="64551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01</a:t>
            </a:r>
            <a:endParaRPr lang="en-US" sz="890" dirty="0"/>
          </a:p>
        </p:txBody>
      </p:sp>
      <p:sp>
        <p:nvSpPr>
          <p:cNvPr id="6" name="Text 4"/>
          <p:cNvSpPr txBox="1"/>
          <p:nvPr/>
        </p:nvSpPr>
        <p:spPr>
          <a:xfrm>
            <a:off x="676870" y="1749227"/>
            <a:ext cx="119201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COMMISSION</a:t>
            </a:r>
            <a:endParaRPr lang="en-US" sz="790" dirty="0"/>
          </a:p>
        </p:txBody>
      </p:sp>
      <p:sp>
        <p:nvSpPr>
          <p:cNvPr id="7" name="Text 5"/>
          <p:cNvSpPr txBox="1"/>
          <p:nvPr/>
        </p:nvSpPr>
        <p:spPr>
          <a:xfrm>
            <a:off x="676870" y="1868587"/>
            <a:ext cx="3042450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</a:t>
            </a:r>
            <a:pPr algn="l" indent="0" marL="0">
              <a:lnSpc>
                <a:spcPct val="85000"/>
              </a:lnSpc>
              <a:buNone/>
            </a:pPr>
            <a:r>
              <a:rPr lang="en-US" sz="14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completed sale</a:t>
            </a:r>
            <a:endParaRPr lang="en-US" sz="5230" dirty="0"/>
          </a:p>
        </p:txBody>
      </p:sp>
      <p:sp>
        <p:nvSpPr>
          <p:cNvPr id="8" name="Text 6"/>
          <p:cNvSpPr txBox="1"/>
          <p:nvPr/>
        </p:nvSpPr>
        <p:spPr>
          <a:xfrm>
            <a:off x="676870" y="2819698"/>
            <a:ext cx="3754917" cy="4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10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sale, no commission. Aligned with the vendor from day one.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804327" y="1800027"/>
            <a:ext cx="67012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Option 02</a:t>
            </a:r>
            <a:endParaRPr lang="en-US" sz="890" dirty="0"/>
          </a:p>
        </p:txBody>
      </p:sp>
      <p:sp>
        <p:nvSpPr>
          <p:cNvPr id="10" name="Text 8"/>
          <p:cNvSpPr txBox="1"/>
          <p:nvPr/>
        </p:nvSpPr>
        <p:spPr>
          <a:xfrm>
            <a:off x="6478191" y="1749227"/>
            <a:ext cx="167388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FLAT LISTING FEE</a:t>
            </a:r>
            <a:endParaRPr lang="en-US" sz="790" dirty="0"/>
          </a:p>
        </p:txBody>
      </p:sp>
      <p:sp>
        <p:nvSpPr>
          <p:cNvPr id="11" name="Text 9"/>
          <p:cNvSpPr txBox="1"/>
          <p:nvPr/>
        </p:nvSpPr>
        <p:spPr>
          <a:xfrm>
            <a:off x="6478191" y="1868587"/>
            <a:ext cx="3859488" cy="977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2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₦999</a:t>
            </a:r>
            <a:pPr algn="l" indent="0" marL="0">
              <a:lnSpc>
                <a:spcPct val="85000"/>
              </a:lnSpc>
              <a:buNone/>
            </a:pPr>
            <a:r>
              <a:rPr lang="en-US" sz="144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listing / month</a:t>
            </a:r>
            <a:endParaRPr lang="en-US" sz="5230" dirty="0"/>
          </a:p>
        </p:txBody>
      </p:sp>
      <p:sp>
        <p:nvSpPr>
          <p:cNvPr id="12" name="Text 10"/>
          <p:cNvSpPr txBox="1"/>
          <p:nvPr/>
        </p:nvSpPr>
        <p:spPr>
          <a:xfrm>
            <a:off x="6478191" y="2819698"/>
            <a:ext cx="3878704" cy="4289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110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Predictable pricing, no commission on that listing. One mode per listing, never both.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7791" y="3951585"/>
            <a:ext cx="287556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 ECONOMICS (PER ACTIVE VENDOR)</a:t>
            </a:r>
            <a:endParaRPr lang="en-US" sz="720" dirty="0"/>
          </a:p>
        </p:txBody>
      </p:sp>
      <p:sp>
        <p:nvSpPr>
          <p:cNvPr id="14" name="Text 12"/>
          <p:cNvSpPr txBox="1"/>
          <p:nvPr/>
        </p:nvSpPr>
        <p:spPr>
          <a:xfrm>
            <a:off x="7203182" y="3951585"/>
            <a:ext cx="5016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720" dirty="0"/>
          </a:p>
        </p:txBody>
      </p:sp>
      <p:sp>
        <p:nvSpPr>
          <p:cNvPr id="15" name="Text 13"/>
          <p:cNvSpPr txBox="1"/>
          <p:nvPr/>
        </p:nvSpPr>
        <p:spPr>
          <a:xfrm>
            <a:off x="9046170" y="3951585"/>
            <a:ext cx="5213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720" dirty="0"/>
          </a:p>
        </p:txBody>
      </p:sp>
      <p:sp>
        <p:nvSpPr>
          <p:cNvPr id="16" name="Text 14"/>
          <p:cNvSpPr txBox="1"/>
          <p:nvPr/>
        </p:nvSpPr>
        <p:spPr>
          <a:xfrm>
            <a:off x="10933509" y="3951585"/>
            <a:ext cx="5207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720" dirty="0"/>
          </a:p>
        </p:txBody>
      </p:sp>
      <p:sp>
        <p:nvSpPr>
          <p:cNvPr id="17" name="Text 15"/>
          <p:cNvSpPr txBox="1"/>
          <p:nvPr/>
        </p:nvSpPr>
        <p:spPr>
          <a:xfrm>
            <a:off x="737791" y="4223246"/>
            <a:ext cx="301176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revenue per vendor / month (ARPV)</a:t>
            </a:r>
            <a:endParaRPr lang="en-US" sz="1070" dirty="0"/>
          </a:p>
        </p:txBody>
      </p:sp>
      <p:sp>
        <p:nvSpPr>
          <p:cNvPr id="18" name="Text 16"/>
          <p:cNvSpPr txBox="1"/>
          <p:nvPr/>
        </p:nvSpPr>
        <p:spPr>
          <a:xfrm>
            <a:off x="7137499" y="4223246"/>
            <a:ext cx="567333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₦1,640</a:t>
            </a:r>
            <a:endParaRPr lang="en-US" sz="1070" dirty="0"/>
          </a:p>
        </p:txBody>
      </p:sp>
      <p:sp>
        <p:nvSpPr>
          <p:cNvPr id="19" name="Text 17"/>
          <p:cNvSpPr txBox="1"/>
          <p:nvPr/>
        </p:nvSpPr>
        <p:spPr>
          <a:xfrm>
            <a:off x="9044583" y="4223246"/>
            <a:ext cx="522982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₦2,110</a:t>
            </a:r>
            <a:endParaRPr lang="en-US" sz="1070" dirty="0"/>
          </a:p>
        </p:txBody>
      </p:sp>
      <p:sp>
        <p:nvSpPr>
          <p:cNvPr id="20" name="Text 18"/>
          <p:cNvSpPr txBox="1"/>
          <p:nvPr/>
        </p:nvSpPr>
        <p:spPr>
          <a:xfrm>
            <a:off x="10864652" y="4223246"/>
            <a:ext cx="589558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₦2,690</a:t>
            </a:r>
            <a:endParaRPr lang="en-US" sz="1070" dirty="0"/>
          </a:p>
        </p:txBody>
      </p:sp>
      <p:sp>
        <p:nvSpPr>
          <p:cNvPr id="21" name="Text 19"/>
          <p:cNvSpPr txBox="1"/>
          <p:nvPr/>
        </p:nvSpPr>
        <p:spPr>
          <a:xfrm>
            <a:off x="737791" y="4588867"/>
            <a:ext cx="303151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Acquisition cost per active vendor (CAC)</a:t>
            </a:r>
            <a:endParaRPr lang="en-US" sz="1070" dirty="0"/>
          </a:p>
        </p:txBody>
      </p:sp>
      <p:sp>
        <p:nvSpPr>
          <p:cNvPr id="22" name="Text 20"/>
          <p:cNvSpPr txBox="1"/>
          <p:nvPr/>
        </p:nvSpPr>
        <p:spPr>
          <a:xfrm>
            <a:off x="7073900" y="4588867"/>
            <a:ext cx="630932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₦14,100</a:t>
            </a:r>
            <a:endParaRPr lang="en-US" sz="1070" dirty="0"/>
          </a:p>
        </p:txBody>
      </p:sp>
      <p:sp>
        <p:nvSpPr>
          <p:cNvPr id="23" name="Text 21"/>
          <p:cNvSpPr txBox="1"/>
          <p:nvPr/>
        </p:nvSpPr>
        <p:spPr>
          <a:xfrm>
            <a:off x="8962529" y="4588867"/>
            <a:ext cx="605036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₦8,300</a:t>
            </a:r>
            <a:endParaRPr lang="en-US" sz="1070" dirty="0"/>
          </a:p>
        </p:txBody>
      </p:sp>
      <p:sp>
        <p:nvSpPr>
          <p:cNvPr id="24" name="Text 22"/>
          <p:cNvSpPr txBox="1"/>
          <p:nvPr/>
        </p:nvSpPr>
        <p:spPr>
          <a:xfrm>
            <a:off x="10785574" y="4588867"/>
            <a:ext cx="66863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₦12,200</a:t>
            </a:r>
            <a:endParaRPr lang="en-US" sz="1070" dirty="0"/>
          </a:p>
        </p:txBody>
      </p:sp>
      <p:sp>
        <p:nvSpPr>
          <p:cNvPr id="25" name="Text 23"/>
          <p:cNvSpPr txBox="1"/>
          <p:nvPr/>
        </p:nvSpPr>
        <p:spPr>
          <a:xfrm>
            <a:off x="737791" y="4954488"/>
            <a:ext cx="3500123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Lifetime value, 24 months at 92% margin (LTV)</a:t>
            </a:r>
            <a:endParaRPr lang="en-US" sz="1070" dirty="0"/>
          </a:p>
        </p:txBody>
      </p:sp>
      <p:sp>
        <p:nvSpPr>
          <p:cNvPr id="26" name="Text 24"/>
          <p:cNvSpPr txBox="1"/>
          <p:nvPr/>
        </p:nvSpPr>
        <p:spPr>
          <a:xfrm>
            <a:off x="7007523" y="4954488"/>
            <a:ext cx="697309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₦36,200</a:t>
            </a:r>
            <a:endParaRPr lang="en-US" sz="1070" dirty="0"/>
          </a:p>
        </p:txBody>
      </p:sp>
      <p:sp>
        <p:nvSpPr>
          <p:cNvPr id="27" name="Text 25"/>
          <p:cNvSpPr txBox="1"/>
          <p:nvPr/>
        </p:nvSpPr>
        <p:spPr>
          <a:xfrm>
            <a:off x="8880078" y="4954488"/>
            <a:ext cx="687487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₦46,700</a:t>
            </a:r>
            <a:endParaRPr lang="en-US" sz="1070" dirty="0"/>
          </a:p>
        </p:txBody>
      </p:sp>
      <p:sp>
        <p:nvSpPr>
          <p:cNvPr id="28" name="Text 26"/>
          <p:cNvSpPr txBox="1"/>
          <p:nvPr/>
        </p:nvSpPr>
        <p:spPr>
          <a:xfrm>
            <a:off x="10766524" y="4954488"/>
            <a:ext cx="687685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7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₦59,300</a:t>
            </a:r>
            <a:endParaRPr lang="en-US" sz="1070" dirty="0"/>
          </a:p>
        </p:txBody>
      </p:sp>
      <p:sp>
        <p:nvSpPr>
          <p:cNvPr id="29" name="Text 27"/>
          <p:cNvSpPr txBox="1"/>
          <p:nvPr/>
        </p:nvSpPr>
        <p:spPr>
          <a:xfrm>
            <a:off x="737791" y="5335984"/>
            <a:ext cx="1567194" cy="196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7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LTV : CAC · payback</a:t>
            </a:r>
            <a:endParaRPr lang="en-US" sz="1070" dirty="0"/>
          </a:p>
        </p:txBody>
      </p:sp>
      <p:sp>
        <p:nvSpPr>
          <p:cNvPr id="30" name="Text 28"/>
          <p:cNvSpPr txBox="1"/>
          <p:nvPr/>
        </p:nvSpPr>
        <p:spPr>
          <a:xfrm>
            <a:off x="6582466" y="5320109"/>
            <a:ext cx="112236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2C1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2.6× · 9.4 mo</a:t>
            </a:r>
            <a:endParaRPr lang="en-US" sz="1240" dirty="0"/>
          </a:p>
        </p:txBody>
      </p:sp>
      <p:sp>
        <p:nvSpPr>
          <p:cNvPr id="31" name="Text 29"/>
          <p:cNvSpPr txBox="1"/>
          <p:nvPr/>
        </p:nvSpPr>
        <p:spPr>
          <a:xfrm>
            <a:off x="8442863" y="5320109"/>
            <a:ext cx="11247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2C1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5.6× · 4.3 mo</a:t>
            </a:r>
            <a:endParaRPr lang="en-US" sz="1240" dirty="0"/>
          </a:p>
        </p:txBody>
      </p:sp>
      <p:sp>
        <p:nvSpPr>
          <p:cNvPr id="32" name="Text 30"/>
          <p:cNvSpPr txBox="1"/>
          <p:nvPr/>
        </p:nvSpPr>
        <p:spPr>
          <a:xfrm>
            <a:off x="10313052" y="5320109"/>
            <a:ext cx="1141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240" b="1" dirty="0">
                <a:solidFill>
                  <a:srgbClr val="2C179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4.8× · 5.0 mo</a:t>
            </a:r>
            <a:endParaRPr lang="en-US" sz="1240" dirty="0"/>
          </a:p>
        </p:txBody>
      </p:sp>
      <p:sp>
        <p:nvSpPr>
          <p:cNvPr id="33" name="Text 31"/>
          <p:cNvSpPr txBox="1"/>
          <p:nvPr/>
        </p:nvSpPr>
        <p:spPr>
          <a:xfrm>
            <a:off x="656530" y="5802511"/>
            <a:ext cx="2010641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REVENUE LAYERS (Year 2+):</a:t>
            </a:r>
            <a:endParaRPr lang="en-US" sz="790" dirty="0"/>
          </a:p>
        </p:txBody>
      </p:sp>
      <p:sp>
        <p:nvSpPr>
          <p:cNvPr id="34" name="Text 32"/>
          <p:cNvSpPr txBox="1"/>
          <p:nvPr/>
        </p:nvSpPr>
        <p:spPr>
          <a:xfrm>
            <a:off x="2883396" y="5815211"/>
            <a:ext cx="101885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visibility</a:t>
            </a:r>
            <a:endParaRPr lang="en-US" sz="790" dirty="0"/>
          </a:p>
        </p:txBody>
      </p:sp>
      <p:sp>
        <p:nvSpPr>
          <p:cNvPr id="35" name="Text 33"/>
          <p:cNvSpPr txBox="1"/>
          <p:nvPr/>
        </p:nvSpPr>
        <p:spPr>
          <a:xfrm>
            <a:off x="4196060" y="5815211"/>
            <a:ext cx="2178911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 sponsorship &amp; ads</a:t>
            </a:r>
            <a:endParaRPr lang="en-US" sz="790" dirty="0"/>
          </a:p>
        </p:txBody>
      </p:sp>
      <p:sp>
        <p:nvSpPr>
          <p:cNvPr id="36" name="Text 34"/>
          <p:cNvSpPr txBox="1"/>
          <p:nvPr/>
        </p:nvSpPr>
        <p:spPr>
          <a:xfrm>
            <a:off x="6592887" y="5815211"/>
            <a:ext cx="79792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tools</a:t>
            </a:r>
            <a:endParaRPr lang="en-US" sz="790" dirty="0"/>
          </a:p>
        </p:txBody>
      </p:sp>
      <p:sp>
        <p:nvSpPr>
          <p:cNvPr id="37" name="Text 35"/>
          <p:cNvSpPr txBox="1"/>
          <p:nvPr/>
        </p:nvSpPr>
        <p:spPr>
          <a:xfrm>
            <a:off x="7699077" y="5815211"/>
            <a:ext cx="120910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Payment automation</a:t>
            </a:r>
            <a:endParaRPr lang="en-US" sz="790" dirty="0"/>
          </a:p>
        </p:txBody>
      </p:sp>
      <p:sp>
        <p:nvSpPr>
          <p:cNvPr id="38" name="Text 36"/>
          <p:cNvSpPr txBox="1"/>
          <p:nvPr/>
        </p:nvSpPr>
        <p:spPr>
          <a:xfrm>
            <a:off x="9189541" y="5815211"/>
            <a:ext cx="74146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</a:t>
            </a:r>
            <a:endParaRPr lang="en-US" sz="790" dirty="0"/>
          </a:p>
        </p:txBody>
      </p:sp>
      <p:sp>
        <p:nvSpPr>
          <p:cNvPr id="39" name="Text 37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40" name="Text 38"/>
          <p:cNvSpPr txBox="1"/>
          <p:nvPr/>
        </p:nvSpPr>
        <p:spPr>
          <a:xfrm>
            <a:off x="4772402" y="6227465"/>
            <a:ext cx="7013198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Assumptions: GMV per active vendor ₦40K→₦55K/month; 60% of vendors on commission; CAC = marketing spend ÷ new active vendors.</a:t>
            </a:r>
            <a:endParaRPr lang="en-US" sz="7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5257138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8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MARKET, COMPETITORS &amp; REACHING CUSTOMERS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8233" y="521990"/>
            <a:ext cx="25816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829171"/>
            <a:ext cx="9081592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win where others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go: the campus.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1896864" y="1571427"/>
            <a:ext cx="1140521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&amp; IG VENDORS</a:t>
            </a:r>
            <a:endParaRPr lang="en-US" sz="760" dirty="0"/>
          </a:p>
        </p:txBody>
      </p:sp>
      <p:sp>
        <p:nvSpPr>
          <p:cNvPr id="6" name="Text 4"/>
          <p:cNvSpPr txBox="1"/>
          <p:nvPr/>
        </p:nvSpPr>
        <p:spPr>
          <a:xfrm>
            <a:off x="3244949" y="1571427"/>
            <a:ext cx="574179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JUMIA / KONGA</a:t>
            </a:r>
            <a:endParaRPr lang="en-US" sz="760" dirty="0"/>
          </a:p>
        </p:txBody>
      </p:sp>
      <p:sp>
        <p:nvSpPr>
          <p:cNvPr id="7" name="Text 5"/>
          <p:cNvSpPr txBox="1"/>
          <p:nvPr/>
        </p:nvSpPr>
        <p:spPr>
          <a:xfrm>
            <a:off x="4101634" y="1571427"/>
            <a:ext cx="1069815" cy="2856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JIJI / FB MARKETPLACE</a:t>
            </a:r>
            <a:endParaRPr lang="en-US" sz="760" dirty="0"/>
          </a:p>
        </p:txBody>
      </p:sp>
      <p:sp>
        <p:nvSpPr>
          <p:cNvPr id="8" name="Text 6"/>
          <p:cNvSpPr txBox="1"/>
          <p:nvPr/>
        </p:nvSpPr>
        <p:spPr>
          <a:xfrm>
            <a:off x="5349907" y="1711027"/>
            <a:ext cx="89687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760" b="1" spc="120" kern="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</a:t>
            </a:r>
            <a:endParaRPr lang="en-US" sz="760" dirty="0"/>
          </a:p>
        </p:txBody>
      </p:sp>
      <p:sp>
        <p:nvSpPr>
          <p:cNvPr id="9" name="Text 7"/>
          <p:cNvSpPr txBox="1"/>
          <p:nvPr/>
        </p:nvSpPr>
        <p:spPr>
          <a:xfrm>
            <a:off x="497780" y="2001639"/>
            <a:ext cx="1058668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Focus on campus buyers</a:t>
            </a:r>
            <a:endParaRPr lang="en-US" sz="880" dirty="0"/>
          </a:p>
        </p:txBody>
      </p:sp>
      <p:sp>
        <p:nvSpPr>
          <p:cNvPr id="10" name="Text 8"/>
          <p:cNvSpPr txBox="1"/>
          <p:nvPr/>
        </p:nvSpPr>
        <p:spPr>
          <a:xfrm>
            <a:off x="2309515" y="2082899"/>
            <a:ext cx="31521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880" dirty="0"/>
          </a:p>
        </p:txBody>
      </p:sp>
      <p:sp>
        <p:nvSpPr>
          <p:cNvPr id="11" name="Text 9"/>
          <p:cNvSpPr txBox="1"/>
          <p:nvPr/>
        </p:nvSpPr>
        <p:spPr>
          <a:xfrm>
            <a:off x="497780" y="2516981"/>
            <a:ext cx="1205387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Fees for tiny sellers</a:t>
            </a:r>
            <a:endParaRPr lang="en-US" sz="880" dirty="0"/>
          </a:p>
        </p:txBody>
      </p:sp>
      <p:sp>
        <p:nvSpPr>
          <p:cNvPr id="12" name="Text 10"/>
          <p:cNvSpPr txBox="1"/>
          <p:nvPr/>
        </p:nvSpPr>
        <p:spPr>
          <a:xfrm>
            <a:off x="2305248" y="2516981"/>
            <a:ext cx="32365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</a:t>
            </a:r>
            <a:endParaRPr lang="en-US" sz="880" dirty="0"/>
          </a:p>
        </p:txBody>
      </p:sp>
      <p:sp>
        <p:nvSpPr>
          <p:cNvPr id="13" name="Text 11"/>
          <p:cNvSpPr txBox="1"/>
          <p:nvPr/>
        </p:nvSpPr>
        <p:spPr>
          <a:xfrm>
            <a:off x="3367088" y="2516981"/>
            <a:ext cx="32990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C7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</a:t>
            </a:r>
            <a:endParaRPr lang="en-US" sz="880" dirty="0"/>
          </a:p>
        </p:txBody>
      </p:sp>
      <p:sp>
        <p:nvSpPr>
          <p:cNvPr id="14" name="Text 12"/>
          <p:cNvSpPr txBox="1"/>
          <p:nvPr/>
        </p:nvSpPr>
        <p:spPr>
          <a:xfrm>
            <a:off x="4496891" y="2516981"/>
            <a:ext cx="27920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C7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Ads</a:t>
            </a:r>
            <a:endParaRPr lang="en-US" sz="880" dirty="0"/>
          </a:p>
        </p:txBody>
      </p:sp>
      <p:sp>
        <p:nvSpPr>
          <p:cNvPr id="15" name="Text 13"/>
          <p:cNvSpPr txBox="1"/>
          <p:nvPr/>
        </p:nvSpPr>
        <p:spPr>
          <a:xfrm>
            <a:off x="5405749" y="2490391"/>
            <a:ext cx="78518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3% / ₦999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497780" y="2869902"/>
            <a:ext cx="1057819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Order tracking &amp; records</a:t>
            </a:r>
            <a:endParaRPr lang="en-US" sz="880" dirty="0"/>
          </a:p>
        </p:txBody>
      </p:sp>
      <p:sp>
        <p:nvSpPr>
          <p:cNvPr id="17" name="Text 15"/>
          <p:cNvSpPr txBox="1"/>
          <p:nvPr/>
        </p:nvSpPr>
        <p:spPr>
          <a:xfrm>
            <a:off x="497780" y="3365004"/>
            <a:ext cx="1221099" cy="3212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own logistics network</a:t>
            </a:r>
            <a:endParaRPr lang="en-US" sz="880" dirty="0"/>
          </a:p>
        </p:txBody>
      </p:sp>
      <p:sp>
        <p:nvSpPr>
          <p:cNvPr id="18" name="Text 16"/>
          <p:cNvSpPr txBox="1"/>
          <p:nvPr/>
        </p:nvSpPr>
        <p:spPr>
          <a:xfrm>
            <a:off x="2356247" y="3446264"/>
            <a:ext cx="22165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80" dirty="0"/>
          </a:p>
        </p:txBody>
      </p:sp>
      <p:sp>
        <p:nvSpPr>
          <p:cNvPr id="19" name="Text 17"/>
          <p:cNvSpPr txBox="1"/>
          <p:nvPr/>
        </p:nvSpPr>
        <p:spPr>
          <a:xfrm>
            <a:off x="3405882" y="3446264"/>
            <a:ext cx="252412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C7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Yes</a:t>
            </a:r>
            <a:endParaRPr lang="en-US" sz="880" dirty="0"/>
          </a:p>
        </p:txBody>
      </p:sp>
      <p:sp>
        <p:nvSpPr>
          <p:cNvPr id="20" name="Text 18"/>
          <p:cNvSpPr txBox="1"/>
          <p:nvPr/>
        </p:nvSpPr>
        <p:spPr>
          <a:xfrm>
            <a:off x="4525665" y="3446264"/>
            <a:ext cx="221655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880" dirty="0"/>
          </a:p>
        </p:txBody>
      </p:sp>
      <p:sp>
        <p:nvSpPr>
          <p:cNvPr id="21" name="Text 19"/>
          <p:cNvSpPr txBox="1"/>
          <p:nvPr/>
        </p:nvSpPr>
        <p:spPr>
          <a:xfrm>
            <a:off x="5663505" y="3419574"/>
            <a:ext cx="269577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97780" y="3860105"/>
            <a:ext cx="977134" cy="4837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8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discoverable by distance</a:t>
            </a:r>
            <a:endParaRPr lang="en-US" sz="880" dirty="0"/>
          </a:p>
        </p:txBody>
      </p:sp>
      <p:sp>
        <p:nvSpPr>
          <p:cNvPr id="23" name="Text 21"/>
          <p:cNvSpPr txBox="1"/>
          <p:nvPr/>
        </p:nvSpPr>
        <p:spPr>
          <a:xfrm>
            <a:off x="4478933" y="4022626"/>
            <a:ext cx="315218" cy="15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167"/>
              </a:lnSpc>
              <a:buNone/>
            </a:pPr>
            <a:r>
              <a:rPr lang="en-US" sz="880" b="1" dirty="0">
                <a:solidFill>
                  <a:srgbClr val="C785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</a:t>
            </a:r>
            <a:endParaRPr lang="en-US" sz="880" dirty="0"/>
          </a:p>
        </p:txBody>
      </p:sp>
      <p:sp>
        <p:nvSpPr>
          <p:cNvPr id="24" name="Text 22"/>
          <p:cNvSpPr txBox="1"/>
          <p:nvPr/>
        </p:nvSpPr>
        <p:spPr>
          <a:xfrm>
            <a:off x="406400" y="4539357"/>
            <a:ext cx="380162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building for students; each campus makes the next cheaper.</a:t>
            </a:r>
            <a:endParaRPr lang="en-US" sz="790" dirty="0"/>
          </a:p>
        </p:txBody>
      </p:sp>
      <p:sp>
        <p:nvSpPr>
          <p:cNvPr id="25" name="Text 23"/>
          <p:cNvSpPr txBox="1"/>
          <p:nvPr/>
        </p:nvSpPr>
        <p:spPr>
          <a:xfrm>
            <a:off x="497780" y="4859139"/>
            <a:ext cx="53657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UNILAG</a:t>
            </a:r>
            <a:endParaRPr lang="en-US" sz="790" dirty="0"/>
          </a:p>
        </p:txBody>
      </p:sp>
      <p:sp>
        <p:nvSpPr>
          <p:cNvPr id="26" name="Text 24"/>
          <p:cNvSpPr txBox="1"/>
          <p:nvPr/>
        </p:nvSpPr>
        <p:spPr>
          <a:xfrm>
            <a:off x="1389757" y="4859139"/>
            <a:ext cx="38109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LASU</a:t>
            </a:r>
            <a:endParaRPr lang="en-US" sz="790" dirty="0"/>
          </a:p>
        </p:txBody>
      </p:sp>
      <p:sp>
        <p:nvSpPr>
          <p:cNvPr id="27" name="Text 25"/>
          <p:cNvSpPr txBox="1"/>
          <p:nvPr/>
        </p:nvSpPr>
        <p:spPr>
          <a:xfrm>
            <a:off x="2126258" y="4859139"/>
            <a:ext cx="105612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Lagos campuses</a:t>
            </a:r>
            <a:endParaRPr lang="en-US" sz="790" dirty="0"/>
          </a:p>
        </p:txBody>
      </p:sp>
      <p:sp>
        <p:nvSpPr>
          <p:cNvPr id="28" name="Text 26"/>
          <p:cNvSpPr txBox="1"/>
          <p:nvPr/>
        </p:nvSpPr>
        <p:spPr>
          <a:xfrm>
            <a:off x="3519487" y="4859139"/>
            <a:ext cx="76537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South-West</a:t>
            </a:r>
            <a:endParaRPr lang="en-US" sz="790" dirty="0"/>
          </a:p>
        </p:txBody>
      </p:sp>
      <p:sp>
        <p:nvSpPr>
          <p:cNvPr id="29" name="Text 27"/>
          <p:cNvSpPr txBox="1"/>
          <p:nvPr/>
        </p:nvSpPr>
        <p:spPr>
          <a:xfrm>
            <a:off x="4640263" y="4859139"/>
            <a:ext cx="50611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Nigeria</a:t>
            </a:r>
            <a:endParaRPr lang="en-US" sz="790" dirty="0"/>
          </a:p>
        </p:txBody>
      </p:sp>
      <p:sp>
        <p:nvSpPr>
          <p:cNvPr id="30" name="Text 28"/>
          <p:cNvSpPr txBox="1"/>
          <p:nvPr/>
        </p:nvSpPr>
        <p:spPr>
          <a:xfrm>
            <a:off x="5501779" y="4859139"/>
            <a:ext cx="43646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Africa</a:t>
            </a:r>
            <a:endParaRPr lang="en-US" sz="790" dirty="0"/>
          </a:p>
        </p:txBody>
      </p:sp>
      <p:sp>
        <p:nvSpPr>
          <p:cNvPr id="31" name="Text 29"/>
          <p:cNvSpPr txBox="1"/>
          <p:nvPr/>
        </p:nvSpPr>
        <p:spPr>
          <a:xfrm>
            <a:off x="7290495" y="1614091"/>
            <a:ext cx="2828317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of the Week campaign</a:t>
            </a:r>
            <a:endParaRPr lang="en-US" sz="1310" dirty="0"/>
          </a:p>
        </p:txBody>
      </p:sp>
      <p:sp>
        <p:nvSpPr>
          <p:cNvPr id="32" name="Text 30"/>
          <p:cNvSpPr txBox="1"/>
          <p:nvPr/>
        </p:nvSpPr>
        <p:spPr>
          <a:xfrm>
            <a:off x="7290495" y="1855391"/>
            <a:ext cx="2305459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0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promo week pulls vendors in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7290495" y="2368252"/>
            <a:ext cx="335425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Campus ambassadors &amp; activations</a:t>
            </a:r>
            <a:endParaRPr lang="en-US" sz="1310" dirty="0"/>
          </a:p>
        </p:txBody>
      </p:sp>
      <p:sp>
        <p:nvSpPr>
          <p:cNvPr id="34" name="Text 32"/>
          <p:cNvSpPr txBox="1"/>
          <p:nvPr/>
        </p:nvSpPr>
        <p:spPr>
          <a:xfrm>
            <a:off x="7290495" y="2609552"/>
            <a:ext cx="1475362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0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Hostel reps, QR stalls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7290495" y="3122414"/>
            <a:ext cx="1831967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&amp; community</a:t>
            </a:r>
            <a:endParaRPr lang="en-US" sz="1310" dirty="0"/>
          </a:p>
        </p:txBody>
      </p:sp>
      <p:sp>
        <p:nvSpPr>
          <p:cNvPr id="36" name="Text 34"/>
          <p:cNvSpPr txBox="1"/>
          <p:nvPr/>
        </p:nvSpPr>
        <p:spPr>
          <a:xfrm>
            <a:off x="7290495" y="3363714"/>
            <a:ext cx="1617303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0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name: @levromart</a:t>
            </a:r>
            <a:endParaRPr lang="en-US" sz="1000" dirty="0"/>
          </a:p>
        </p:txBody>
      </p:sp>
      <p:sp>
        <p:nvSpPr>
          <p:cNvPr id="37" name="Text 35"/>
          <p:cNvSpPr txBox="1"/>
          <p:nvPr/>
        </p:nvSpPr>
        <p:spPr>
          <a:xfrm>
            <a:off x="7290495" y="3876576"/>
            <a:ext cx="1773046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Promos &amp; referrals</a:t>
            </a:r>
            <a:endParaRPr lang="en-US" sz="1310" dirty="0"/>
          </a:p>
        </p:txBody>
      </p:sp>
      <p:sp>
        <p:nvSpPr>
          <p:cNvPr id="38" name="Text 36"/>
          <p:cNvSpPr txBox="1"/>
          <p:nvPr/>
        </p:nvSpPr>
        <p:spPr>
          <a:xfrm>
            <a:off x="7290495" y="4117876"/>
            <a:ext cx="2262356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0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First-order and referral rewards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290495" y="4630738"/>
            <a:ext cx="1660194" cy="241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31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partners</a:t>
            </a:r>
            <a:endParaRPr lang="en-US" sz="1310" dirty="0"/>
          </a:p>
        </p:txBody>
      </p:sp>
      <p:sp>
        <p:nvSpPr>
          <p:cNvPr id="40" name="Text 38"/>
          <p:cNvSpPr txBox="1"/>
          <p:nvPr/>
        </p:nvSpPr>
        <p:spPr>
          <a:xfrm>
            <a:off x="7290495" y="4872038"/>
            <a:ext cx="1868275" cy="184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1000" dirty="0">
                <a:solidFill>
                  <a:srgbClr val="5B4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(in progress, not live)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42" name="Text 40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221341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FFD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SCALABILITY MODEL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87659" y="521990"/>
            <a:ext cx="24874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91691"/>
            <a:ext cx="5551531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grows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D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22×.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Costs grow 5×.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2105521"/>
            <a:ext cx="533761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40" dirty="0">
                <a:solidFill>
                  <a:srgbClr val="FFFFFF">
                    <a:alpha val="82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sell software, so each new vendor costs almost nothing to serve.</a:t>
            </a:r>
            <a:endParaRPr lang="en-US" sz="1140" dirty="0"/>
          </a:p>
        </p:txBody>
      </p:sp>
      <p:sp>
        <p:nvSpPr>
          <p:cNvPr id="6" name="Text 4"/>
          <p:cNvSpPr txBox="1"/>
          <p:nvPr/>
        </p:nvSpPr>
        <p:spPr>
          <a:xfrm>
            <a:off x="615950" y="2491680"/>
            <a:ext cx="957600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85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22×</a:t>
            </a:r>
            <a:endParaRPr lang="en-US" sz="3850" dirty="0"/>
          </a:p>
        </p:txBody>
      </p:sp>
      <p:sp>
        <p:nvSpPr>
          <p:cNvPr id="7" name="Text 5"/>
          <p:cNvSpPr txBox="1"/>
          <p:nvPr/>
        </p:nvSpPr>
        <p:spPr>
          <a:xfrm>
            <a:off x="615950" y="3181945"/>
            <a:ext cx="221543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YEAR 1 → YEAR 3</a:t>
            </a:r>
            <a:endParaRPr lang="en-US" sz="830" dirty="0"/>
          </a:p>
        </p:txBody>
      </p:sp>
      <p:sp>
        <p:nvSpPr>
          <p:cNvPr id="8" name="Text 6"/>
          <p:cNvSpPr txBox="1"/>
          <p:nvPr/>
        </p:nvSpPr>
        <p:spPr>
          <a:xfrm>
            <a:off x="3308747" y="2491680"/>
            <a:ext cx="1089668" cy="717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85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5.5×</a:t>
            </a:r>
            <a:endParaRPr lang="en-US" sz="3850" dirty="0"/>
          </a:p>
        </p:txBody>
      </p:sp>
      <p:sp>
        <p:nvSpPr>
          <p:cNvPr id="9" name="Text 7"/>
          <p:cNvSpPr txBox="1"/>
          <p:nvPr/>
        </p:nvSpPr>
        <p:spPr>
          <a:xfrm>
            <a:off x="3308747" y="3181945"/>
            <a:ext cx="198452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spc="15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COSTS, YEAR 1 → YEAR 3</a:t>
            </a:r>
            <a:endParaRPr lang="en-US" sz="830" dirty="0"/>
          </a:p>
        </p:txBody>
      </p:sp>
      <p:sp>
        <p:nvSpPr>
          <p:cNvPr id="10" name="Text 8"/>
          <p:cNvSpPr txBox="1"/>
          <p:nvPr/>
        </p:nvSpPr>
        <p:spPr>
          <a:xfrm>
            <a:off x="1032371" y="3692327"/>
            <a:ext cx="943586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Asset-light</a:t>
            </a:r>
            <a:endParaRPr lang="en-US" sz="1170" dirty="0"/>
          </a:p>
        </p:txBody>
      </p:sp>
      <p:sp>
        <p:nvSpPr>
          <p:cNvPr id="11" name="Text 9"/>
          <p:cNvSpPr txBox="1"/>
          <p:nvPr/>
        </p:nvSpPr>
        <p:spPr>
          <a:xfrm>
            <a:off x="1032371" y="3928467"/>
            <a:ext cx="183398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stock, fleet or warehouses</a:t>
            </a:r>
            <a:endParaRPr lang="en-US" sz="890" dirty="0"/>
          </a:p>
        </p:txBody>
      </p:sp>
      <p:sp>
        <p:nvSpPr>
          <p:cNvPr id="12" name="Text 10"/>
          <p:cNvSpPr txBox="1"/>
          <p:nvPr/>
        </p:nvSpPr>
        <p:spPr>
          <a:xfrm>
            <a:off x="3846612" y="3692327"/>
            <a:ext cx="1915518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Automated operations</a:t>
            </a:r>
            <a:endParaRPr lang="en-US" sz="1170" dirty="0"/>
          </a:p>
        </p:txBody>
      </p:sp>
      <p:sp>
        <p:nvSpPr>
          <p:cNvPr id="13" name="Text 11"/>
          <p:cNvSpPr txBox="1"/>
          <p:nvPr/>
        </p:nvSpPr>
        <p:spPr>
          <a:xfrm>
            <a:off x="3846612" y="3928467"/>
            <a:ext cx="199684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Reminders, auto-complete, Levi</a:t>
            </a:r>
            <a:endParaRPr lang="en-US" sz="890" dirty="0"/>
          </a:p>
        </p:txBody>
      </p:sp>
      <p:sp>
        <p:nvSpPr>
          <p:cNvPr id="14" name="Text 12"/>
          <p:cNvSpPr txBox="1"/>
          <p:nvPr/>
        </p:nvSpPr>
        <p:spPr>
          <a:xfrm>
            <a:off x="1032371" y="4407396"/>
            <a:ext cx="1662423" cy="43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Repeatable campus playbook</a:t>
            </a:r>
            <a:endParaRPr lang="en-US" sz="1170" dirty="0"/>
          </a:p>
        </p:txBody>
      </p:sp>
      <p:sp>
        <p:nvSpPr>
          <p:cNvPr id="15" name="Text 13"/>
          <p:cNvSpPr txBox="1"/>
          <p:nvPr/>
        </p:nvSpPr>
        <p:spPr>
          <a:xfrm>
            <a:off x="1032371" y="4859437"/>
            <a:ext cx="175648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1,100+ institutions in the app</a:t>
            </a:r>
            <a:endParaRPr lang="en-US" sz="890" dirty="0"/>
          </a:p>
        </p:txBody>
      </p:sp>
      <p:sp>
        <p:nvSpPr>
          <p:cNvPr id="16" name="Text 14"/>
          <p:cNvSpPr txBox="1"/>
          <p:nvPr/>
        </p:nvSpPr>
        <p:spPr>
          <a:xfrm>
            <a:off x="3846612" y="4407396"/>
            <a:ext cx="982442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7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stack</a:t>
            </a:r>
            <a:endParaRPr lang="en-US" sz="1170" dirty="0"/>
          </a:p>
        </p:txBody>
      </p:sp>
      <p:sp>
        <p:nvSpPr>
          <p:cNvPr id="17" name="Text 15"/>
          <p:cNvSpPr txBox="1"/>
          <p:nvPr/>
        </p:nvSpPr>
        <p:spPr>
          <a:xfrm>
            <a:off x="3846612" y="4643537"/>
            <a:ext cx="18532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app, managed database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6498530" y="1200051"/>
            <a:ext cx="4224268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 &amp; MONTHLY REVENUE, BY MONTH</a:t>
            </a:r>
            <a:endParaRPr lang="en-US" sz="790" dirty="0"/>
          </a:p>
        </p:txBody>
      </p:sp>
      <p:sp>
        <p:nvSpPr>
          <p:cNvPr id="19" name="Text 17"/>
          <p:cNvSpPr txBox="1"/>
          <p:nvPr/>
        </p:nvSpPr>
        <p:spPr>
          <a:xfrm>
            <a:off x="6498530" y="5744468"/>
            <a:ext cx="405652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case. Registered vendors: 1,100 (M12) → 3,600 (M24) → 8,500 (M36).</a:t>
            </a:r>
            <a:endParaRPr lang="en-US" sz="790" dirty="0"/>
          </a:p>
        </p:txBody>
      </p:sp>
      <p:sp>
        <p:nvSpPr>
          <p:cNvPr id="20" name="Text 18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21" name="Text 19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294573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SUSTAINABILITY STRATEGY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9523" y="521990"/>
            <a:ext cx="25687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829171"/>
            <a:ext cx="7529580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to last: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0F9D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economic, operational, environmental.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15950" y="2739231"/>
            <a:ext cx="132015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Economic</a:t>
            </a:r>
            <a:endParaRPr lang="en-US" sz="1930" dirty="0"/>
          </a:p>
        </p:txBody>
      </p:sp>
      <p:sp>
        <p:nvSpPr>
          <p:cNvPr id="6" name="Text 4"/>
          <p:cNvSpPr txBox="1"/>
          <p:nvPr/>
        </p:nvSpPr>
        <p:spPr>
          <a:xfrm>
            <a:off x="798810" y="3192463"/>
            <a:ext cx="3059224" cy="42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 revenue: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3% on sales or ₦999 a month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98810" y="3692525"/>
            <a:ext cx="2910382" cy="42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Lean costs: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student team, tools under ₦150K a month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98810" y="4192587"/>
            <a:ext cx="329098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in month 19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with a cash buffer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63157" y="2739231"/>
            <a:ext cx="1671022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Operational</a:t>
            </a:r>
            <a:endParaRPr lang="en-US" sz="1930" dirty="0"/>
          </a:p>
        </p:txBody>
      </p:sp>
      <p:sp>
        <p:nvSpPr>
          <p:cNvPr id="10" name="Text 8"/>
          <p:cNvSpPr txBox="1"/>
          <p:nvPr/>
        </p:nvSpPr>
        <p:spPr>
          <a:xfrm>
            <a:off x="4646017" y="3192463"/>
            <a:ext cx="3004443" cy="42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built in: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verified vendors, ratings, disputes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646017" y="3692525"/>
            <a:ext cx="2701026" cy="42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Self-running: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reminders and auto-complete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646017" y="4192587"/>
            <a:ext cx="3174730" cy="424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Terms, Privacy, Refund (Oct 2026)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310364" y="2739231"/>
            <a:ext cx="309946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9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Environmental &amp; social</a:t>
            </a:r>
            <a:endParaRPr lang="en-US" sz="1930" dirty="0"/>
          </a:p>
        </p:txBody>
      </p:sp>
      <p:sp>
        <p:nvSpPr>
          <p:cNvPr id="14" name="Text 12"/>
          <p:cNvSpPr txBox="1"/>
          <p:nvPr/>
        </p:nvSpPr>
        <p:spPr>
          <a:xfrm>
            <a:off x="8493224" y="3192463"/>
            <a:ext cx="297949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Rent, resell, reuse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extends product life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8493224" y="3478014"/>
            <a:ext cx="25044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Hyperlocal buying: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shorter trips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8493224" y="3763566"/>
            <a:ext cx="25948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income:</a:t>
            </a:r>
            <a:pPr algn="l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742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sell with no shop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36191" y="5291634"/>
            <a:ext cx="1257195" cy="601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90" b="1" spc="1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HONEST WEAKNESSES &amp; HOW WE MANAGE THEM</a:t>
            </a:r>
            <a:endParaRPr lang="en-US" sz="790" dirty="0"/>
          </a:p>
        </p:txBody>
      </p:sp>
      <p:sp>
        <p:nvSpPr>
          <p:cNvPr id="18" name="Text 16"/>
          <p:cNvSpPr txBox="1"/>
          <p:nvPr/>
        </p:nvSpPr>
        <p:spPr>
          <a:xfrm>
            <a:off x="2119511" y="5238452"/>
            <a:ext cx="95399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Pre-revenue</a:t>
            </a:r>
            <a:endParaRPr lang="en-US" sz="1030" dirty="0"/>
          </a:p>
        </p:txBody>
      </p:sp>
      <p:sp>
        <p:nvSpPr>
          <p:cNvPr id="19" name="Text 17"/>
          <p:cNvSpPr txBox="1"/>
          <p:nvPr/>
        </p:nvSpPr>
        <p:spPr>
          <a:xfrm>
            <a:off x="2119511" y="5454352"/>
            <a:ext cx="195002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413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Billing first; runway to month 19</a:t>
            </a:r>
            <a:endParaRPr lang="en-US" sz="890" dirty="0"/>
          </a:p>
        </p:txBody>
      </p:sp>
      <p:sp>
        <p:nvSpPr>
          <p:cNvPr id="20" name="Text 18"/>
          <p:cNvSpPr txBox="1"/>
          <p:nvPr/>
        </p:nvSpPr>
        <p:spPr>
          <a:xfrm>
            <a:off x="4519116" y="5238452"/>
            <a:ext cx="118372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user base</a:t>
            </a:r>
            <a:endParaRPr lang="en-US" sz="1030" dirty="0"/>
          </a:p>
        </p:txBody>
      </p:sp>
      <p:sp>
        <p:nvSpPr>
          <p:cNvPr id="21" name="Text 19"/>
          <p:cNvSpPr txBox="1"/>
          <p:nvPr/>
        </p:nvSpPr>
        <p:spPr>
          <a:xfrm>
            <a:off x="4519116" y="5454352"/>
            <a:ext cx="2171586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413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Ambassadors, Vendor of the Week</a:t>
            </a:r>
            <a:endParaRPr lang="en-US" sz="890" dirty="0"/>
          </a:p>
        </p:txBody>
      </p:sp>
      <p:sp>
        <p:nvSpPr>
          <p:cNvPr id="22" name="Text 20"/>
          <p:cNvSpPr txBox="1"/>
          <p:nvPr/>
        </p:nvSpPr>
        <p:spPr>
          <a:xfrm>
            <a:off x="6918821" y="5238452"/>
            <a:ext cx="122523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not live</a:t>
            </a:r>
            <a:endParaRPr lang="en-US" sz="1030" dirty="0"/>
          </a:p>
        </p:txBody>
      </p:sp>
      <p:sp>
        <p:nvSpPr>
          <p:cNvPr id="23" name="Text 21"/>
          <p:cNvSpPr txBox="1"/>
          <p:nvPr/>
        </p:nvSpPr>
        <p:spPr>
          <a:xfrm>
            <a:off x="6918821" y="5454352"/>
            <a:ext cx="173748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413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Pickup first; partner coming</a:t>
            </a:r>
            <a:endParaRPr lang="en-US" sz="890" dirty="0"/>
          </a:p>
        </p:txBody>
      </p:sp>
      <p:sp>
        <p:nvSpPr>
          <p:cNvPr id="24" name="Text 22"/>
          <p:cNvSpPr txBox="1"/>
          <p:nvPr/>
        </p:nvSpPr>
        <p:spPr>
          <a:xfrm>
            <a:off x="9318526" y="5238452"/>
            <a:ext cx="125178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 habit</a:t>
            </a:r>
            <a:endParaRPr lang="en-US" sz="1030" dirty="0"/>
          </a:p>
        </p:txBody>
      </p:sp>
      <p:sp>
        <p:nvSpPr>
          <p:cNvPr id="25" name="Text 23"/>
          <p:cNvSpPr txBox="1"/>
          <p:nvPr/>
        </p:nvSpPr>
        <p:spPr>
          <a:xfrm>
            <a:off x="9318526" y="5454352"/>
            <a:ext cx="2040579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890" dirty="0">
                <a:solidFill>
                  <a:srgbClr val="41345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chat, add trust and records</a:t>
            </a:r>
            <a:endParaRPr lang="en-US" sz="890" dirty="0"/>
          </a:p>
        </p:txBody>
      </p:sp>
      <p:sp>
        <p:nvSpPr>
          <p:cNvPr id="26" name="Text 24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27" name="Text 25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276111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FFD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HEALTH &amp; P&amp;L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578233" y="521990"/>
            <a:ext cx="25816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829171"/>
            <a:ext cx="9881645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pre-revenue to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D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break-even in 19 months.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697111" y="1698427"/>
            <a:ext cx="1674526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CASE (₦ MILLION)</a:t>
            </a:r>
            <a:endParaRPr lang="en-US" sz="720" dirty="0"/>
          </a:p>
        </p:txBody>
      </p:sp>
      <p:sp>
        <p:nvSpPr>
          <p:cNvPr id="6" name="Text 4"/>
          <p:cNvSpPr txBox="1"/>
          <p:nvPr/>
        </p:nvSpPr>
        <p:spPr>
          <a:xfrm>
            <a:off x="3371453" y="1698427"/>
            <a:ext cx="50165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1</a:t>
            </a:r>
            <a:endParaRPr lang="en-US" sz="720" dirty="0"/>
          </a:p>
        </p:txBody>
      </p:sp>
      <p:sp>
        <p:nvSpPr>
          <p:cNvPr id="7" name="Text 5"/>
          <p:cNvSpPr txBox="1"/>
          <p:nvPr/>
        </p:nvSpPr>
        <p:spPr>
          <a:xfrm>
            <a:off x="4114403" y="1698427"/>
            <a:ext cx="521395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2</a:t>
            </a:r>
            <a:endParaRPr lang="en-US" sz="720" dirty="0"/>
          </a:p>
        </p:txBody>
      </p:sp>
      <p:sp>
        <p:nvSpPr>
          <p:cNvPr id="8" name="Text 6"/>
          <p:cNvSpPr txBox="1"/>
          <p:nvPr/>
        </p:nvSpPr>
        <p:spPr>
          <a:xfrm>
            <a:off x="4878189" y="1698427"/>
            <a:ext cx="52070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720" b="1" spc="13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 3</a:t>
            </a:r>
            <a:endParaRPr lang="en-US" sz="720" dirty="0"/>
          </a:p>
        </p:txBody>
      </p:sp>
      <p:sp>
        <p:nvSpPr>
          <p:cNvPr id="9" name="Text 7"/>
          <p:cNvSpPr txBox="1"/>
          <p:nvPr/>
        </p:nvSpPr>
        <p:spPr>
          <a:xfrm>
            <a:off x="697111" y="1995487"/>
            <a:ext cx="62329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1030" dirty="0"/>
          </a:p>
        </p:txBody>
      </p:sp>
      <p:sp>
        <p:nvSpPr>
          <p:cNvPr id="10" name="Text 8"/>
          <p:cNvSpPr txBox="1"/>
          <p:nvPr/>
        </p:nvSpPr>
        <p:spPr>
          <a:xfrm>
            <a:off x="3608586" y="1995487"/>
            <a:ext cx="26451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5.3</a:t>
            </a:r>
            <a:endParaRPr lang="en-US" sz="1030" dirty="0"/>
          </a:p>
        </p:txBody>
      </p:sp>
      <p:sp>
        <p:nvSpPr>
          <p:cNvPr id="11" name="Text 9"/>
          <p:cNvSpPr txBox="1"/>
          <p:nvPr/>
        </p:nvSpPr>
        <p:spPr>
          <a:xfrm>
            <a:off x="4282777" y="1995487"/>
            <a:ext cx="35302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32.5</a:t>
            </a:r>
            <a:endParaRPr lang="en-US" sz="1030" dirty="0"/>
          </a:p>
        </p:txBody>
      </p:sp>
      <p:sp>
        <p:nvSpPr>
          <p:cNvPr id="12" name="Text 10"/>
          <p:cNvSpPr txBox="1"/>
          <p:nvPr/>
        </p:nvSpPr>
        <p:spPr>
          <a:xfrm>
            <a:off x="5005784" y="1995487"/>
            <a:ext cx="3931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115.0</a:t>
            </a:r>
            <a:endParaRPr lang="en-US" sz="1030" dirty="0"/>
          </a:p>
        </p:txBody>
      </p:sp>
      <p:sp>
        <p:nvSpPr>
          <p:cNvPr id="13" name="Text 11"/>
          <p:cNvSpPr txBox="1"/>
          <p:nvPr/>
        </p:nvSpPr>
        <p:spPr>
          <a:xfrm>
            <a:off x="697111" y="2344738"/>
            <a:ext cx="115570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Operating costs</a:t>
            </a:r>
            <a:endParaRPr lang="en-US" sz="1030" dirty="0"/>
          </a:p>
        </p:txBody>
      </p:sp>
      <p:sp>
        <p:nvSpPr>
          <p:cNvPr id="14" name="Text 12"/>
          <p:cNvSpPr txBox="1"/>
          <p:nvPr/>
        </p:nvSpPr>
        <p:spPr>
          <a:xfrm>
            <a:off x="3555206" y="2344738"/>
            <a:ext cx="317897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15.9</a:t>
            </a:r>
            <a:endParaRPr lang="en-US" sz="1030" dirty="0"/>
          </a:p>
        </p:txBody>
      </p:sp>
      <p:sp>
        <p:nvSpPr>
          <p:cNvPr id="15" name="Text 13"/>
          <p:cNvSpPr txBox="1"/>
          <p:nvPr/>
        </p:nvSpPr>
        <p:spPr>
          <a:xfrm>
            <a:off x="4265414" y="2344738"/>
            <a:ext cx="37038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</a:t>
            </a:r>
            <a:endParaRPr lang="en-US" sz="1030" dirty="0"/>
          </a:p>
        </p:txBody>
      </p:sp>
      <p:sp>
        <p:nvSpPr>
          <p:cNvPr id="16" name="Text 14"/>
          <p:cNvSpPr txBox="1"/>
          <p:nvPr/>
        </p:nvSpPr>
        <p:spPr>
          <a:xfrm>
            <a:off x="5043686" y="2344738"/>
            <a:ext cx="35520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86.8</a:t>
            </a:r>
            <a:endParaRPr lang="en-US" sz="1030" dirty="0"/>
          </a:p>
        </p:txBody>
      </p:sp>
      <p:sp>
        <p:nvSpPr>
          <p:cNvPr id="17" name="Text 15"/>
          <p:cNvSpPr txBox="1"/>
          <p:nvPr/>
        </p:nvSpPr>
        <p:spPr>
          <a:xfrm>
            <a:off x="697111" y="2693988"/>
            <a:ext cx="1409646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profit / (loss)</a:t>
            </a:r>
            <a:endParaRPr lang="en-US" sz="1140" dirty="0"/>
          </a:p>
        </p:txBody>
      </p:sp>
      <p:sp>
        <p:nvSpPr>
          <p:cNvPr id="18" name="Text 16"/>
          <p:cNvSpPr txBox="1"/>
          <p:nvPr/>
        </p:nvSpPr>
        <p:spPr>
          <a:xfrm>
            <a:off x="3388519" y="2693988"/>
            <a:ext cx="4845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FF9A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(10.6)</a:t>
            </a:r>
            <a:endParaRPr lang="en-US" sz="1140" dirty="0"/>
          </a:p>
        </p:txBody>
      </p:sp>
      <p:sp>
        <p:nvSpPr>
          <p:cNvPr id="19" name="Text 17"/>
          <p:cNvSpPr txBox="1"/>
          <p:nvPr/>
        </p:nvSpPr>
        <p:spPr>
          <a:xfrm>
            <a:off x="4378325" y="2693988"/>
            <a:ext cx="25747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</a:t>
            </a:r>
            <a:endParaRPr lang="en-US" sz="1140" dirty="0"/>
          </a:p>
        </p:txBody>
      </p:sp>
      <p:sp>
        <p:nvSpPr>
          <p:cNvPr id="20" name="Text 18"/>
          <p:cNvSpPr txBox="1"/>
          <p:nvPr/>
        </p:nvSpPr>
        <p:spPr>
          <a:xfrm>
            <a:off x="5044877" y="2693988"/>
            <a:ext cx="35401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14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28.1</a:t>
            </a:r>
            <a:endParaRPr lang="en-US" sz="1140" dirty="0"/>
          </a:p>
        </p:txBody>
      </p:sp>
      <p:sp>
        <p:nvSpPr>
          <p:cNvPr id="21" name="Text 19"/>
          <p:cNvSpPr txBox="1"/>
          <p:nvPr/>
        </p:nvSpPr>
        <p:spPr>
          <a:xfrm>
            <a:off x="697111" y="3062287"/>
            <a:ext cx="182676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vendors (year end)</a:t>
            </a:r>
            <a:endParaRPr lang="en-US" sz="1030" dirty="0"/>
          </a:p>
        </p:txBody>
      </p:sp>
      <p:sp>
        <p:nvSpPr>
          <p:cNvPr id="22" name="Text 20"/>
          <p:cNvSpPr txBox="1"/>
          <p:nvPr/>
        </p:nvSpPr>
        <p:spPr>
          <a:xfrm>
            <a:off x="3581598" y="3062287"/>
            <a:ext cx="29150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577</a:t>
            </a:r>
            <a:endParaRPr lang="en-US" sz="1030" dirty="0"/>
          </a:p>
        </p:txBody>
      </p:sp>
      <p:sp>
        <p:nvSpPr>
          <p:cNvPr id="23" name="Text 21"/>
          <p:cNvSpPr txBox="1"/>
          <p:nvPr/>
        </p:nvSpPr>
        <p:spPr>
          <a:xfrm>
            <a:off x="4220369" y="3062287"/>
            <a:ext cx="415429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2,160</a:t>
            </a:r>
            <a:endParaRPr lang="en-US" sz="1030" dirty="0"/>
          </a:p>
        </p:txBody>
      </p:sp>
      <p:sp>
        <p:nvSpPr>
          <p:cNvPr id="24" name="Text 22"/>
          <p:cNvSpPr txBox="1"/>
          <p:nvPr/>
        </p:nvSpPr>
        <p:spPr>
          <a:xfrm>
            <a:off x="4972447" y="3062287"/>
            <a:ext cx="42644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5,100</a:t>
            </a:r>
            <a:endParaRPr lang="en-US" sz="1030" dirty="0"/>
          </a:p>
        </p:txBody>
      </p:sp>
      <p:sp>
        <p:nvSpPr>
          <p:cNvPr id="25" name="Text 23"/>
          <p:cNvSpPr txBox="1"/>
          <p:nvPr/>
        </p:nvSpPr>
        <p:spPr>
          <a:xfrm>
            <a:off x="697111" y="3411538"/>
            <a:ext cx="2565242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0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revenue, month 3 / 12 / 24 / 36</a:t>
            </a:r>
            <a:endParaRPr lang="en-US" sz="1030" dirty="0"/>
          </a:p>
        </p:txBody>
      </p:sp>
      <p:sp>
        <p:nvSpPr>
          <p:cNvPr id="26" name="Text 24"/>
          <p:cNvSpPr txBox="1"/>
          <p:nvPr/>
        </p:nvSpPr>
        <p:spPr>
          <a:xfrm>
            <a:off x="3617031" y="3411538"/>
            <a:ext cx="1781858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4167"/>
              </a:lnSpc>
              <a:buNone/>
            </a:pPr>
            <a:r>
              <a:rPr lang="en-US" sz="10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₦0.18M · ₦1.0M · ₦4.8M · ₦14.2M</a:t>
            </a:r>
            <a:endParaRPr lang="en-US" sz="1030" dirty="0"/>
          </a:p>
        </p:txBody>
      </p:sp>
      <p:sp>
        <p:nvSpPr>
          <p:cNvPr id="27" name="Text 25"/>
          <p:cNvSpPr txBox="1"/>
          <p:nvPr/>
        </p:nvSpPr>
        <p:spPr>
          <a:xfrm>
            <a:off x="534591" y="4225429"/>
            <a:ext cx="1061853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27F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 19</a:t>
            </a:r>
            <a:endParaRPr lang="en-US" sz="1720" dirty="0"/>
          </a:p>
        </p:txBody>
      </p:sp>
      <p:sp>
        <p:nvSpPr>
          <p:cNvPr id="28" name="Text 26"/>
          <p:cNvSpPr txBox="1"/>
          <p:nvPr/>
        </p:nvSpPr>
        <p:spPr>
          <a:xfrm>
            <a:off x="534591" y="4555629"/>
            <a:ext cx="1005268" cy="237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BREAK-EVEN</a:t>
            </a:r>
            <a:endParaRPr lang="en-US" sz="700" dirty="0"/>
          </a:p>
        </p:txBody>
      </p:sp>
      <p:sp>
        <p:nvSpPr>
          <p:cNvPr id="29" name="Text 27"/>
          <p:cNvSpPr txBox="1"/>
          <p:nvPr/>
        </p:nvSpPr>
        <p:spPr>
          <a:xfrm>
            <a:off x="1875631" y="4225429"/>
            <a:ext cx="863008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₦14.7M</a:t>
            </a:r>
            <a:endParaRPr lang="en-US" sz="1720" dirty="0"/>
          </a:p>
        </p:txBody>
      </p:sp>
      <p:sp>
        <p:nvSpPr>
          <p:cNvPr id="30" name="Text 28"/>
          <p:cNvSpPr txBox="1"/>
          <p:nvPr/>
        </p:nvSpPr>
        <p:spPr>
          <a:xfrm>
            <a:off x="1875631" y="4555629"/>
            <a:ext cx="967367" cy="2374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PEAK CASH NEED (MONTH 18)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3216771" y="4225429"/>
            <a:ext cx="498376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720" dirty="0"/>
          </a:p>
        </p:txBody>
      </p:sp>
      <p:sp>
        <p:nvSpPr>
          <p:cNvPr id="32" name="Text 30"/>
          <p:cNvSpPr txBox="1"/>
          <p:nvPr/>
        </p:nvSpPr>
        <p:spPr>
          <a:xfrm>
            <a:off x="3216771" y="4555629"/>
            <a:ext cx="865768" cy="354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CONTRIBUTION MARGIN PER VENDOR</a:t>
            </a:r>
            <a:endParaRPr lang="en-US" sz="700" dirty="0"/>
          </a:p>
        </p:txBody>
      </p:sp>
      <p:sp>
        <p:nvSpPr>
          <p:cNvPr id="33" name="Text 31"/>
          <p:cNvSpPr txBox="1"/>
          <p:nvPr/>
        </p:nvSpPr>
        <p:spPr>
          <a:xfrm>
            <a:off x="4557911" y="4225429"/>
            <a:ext cx="742752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17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₦20M</a:t>
            </a:r>
            <a:endParaRPr lang="en-US" sz="1720" dirty="0"/>
          </a:p>
        </p:txBody>
      </p:sp>
      <p:sp>
        <p:nvSpPr>
          <p:cNvPr id="34" name="Text 32"/>
          <p:cNvSpPr txBox="1"/>
          <p:nvPr/>
        </p:nvSpPr>
        <p:spPr>
          <a:xfrm>
            <a:off x="4557911" y="4555629"/>
            <a:ext cx="992634" cy="3542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0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COVERS THE PEAK + 36% BUFFER</a:t>
            </a:r>
            <a:endParaRPr lang="en-US" sz="700" dirty="0"/>
          </a:p>
        </p:txBody>
      </p:sp>
      <p:sp>
        <p:nvSpPr>
          <p:cNvPr id="35" name="Text 33"/>
          <p:cNvSpPr txBox="1"/>
          <p:nvPr/>
        </p:nvSpPr>
        <p:spPr>
          <a:xfrm>
            <a:off x="406400" y="5128121"/>
            <a:ext cx="366903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7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Downside: 30% fewer vendors moves break-even to about month 27.</a:t>
            </a:r>
            <a:endParaRPr lang="en-US" sz="770" dirty="0"/>
          </a:p>
        </p:txBody>
      </p:sp>
      <p:sp>
        <p:nvSpPr>
          <p:cNvPr id="36" name="Text 34"/>
          <p:cNvSpPr txBox="1"/>
          <p:nvPr/>
        </p:nvSpPr>
        <p:spPr>
          <a:xfrm>
            <a:off x="6183511" y="1708646"/>
            <a:ext cx="467493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90" b="1" spc="1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 VS COSTS, AND CASH POSITION (₦M)</a:t>
            </a:r>
            <a:endParaRPr lang="en-US" sz="790" dirty="0"/>
          </a:p>
        </p:txBody>
      </p:sp>
      <p:sp>
        <p:nvSpPr>
          <p:cNvPr id="37" name="Text 35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38" name="Text 36"/>
          <p:cNvSpPr txBox="1"/>
          <p:nvPr/>
        </p:nvSpPr>
        <p:spPr>
          <a:xfrm>
            <a:off x="6750645" y="6217940"/>
            <a:ext cx="538740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Projections are estimates built on stated assumptions, to be validated with live billing data.</a:t>
            </a:r>
            <a:endParaRPr lang="en-US" sz="83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1076822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8B6B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603137" y="521990"/>
            <a:ext cx="23326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71352"/>
            <a:ext cx="7222235" cy="615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students, </a:t>
            </a:r>
            <a:pPr algn="l" indent="0" marL="0">
              <a:lnSpc>
                <a:spcPct val="85000"/>
              </a:lnSpc>
              <a:buNone/>
            </a:pPr>
            <a:r>
              <a:rPr lang="en-US" sz="3300" b="1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marketplace.</a:t>
            </a:r>
            <a:endParaRPr lang="en-US" sz="330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3659088"/>
            <a:ext cx="92872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Kennis Dede</a:t>
            </a:r>
            <a:endParaRPr lang="en-US" sz="1030" dirty="0"/>
          </a:p>
        </p:txBody>
      </p:sp>
      <p:sp>
        <p:nvSpPr>
          <p:cNvPr id="6" name="Text 4"/>
          <p:cNvSpPr txBox="1"/>
          <p:nvPr/>
        </p:nvSpPr>
        <p:spPr>
          <a:xfrm>
            <a:off x="406400" y="3882529"/>
            <a:ext cx="106811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</a:t>
            </a:r>
            <a:endParaRPr lang="en-US" sz="720" dirty="0"/>
          </a:p>
        </p:txBody>
      </p:sp>
      <p:sp>
        <p:nvSpPr>
          <p:cNvPr id="7" name="Text 5"/>
          <p:cNvSpPr txBox="1"/>
          <p:nvPr/>
        </p:nvSpPr>
        <p:spPr>
          <a:xfrm>
            <a:off x="1683147" y="3659088"/>
            <a:ext cx="898254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Yasir Oyebo</a:t>
            </a:r>
            <a:endParaRPr lang="en-US" sz="1030" dirty="0"/>
          </a:p>
        </p:txBody>
      </p:sp>
      <p:sp>
        <p:nvSpPr>
          <p:cNvPr id="8" name="Text 6"/>
          <p:cNvSpPr txBox="1"/>
          <p:nvPr/>
        </p:nvSpPr>
        <p:spPr>
          <a:xfrm>
            <a:off x="1683147" y="3882529"/>
            <a:ext cx="916408" cy="410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CHIEF TECHNOLOGY OFFICER</a:t>
            </a:r>
            <a:endParaRPr lang="en-US" sz="720" dirty="0"/>
          </a:p>
        </p:txBody>
      </p:sp>
      <p:sp>
        <p:nvSpPr>
          <p:cNvPr id="9" name="Text 7"/>
          <p:cNvSpPr txBox="1"/>
          <p:nvPr/>
        </p:nvSpPr>
        <p:spPr>
          <a:xfrm>
            <a:off x="2959894" y="3659088"/>
            <a:ext cx="1179695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Korede Bankole</a:t>
            </a:r>
            <a:endParaRPr lang="en-US" sz="1030" dirty="0"/>
          </a:p>
        </p:txBody>
      </p:sp>
      <p:sp>
        <p:nvSpPr>
          <p:cNvPr id="10" name="Text 8"/>
          <p:cNvSpPr txBox="1"/>
          <p:nvPr/>
        </p:nvSpPr>
        <p:spPr>
          <a:xfrm>
            <a:off x="2959894" y="3882529"/>
            <a:ext cx="953566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&amp; BIZ DEV LEAD</a:t>
            </a:r>
            <a:endParaRPr lang="en-US" sz="720" dirty="0"/>
          </a:p>
        </p:txBody>
      </p:sp>
      <p:sp>
        <p:nvSpPr>
          <p:cNvPr id="11" name="Text 9"/>
          <p:cNvSpPr txBox="1"/>
          <p:nvPr/>
        </p:nvSpPr>
        <p:spPr>
          <a:xfrm>
            <a:off x="4236641" y="3659088"/>
            <a:ext cx="807802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Faith Alalu</a:t>
            </a:r>
            <a:endParaRPr lang="en-US" sz="1030" dirty="0"/>
          </a:p>
        </p:txBody>
      </p:sp>
      <p:sp>
        <p:nvSpPr>
          <p:cNvPr id="12" name="Text 10"/>
          <p:cNvSpPr txBox="1"/>
          <p:nvPr/>
        </p:nvSpPr>
        <p:spPr>
          <a:xfrm>
            <a:off x="4236641" y="3882529"/>
            <a:ext cx="1177678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&amp; MARKETING LEAD</a:t>
            </a:r>
            <a:endParaRPr lang="en-US" sz="720" dirty="0"/>
          </a:p>
        </p:txBody>
      </p:sp>
      <p:sp>
        <p:nvSpPr>
          <p:cNvPr id="13" name="Text 11"/>
          <p:cNvSpPr txBox="1"/>
          <p:nvPr/>
        </p:nvSpPr>
        <p:spPr>
          <a:xfrm>
            <a:off x="5513388" y="3659187"/>
            <a:ext cx="794320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Emmanuel Mbonu</a:t>
            </a:r>
            <a:endParaRPr lang="en-US" sz="1030" dirty="0"/>
          </a:p>
        </p:txBody>
      </p:sp>
      <p:sp>
        <p:nvSpPr>
          <p:cNvPr id="14" name="Text 12"/>
          <p:cNvSpPr txBox="1"/>
          <p:nvPr/>
        </p:nvSpPr>
        <p:spPr>
          <a:xfrm>
            <a:off x="5513388" y="4057848"/>
            <a:ext cx="1074911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RESEARCH &amp; PUBLICITY LEAD</a:t>
            </a:r>
            <a:endParaRPr lang="en-US" sz="720" dirty="0"/>
          </a:p>
        </p:txBody>
      </p:sp>
      <p:sp>
        <p:nvSpPr>
          <p:cNvPr id="15" name="Text 13"/>
          <p:cNvSpPr txBox="1"/>
          <p:nvPr/>
        </p:nvSpPr>
        <p:spPr>
          <a:xfrm>
            <a:off x="6790234" y="3659088"/>
            <a:ext cx="965456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Oluwanifemi Bayewu</a:t>
            </a:r>
            <a:endParaRPr lang="en-US" sz="1030" dirty="0"/>
          </a:p>
        </p:txBody>
      </p:sp>
      <p:sp>
        <p:nvSpPr>
          <p:cNvPr id="16" name="Text 14"/>
          <p:cNvSpPr txBox="1"/>
          <p:nvPr/>
        </p:nvSpPr>
        <p:spPr>
          <a:xfrm>
            <a:off x="6790234" y="4057749"/>
            <a:ext cx="1200609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&amp; COMMUNITY LEAD</a:t>
            </a:r>
            <a:endParaRPr lang="en-US" sz="720" dirty="0"/>
          </a:p>
        </p:txBody>
      </p:sp>
      <p:sp>
        <p:nvSpPr>
          <p:cNvPr id="17" name="Text 15"/>
          <p:cNvSpPr txBox="1"/>
          <p:nvPr/>
        </p:nvSpPr>
        <p:spPr>
          <a:xfrm>
            <a:off x="8066980" y="3659088"/>
            <a:ext cx="856319" cy="365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Toluwanimi Jegede</a:t>
            </a:r>
            <a:endParaRPr lang="en-US" sz="1030" dirty="0"/>
          </a:p>
        </p:txBody>
      </p:sp>
      <p:sp>
        <p:nvSpPr>
          <p:cNvPr id="18" name="Text 16"/>
          <p:cNvSpPr txBox="1"/>
          <p:nvPr/>
        </p:nvSpPr>
        <p:spPr>
          <a:xfrm>
            <a:off x="8066980" y="4057749"/>
            <a:ext cx="1157825" cy="4105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MARKETING (FB &amp; TIKTOK)</a:t>
            </a:r>
            <a:endParaRPr lang="en-US" sz="720" dirty="0"/>
          </a:p>
        </p:txBody>
      </p:sp>
      <p:sp>
        <p:nvSpPr>
          <p:cNvPr id="19" name="Text 17"/>
          <p:cNvSpPr txBox="1"/>
          <p:nvPr/>
        </p:nvSpPr>
        <p:spPr>
          <a:xfrm>
            <a:off x="9343727" y="3659088"/>
            <a:ext cx="1190418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Brandon Mbaka</a:t>
            </a:r>
            <a:endParaRPr lang="en-US" sz="1030" dirty="0"/>
          </a:p>
        </p:txBody>
      </p:sp>
      <p:sp>
        <p:nvSpPr>
          <p:cNvPr id="20" name="Text 18"/>
          <p:cNvSpPr txBox="1"/>
          <p:nvPr/>
        </p:nvSpPr>
        <p:spPr>
          <a:xfrm>
            <a:off x="9343727" y="3882529"/>
            <a:ext cx="981487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ANALYST</a:t>
            </a:r>
            <a:endParaRPr lang="en-US" sz="720" dirty="0"/>
          </a:p>
        </p:txBody>
      </p:sp>
      <p:sp>
        <p:nvSpPr>
          <p:cNvPr id="21" name="Text 19"/>
          <p:cNvSpPr txBox="1"/>
          <p:nvPr/>
        </p:nvSpPr>
        <p:spPr>
          <a:xfrm>
            <a:off x="10620474" y="3659187"/>
            <a:ext cx="947833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Emeka Okoh</a:t>
            </a:r>
            <a:endParaRPr lang="en-US" sz="1030" dirty="0"/>
          </a:p>
        </p:txBody>
      </p:sp>
      <p:sp>
        <p:nvSpPr>
          <p:cNvPr id="22" name="Text 20"/>
          <p:cNvSpPr txBox="1"/>
          <p:nvPr/>
        </p:nvSpPr>
        <p:spPr>
          <a:xfrm>
            <a:off x="10620474" y="3882628"/>
            <a:ext cx="1014079" cy="2719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20" b="1" spc="80" kern="0" dirty="0">
                <a:solidFill>
                  <a:srgbClr val="6A3D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DIGITAL MARKETING (X)</a:t>
            </a:r>
            <a:endParaRPr lang="en-US" sz="720" dirty="0"/>
          </a:p>
        </p:txBody>
      </p:sp>
      <p:sp>
        <p:nvSpPr>
          <p:cNvPr id="23" name="Text 21"/>
          <p:cNvSpPr txBox="1"/>
          <p:nvPr/>
        </p:nvSpPr>
        <p:spPr>
          <a:xfrm>
            <a:off x="761901" y="5103416"/>
            <a:ext cx="2179124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and shipped the live product</a:t>
            </a:r>
            <a:endParaRPr lang="en-US" sz="890" dirty="0"/>
          </a:p>
        </p:txBody>
      </p:sp>
      <p:sp>
        <p:nvSpPr>
          <p:cNvPr id="24" name="Text 22"/>
          <p:cNvSpPr txBox="1"/>
          <p:nvPr/>
        </p:nvSpPr>
        <p:spPr>
          <a:xfrm>
            <a:off x="3407966" y="5103416"/>
            <a:ext cx="202476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&amp; campus relationships</a:t>
            </a:r>
            <a:endParaRPr lang="en-US" sz="890" dirty="0"/>
          </a:p>
        </p:txBody>
      </p:sp>
      <p:sp>
        <p:nvSpPr>
          <p:cNvPr id="25" name="Text 23"/>
          <p:cNvSpPr txBox="1"/>
          <p:nvPr/>
        </p:nvSpPr>
        <p:spPr>
          <a:xfrm>
            <a:off x="5909766" y="5103416"/>
            <a:ext cx="1748947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Finance &amp; growth planning</a:t>
            </a:r>
            <a:endParaRPr lang="en-US" sz="890" dirty="0"/>
          </a:p>
        </p:txBody>
      </p:sp>
      <p:sp>
        <p:nvSpPr>
          <p:cNvPr id="26" name="Text 24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27" name="Text 25"/>
          <p:cNvSpPr txBox="1"/>
          <p:nvPr/>
        </p:nvSpPr>
        <p:spPr>
          <a:xfrm>
            <a:off x="8862814" y="6217940"/>
            <a:ext cx="3127381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AMSUL Business Pitch Competition 2026</a:t>
            </a:r>
            <a:endParaRPr lang="en-US" sz="83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0641" y="521891"/>
            <a:ext cx="327272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FFD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 &amp; USE OF RESOURCES</a:t>
            </a:r>
            <a:endParaRPr lang="en-US" sz="890" dirty="0"/>
          </a:p>
        </p:txBody>
      </p:sp>
      <p:sp>
        <p:nvSpPr>
          <p:cNvPr id="3" name="Text 1"/>
          <p:cNvSpPr txBox="1"/>
          <p:nvPr/>
        </p:nvSpPr>
        <p:spPr>
          <a:xfrm>
            <a:off x="11640245" y="521990"/>
            <a:ext cx="196155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90" dirty="0"/>
          </a:p>
        </p:txBody>
      </p:sp>
      <p:sp>
        <p:nvSpPr>
          <p:cNvPr id="4" name="Text 2"/>
          <p:cNvSpPr txBox="1"/>
          <p:nvPr/>
        </p:nvSpPr>
        <p:spPr>
          <a:xfrm>
            <a:off x="406400" y="971352"/>
            <a:ext cx="5472864" cy="1048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early adoption into a </a:t>
            </a:r>
            <a:pPr algn="l" indent="0" marL="0">
              <a:lnSpc>
                <a:spcPct val="85000"/>
              </a:lnSpc>
              <a:buNone/>
            </a:pPr>
            <a:r>
              <a:rPr lang="en-US" sz="3160" b="1" dirty="0">
                <a:solidFill>
                  <a:srgbClr val="FFD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scalable marketplace.</a:t>
            </a:r>
            <a:endParaRPr lang="en-US" sz="3160" dirty="0"/>
          </a:p>
        </p:txBody>
      </p:sp>
      <p:sp>
        <p:nvSpPr>
          <p:cNvPr id="5" name="Text 3"/>
          <p:cNvSpPr txBox="1"/>
          <p:nvPr/>
        </p:nvSpPr>
        <p:spPr>
          <a:xfrm>
            <a:off x="406400" y="1932781"/>
            <a:ext cx="3959283" cy="1022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50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₦20M</a:t>
            </a:r>
            <a:pPr algn="l" indent="0" marL="0">
              <a:lnSpc>
                <a:spcPct val="8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support</a:t>
            </a:r>
            <a:endParaRPr lang="en-US" sz="5500" dirty="0"/>
          </a:p>
        </p:txBody>
      </p:sp>
      <p:sp>
        <p:nvSpPr>
          <p:cNvPr id="6" name="Text 4"/>
          <p:cNvSpPr txBox="1"/>
          <p:nvPr/>
        </p:nvSpPr>
        <p:spPr>
          <a:xfrm>
            <a:off x="2793901" y="3320455"/>
            <a:ext cx="206319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&amp; campus acquisition</a:t>
            </a:r>
            <a:endParaRPr lang="en-US" sz="930" dirty="0"/>
          </a:p>
        </p:txBody>
      </p:sp>
      <p:sp>
        <p:nvSpPr>
          <p:cNvPr id="7" name="Text 5"/>
          <p:cNvSpPr txBox="1"/>
          <p:nvPr/>
        </p:nvSpPr>
        <p:spPr>
          <a:xfrm>
            <a:off x="4965898" y="3320455"/>
            <a:ext cx="675084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· ₦7M</a:t>
            </a:r>
            <a:endParaRPr lang="en-US" sz="930" dirty="0"/>
          </a:p>
        </p:txBody>
      </p:sp>
      <p:sp>
        <p:nvSpPr>
          <p:cNvPr id="8" name="Text 6"/>
          <p:cNvSpPr txBox="1"/>
          <p:nvPr/>
        </p:nvSpPr>
        <p:spPr>
          <a:xfrm>
            <a:off x="2793901" y="3562846"/>
            <a:ext cx="191435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growth &amp; onboarding</a:t>
            </a:r>
            <a:endParaRPr lang="en-US" sz="930" dirty="0"/>
          </a:p>
        </p:txBody>
      </p:sp>
      <p:sp>
        <p:nvSpPr>
          <p:cNvPr id="9" name="Text 7"/>
          <p:cNvSpPr txBox="1"/>
          <p:nvPr/>
        </p:nvSpPr>
        <p:spPr>
          <a:xfrm>
            <a:off x="4939407" y="3562846"/>
            <a:ext cx="7015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· ₦4M</a:t>
            </a:r>
            <a:endParaRPr lang="en-US" sz="930" dirty="0"/>
          </a:p>
        </p:txBody>
      </p:sp>
      <p:sp>
        <p:nvSpPr>
          <p:cNvPr id="10" name="Text 8"/>
          <p:cNvSpPr txBox="1"/>
          <p:nvPr/>
        </p:nvSpPr>
        <p:spPr>
          <a:xfrm>
            <a:off x="2793901" y="3805237"/>
            <a:ext cx="1413362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&amp; technology</a:t>
            </a:r>
            <a:endParaRPr lang="en-US" sz="930" dirty="0"/>
          </a:p>
        </p:txBody>
      </p:sp>
      <p:sp>
        <p:nvSpPr>
          <p:cNvPr id="11" name="Text 9"/>
          <p:cNvSpPr txBox="1"/>
          <p:nvPr/>
        </p:nvSpPr>
        <p:spPr>
          <a:xfrm>
            <a:off x="4939407" y="3805237"/>
            <a:ext cx="70157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 · ₦4M</a:t>
            </a:r>
            <a:endParaRPr lang="en-US" sz="930" dirty="0"/>
          </a:p>
        </p:txBody>
      </p:sp>
      <p:sp>
        <p:nvSpPr>
          <p:cNvPr id="12" name="Text 10"/>
          <p:cNvSpPr txBox="1"/>
          <p:nvPr/>
        </p:nvSpPr>
        <p:spPr>
          <a:xfrm>
            <a:off x="2793901" y="4047629"/>
            <a:ext cx="1237979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Team &amp; operations</a:t>
            </a:r>
            <a:endParaRPr lang="en-US" sz="930" dirty="0"/>
          </a:p>
        </p:txBody>
      </p:sp>
      <p:sp>
        <p:nvSpPr>
          <p:cNvPr id="13" name="Text 11"/>
          <p:cNvSpPr txBox="1"/>
          <p:nvPr/>
        </p:nvSpPr>
        <p:spPr>
          <a:xfrm>
            <a:off x="4985048" y="4047629"/>
            <a:ext cx="655935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· ₦3M</a:t>
            </a:r>
            <a:endParaRPr lang="en-US" sz="930" dirty="0"/>
          </a:p>
        </p:txBody>
      </p:sp>
      <p:sp>
        <p:nvSpPr>
          <p:cNvPr id="14" name="Text 12"/>
          <p:cNvSpPr txBox="1"/>
          <p:nvPr/>
        </p:nvSpPr>
        <p:spPr>
          <a:xfrm>
            <a:off x="2793901" y="4290020"/>
            <a:ext cx="174618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Compliance &amp; contingency</a:t>
            </a:r>
            <a:endParaRPr lang="en-US" sz="930" dirty="0"/>
          </a:p>
        </p:txBody>
      </p:sp>
      <p:sp>
        <p:nvSpPr>
          <p:cNvPr id="15" name="Text 13"/>
          <p:cNvSpPr txBox="1"/>
          <p:nvPr/>
        </p:nvSpPr>
        <p:spPr>
          <a:xfrm>
            <a:off x="4969966" y="4290020"/>
            <a:ext cx="671016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9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 · ₦2M</a:t>
            </a:r>
            <a:endParaRPr lang="en-US" sz="930" dirty="0"/>
          </a:p>
        </p:txBody>
      </p:sp>
      <p:sp>
        <p:nvSpPr>
          <p:cNvPr id="16" name="Text 14"/>
          <p:cNvSpPr txBox="1"/>
          <p:nvPr/>
        </p:nvSpPr>
        <p:spPr>
          <a:xfrm>
            <a:off x="761901" y="5035153"/>
            <a:ext cx="2832033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Mentorship: marketplace ops &amp; fundraising</a:t>
            </a:r>
            <a:endParaRPr lang="en-US" sz="890" dirty="0"/>
          </a:p>
        </p:txBody>
      </p:sp>
      <p:sp>
        <p:nvSpPr>
          <p:cNvPr id="17" name="Text 15"/>
          <p:cNvSpPr txBox="1"/>
          <p:nvPr/>
        </p:nvSpPr>
        <p:spPr>
          <a:xfrm>
            <a:off x="768251" y="5429845"/>
            <a:ext cx="321348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Partnerships: logistics, payments, student unions</a:t>
            </a:r>
            <a:endParaRPr lang="en-US" sz="890" dirty="0"/>
          </a:p>
        </p:txBody>
      </p:sp>
      <p:sp>
        <p:nvSpPr>
          <p:cNvPr id="18" name="Text 16"/>
          <p:cNvSpPr txBox="1"/>
          <p:nvPr/>
        </p:nvSpPr>
        <p:spPr>
          <a:xfrm>
            <a:off x="6228060" y="970161"/>
            <a:ext cx="3986991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90" b="1" spc="330" kern="0" dirty="0">
                <a:solidFill>
                  <a:srgbClr val="FFD4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NEXT 12 MONTHS DELIVER</a:t>
            </a:r>
            <a:endParaRPr lang="en-US" sz="890" dirty="0"/>
          </a:p>
        </p:txBody>
      </p:sp>
      <p:sp>
        <p:nvSpPr>
          <p:cNvPr id="19" name="Text 17"/>
          <p:cNvSpPr txBox="1"/>
          <p:nvPr/>
        </p:nvSpPr>
        <p:spPr>
          <a:xfrm>
            <a:off x="6376591" y="1385193"/>
            <a:ext cx="89326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1,000+</a:t>
            </a:r>
            <a:endParaRPr lang="en-US" sz="1860" dirty="0"/>
          </a:p>
        </p:txBody>
      </p:sp>
      <p:sp>
        <p:nvSpPr>
          <p:cNvPr id="20" name="Text 18"/>
          <p:cNvSpPr txBox="1"/>
          <p:nvPr/>
        </p:nvSpPr>
        <p:spPr>
          <a:xfrm>
            <a:off x="6376591" y="1768673"/>
            <a:ext cx="602258" cy="25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BY MONTH 3</a:t>
            </a:r>
            <a:endParaRPr lang="en-US" sz="700" dirty="0"/>
          </a:p>
        </p:txBody>
      </p:sp>
      <p:sp>
        <p:nvSpPr>
          <p:cNvPr id="21" name="Text 19"/>
          <p:cNvSpPr txBox="1"/>
          <p:nvPr/>
        </p:nvSpPr>
        <p:spPr>
          <a:xfrm>
            <a:off x="7791351" y="1385193"/>
            <a:ext cx="91757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</a:t>
            </a:r>
            <a:endParaRPr lang="en-US" sz="1860" dirty="0"/>
          </a:p>
        </p:txBody>
      </p:sp>
      <p:sp>
        <p:nvSpPr>
          <p:cNvPr id="22" name="Text 20"/>
          <p:cNvSpPr txBox="1"/>
          <p:nvPr/>
        </p:nvSpPr>
        <p:spPr>
          <a:xfrm>
            <a:off x="7791351" y="1768673"/>
            <a:ext cx="636587" cy="25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BY MONTH 12</a:t>
            </a:r>
            <a:endParaRPr lang="en-US" sz="700" dirty="0"/>
          </a:p>
        </p:txBody>
      </p:sp>
      <p:sp>
        <p:nvSpPr>
          <p:cNvPr id="23" name="Text 21"/>
          <p:cNvSpPr txBox="1"/>
          <p:nvPr/>
        </p:nvSpPr>
        <p:spPr>
          <a:xfrm>
            <a:off x="9206111" y="1385193"/>
            <a:ext cx="6486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1,100</a:t>
            </a:r>
            <a:endParaRPr lang="en-US" sz="1860" dirty="0"/>
          </a:p>
        </p:txBody>
      </p:sp>
      <p:sp>
        <p:nvSpPr>
          <p:cNvPr id="24" name="Text 22"/>
          <p:cNvSpPr txBox="1"/>
          <p:nvPr/>
        </p:nvSpPr>
        <p:spPr>
          <a:xfrm>
            <a:off x="9206111" y="1768673"/>
            <a:ext cx="801751" cy="259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VENDORS BY MONTH 12</a:t>
            </a:r>
            <a:endParaRPr lang="en-US" sz="700" dirty="0"/>
          </a:p>
        </p:txBody>
      </p:sp>
      <p:sp>
        <p:nvSpPr>
          <p:cNvPr id="25" name="Text 23"/>
          <p:cNvSpPr txBox="1"/>
          <p:nvPr/>
        </p:nvSpPr>
        <p:spPr>
          <a:xfrm>
            <a:off x="10620871" y="1385193"/>
            <a:ext cx="57249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186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₦1M</a:t>
            </a:r>
            <a:endParaRPr lang="en-US" sz="1860" dirty="0"/>
          </a:p>
        </p:txBody>
      </p:sp>
      <p:sp>
        <p:nvSpPr>
          <p:cNvPr id="26" name="Text 24"/>
          <p:cNvSpPr txBox="1"/>
          <p:nvPr/>
        </p:nvSpPr>
        <p:spPr>
          <a:xfrm>
            <a:off x="10620871" y="1768673"/>
            <a:ext cx="779457" cy="391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333"/>
              </a:lnSpc>
              <a:buNone/>
            </a:pPr>
            <a:r>
              <a:rPr lang="en-US" sz="700" b="1" spc="8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MONTHLY REVENUE BY MONTH 12</a:t>
            </a:r>
            <a:endParaRPr lang="en-US" sz="700" dirty="0"/>
          </a:p>
        </p:txBody>
      </p:sp>
      <p:sp>
        <p:nvSpPr>
          <p:cNvPr id="27" name="Text 25"/>
          <p:cNvSpPr txBox="1"/>
          <p:nvPr/>
        </p:nvSpPr>
        <p:spPr>
          <a:xfrm>
            <a:off x="6228060" y="2390775"/>
            <a:ext cx="5909941" cy="8134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241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to find. Easier to trust. </a:t>
            </a:r>
            <a:pPr algn="l" indent="0" marL="0">
              <a:lnSpc>
                <a:spcPct val="85000"/>
              </a:lnSpc>
              <a:buNone/>
            </a:pPr>
            <a:r>
              <a:rPr lang="en-US" sz="2410" b="1" dirty="0">
                <a:solidFill>
                  <a:srgbClr val="FFC8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Easier to transact.</a:t>
            </a:r>
            <a:endParaRPr lang="en-US" sz="2410" dirty="0"/>
          </a:p>
        </p:txBody>
      </p:sp>
      <p:sp>
        <p:nvSpPr>
          <p:cNvPr id="28" name="Text 26"/>
          <p:cNvSpPr txBox="1"/>
          <p:nvPr/>
        </p:nvSpPr>
        <p:spPr>
          <a:xfrm>
            <a:off x="8137922" y="3705126"/>
            <a:ext cx="381744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1667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scan. Everything LevroMart.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8137922" y="4059634"/>
            <a:ext cx="2434554" cy="5214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500"/>
              </a:lnSpc>
              <a:buNone/>
            </a:pPr>
            <a:r>
              <a:rPr lang="en-US" sz="8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Website, Instagram, TikTok, LinkedIn, WhatsApp community and more, all on levromart.com/links.</a:t>
            </a:r>
            <a:endParaRPr lang="en-US" sz="890" dirty="0"/>
          </a:p>
        </p:txBody>
      </p:sp>
      <p:sp>
        <p:nvSpPr>
          <p:cNvPr id="30" name="Text 28"/>
          <p:cNvSpPr txBox="1"/>
          <p:nvPr/>
        </p:nvSpPr>
        <p:spPr>
          <a:xfrm>
            <a:off x="6330851" y="5181997"/>
            <a:ext cx="59342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</a:t>
            </a:r>
            <a:endParaRPr lang="en-US" sz="760" dirty="0"/>
          </a:p>
        </p:txBody>
      </p:sp>
      <p:sp>
        <p:nvSpPr>
          <p:cNvPr id="31" name="Text 29"/>
          <p:cNvSpPr txBox="1"/>
          <p:nvPr/>
        </p:nvSpPr>
        <p:spPr>
          <a:xfrm>
            <a:off x="7129859" y="5181997"/>
            <a:ext cx="404912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TikTok</a:t>
            </a:r>
            <a:endParaRPr lang="en-US" sz="760" dirty="0"/>
          </a:p>
        </p:txBody>
      </p:sp>
      <p:sp>
        <p:nvSpPr>
          <p:cNvPr id="32" name="Text 30"/>
          <p:cNvSpPr txBox="1"/>
          <p:nvPr/>
        </p:nvSpPr>
        <p:spPr>
          <a:xfrm>
            <a:off x="7740352" y="5181997"/>
            <a:ext cx="560685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Facebook</a:t>
            </a:r>
            <a:endParaRPr lang="en-US" sz="760" dirty="0"/>
          </a:p>
        </p:txBody>
      </p:sp>
      <p:sp>
        <p:nvSpPr>
          <p:cNvPr id="33" name="Text 31"/>
          <p:cNvSpPr txBox="1"/>
          <p:nvPr/>
        </p:nvSpPr>
        <p:spPr>
          <a:xfrm>
            <a:off x="8506619" y="5181997"/>
            <a:ext cx="131763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760" dirty="0"/>
          </a:p>
        </p:txBody>
      </p:sp>
      <p:sp>
        <p:nvSpPr>
          <p:cNvPr id="34" name="Text 32"/>
          <p:cNvSpPr txBox="1"/>
          <p:nvPr/>
        </p:nvSpPr>
        <p:spPr>
          <a:xfrm>
            <a:off x="8843963" y="5181997"/>
            <a:ext cx="499269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LinkedIn</a:t>
            </a:r>
            <a:endParaRPr lang="en-US" sz="760" dirty="0"/>
          </a:p>
        </p:txBody>
      </p:sp>
      <p:sp>
        <p:nvSpPr>
          <p:cNvPr id="35" name="Text 33"/>
          <p:cNvSpPr txBox="1"/>
          <p:nvPr/>
        </p:nvSpPr>
        <p:spPr>
          <a:xfrm>
            <a:off x="9548812" y="5181997"/>
            <a:ext cx="611386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WhatsApp</a:t>
            </a:r>
            <a:endParaRPr lang="en-US" sz="760" dirty="0"/>
          </a:p>
        </p:txBody>
      </p:sp>
      <p:sp>
        <p:nvSpPr>
          <p:cNvPr id="36" name="Text 34"/>
          <p:cNvSpPr txBox="1"/>
          <p:nvPr/>
        </p:nvSpPr>
        <p:spPr>
          <a:xfrm>
            <a:off x="10365780" y="5181997"/>
            <a:ext cx="530027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760" b="1" dirty="0">
                <a:solidFill>
                  <a:srgbClr val="1B0D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Substack</a:t>
            </a:r>
            <a:endParaRPr lang="en-US" sz="760" dirty="0"/>
          </a:p>
        </p:txBody>
      </p:sp>
      <p:sp>
        <p:nvSpPr>
          <p:cNvPr id="37" name="Text 35"/>
          <p:cNvSpPr txBox="1"/>
          <p:nvPr/>
        </p:nvSpPr>
        <p:spPr>
          <a:xfrm>
            <a:off x="6228060" y="5472708"/>
            <a:ext cx="4985464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6667"/>
              </a:lnSpc>
              <a:buNone/>
            </a:pPr>
            <a:r>
              <a:rPr lang="en-US" sz="79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name everywhere: @levromart · Thank you · AMSUL Business Pitch Competition 2026</a:t>
            </a:r>
            <a:endParaRPr lang="en-US" sz="790" dirty="0"/>
          </a:p>
        </p:txBody>
      </p:sp>
      <p:sp>
        <p:nvSpPr>
          <p:cNvPr id="38" name="Text 36"/>
          <p:cNvSpPr txBox="1"/>
          <p:nvPr/>
        </p:nvSpPr>
        <p:spPr>
          <a:xfrm>
            <a:off x="599281" y="6217940"/>
            <a:ext cx="888275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levromart.com</a:t>
            </a:r>
            <a:endParaRPr lang="en-US" sz="830" dirty="0"/>
          </a:p>
        </p:txBody>
      </p:sp>
      <p:sp>
        <p:nvSpPr>
          <p:cNvPr id="39" name="Text 37"/>
          <p:cNvSpPr txBox="1"/>
          <p:nvPr/>
        </p:nvSpPr>
        <p:spPr>
          <a:xfrm>
            <a:off x="10105827" y="6217940"/>
            <a:ext cx="1797358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4167"/>
              </a:lnSpc>
              <a:buNone/>
            </a:pPr>
            <a:r>
              <a:rPr lang="en-US" sz="83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LevroMart · Buy · Sell · Connect</a:t>
            </a:r>
            <a:endParaRPr lang="en-US" sz="83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LevroMart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LevroMart – AMSUL Business Pitch Competition 2026</dc:title>
  <dc:subject>PptxGenJS Presentation</dc:subject>
  <dc:creator>LevroMart</dc:creator>
  <cp:lastModifiedBy>LevroMart</cp:lastModifiedBy>
  <cp:revision>1</cp:revision>
  <dcterms:created xsi:type="dcterms:W3CDTF">2026-10-25T00:12:03Z</dcterms:created>
  <dcterms:modified xsi:type="dcterms:W3CDTF">2026-10-25T00:12:03Z</dcterms:modified>
</cp:coreProperties>
</file>