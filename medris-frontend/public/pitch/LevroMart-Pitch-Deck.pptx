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83841" y="464741"/>
            <a:ext cx="1094233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LevroMart</a:t>
            </a:r>
            <a:endParaRPr lang="en-US" sz="1440" dirty="0"/>
          </a:p>
        </p:txBody>
      </p:sp>
      <p:sp>
        <p:nvSpPr>
          <p:cNvPr id="3" name="Text 1"/>
          <p:cNvSpPr txBox="1"/>
          <p:nvPr/>
        </p:nvSpPr>
        <p:spPr>
          <a:xfrm>
            <a:off x="2058789" y="537766"/>
            <a:ext cx="18727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720" b="1" dirty="0">
                <a:solidFill>
                  <a:srgbClr val="27F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 · SELL · CONNECT</a:t>
            </a:r>
            <a:endParaRPr lang="en-US" sz="720" dirty="0"/>
          </a:p>
        </p:txBody>
      </p:sp>
      <p:sp>
        <p:nvSpPr>
          <p:cNvPr id="4" name="Text 2"/>
          <p:cNvSpPr txBox="1"/>
          <p:nvPr/>
        </p:nvSpPr>
        <p:spPr>
          <a:xfrm>
            <a:off x="9143107" y="521990"/>
            <a:ext cx="2664399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890" b="1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AMSUL Business Pitch Competition 2026</a:t>
            </a:r>
            <a:endParaRPr lang="en-US" sz="890" dirty="0"/>
          </a:p>
        </p:txBody>
      </p:sp>
      <p:sp>
        <p:nvSpPr>
          <p:cNvPr id="5" name="Text 3"/>
          <p:cNvSpPr txBox="1"/>
          <p:nvPr/>
        </p:nvSpPr>
        <p:spPr>
          <a:xfrm>
            <a:off x="406400" y="874911"/>
            <a:ext cx="6589816" cy="2687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3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what you need locally shouldn’t require </a:t>
            </a:r>
            <a:pPr algn="l" indent="0" marL="0">
              <a:lnSpc>
                <a:spcPct val="85000"/>
              </a:lnSpc>
              <a:buNone/>
            </a:pPr>
            <a:r>
              <a:rPr lang="en-US" sz="4330" b="1" dirty="0">
                <a:solidFill>
                  <a:srgbClr val="27F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remembering where you saw it.</a:t>
            </a:r>
            <a:endParaRPr lang="en-US" sz="4330" dirty="0"/>
          </a:p>
        </p:txBody>
      </p:sp>
      <p:sp>
        <p:nvSpPr>
          <p:cNvPr id="6" name="Text 4"/>
          <p:cNvSpPr txBox="1"/>
          <p:nvPr/>
        </p:nvSpPr>
        <p:spPr>
          <a:xfrm>
            <a:off x="406400" y="3627338"/>
            <a:ext cx="6614552" cy="507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10" dirty="0">
                <a:solidFill>
                  <a:srgbClr val="FFFFFF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LevroMart is the campus marketplace where students discover, trust and order from verified vendors, all in one app.</a:t>
            </a:r>
            <a:endParaRPr lang="en-US" sz="1310" dirty="0"/>
          </a:p>
        </p:txBody>
      </p:sp>
      <p:sp>
        <p:nvSpPr>
          <p:cNvPr id="7" name="Text 5"/>
          <p:cNvSpPr txBox="1"/>
          <p:nvPr/>
        </p:nvSpPr>
        <p:spPr>
          <a:xfrm>
            <a:off x="615950" y="4414044"/>
            <a:ext cx="922778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24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200+</a:t>
            </a:r>
            <a:endParaRPr lang="en-US" sz="2480" dirty="0"/>
          </a:p>
        </p:txBody>
      </p:sp>
      <p:sp>
        <p:nvSpPr>
          <p:cNvPr id="8" name="Text 6"/>
          <p:cNvSpPr txBox="1"/>
          <p:nvPr/>
        </p:nvSpPr>
        <p:spPr>
          <a:xfrm>
            <a:off x="615950" y="4881364"/>
            <a:ext cx="1515704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79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REGISTERED USERS</a:t>
            </a:r>
            <a:endParaRPr lang="en-US" sz="790" dirty="0"/>
          </a:p>
        </p:txBody>
      </p:sp>
      <p:sp>
        <p:nvSpPr>
          <p:cNvPr id="9" name="Text 7"/>
          <p:cNvSpPr txBox="1"/>
          <p:nvPr/>
        </p:nvSpPr>
        <p:spPr>
          <a:xfrm>
            <a:off x="2563316" y="4414044"/>
            <a:ext cx="676275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24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</a:t>
            </a:r>
            <a:endParaRPr lang="en-US" sz="2480" dirty="0"/>
          </a:p>
        </p:txBody>
      </p:sp>
      <p:sp>
        <p:nvSpPr>
          <p:cNvPr id="10" name="Text 8"/>
          <p:cNvSpPr txBox="1"/>
          <p:nvPr/>
        </p:nvSpPr>
        <p:spPr>
          <a:xfrm>
            <a:off x="2563316" y="4881364"/>
            <a:ext cx="1375674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79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VENDORS</a:t>
            </a:r>
            <a:endParaRPr lang="en-US" sz="790" dirty="0"/>
          </a:p>
        </p:txBody>
      </p:sp>
      <p:sp>
        <p:nvSpPr>
          <p:cNvPr id="11" name="Text 9"/>
          <p:cNvSpPr txBox="1"/>
          <p:nvPr/>
        </p:nvSpPr>
        <p:spPr>
          <a:xfrm>
            <a:off x="4379813" y="4414044"/>
            <a:ext cx="810881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24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180+</a:t>
            </a:r>
            <a:endParaRPr lang="en-US" sz="2480" dirty="0"/>
          </a:p>
        </p:txBody>
      </p:sp>
      <p:sp>
        <p:nvSpPr>
          <p:cNvPr id="12" name="Text 10"/>
          <p:cNvSpPr txBox="1"/>
          <p:nvPr/>
        </p:nvSpPr>
        <p:spPr>
          <a:xfrm>
            <a:off x="4379813" y="4881364"/>
            <a:ext cx="1123640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79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LISTINGS</a:t>
            </a:r>
            <a:endParaRPr lang="en-US" sz="790" dirty="0"/>
          </a:p>
        </p:txBody>
      </p:sp>
      <p:sp>
        <p:nvSpPr>
          <p:cNvPr id="13" name="Text 11"/>
          <p:cNvSpPr txBox="1"/>
          <p:nvPr/>
        </p:nvSpPr>
        <p:spPr>
          <a:xfrm>
            <a:off x="406400" y="5330825"/>
            <a:ext cx="611600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27F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&amp; CEO: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Kennis Dede · </a:t>
            </a:r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27F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LevroMart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(9 members) · Lagos, Nigeria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99281" y="6217940"/>
            <a:ext cx="8882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levromart.com</a:t>
            </a:r>
            <a:endParaRPr lang="en-US" sz="830" dirty="0"/>
          </a:p>
        </p:txBody>
      </p:sp>
      <p:sp>
        <p:nvSpPr>
          <p:cNvPr id="15" name="Text 13"/>
          <p:cNvSpPr txBox="1"/>
          <p:nvPr/>
        </p:nvSpPr>
        <p:spPr>
          <a:xfrm>
            <a:off x="11603137" y="6211590"/>
            <a:ext cx="233263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8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9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0641" y="521891"/>
            <a:ext cx="2695824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890" b="1" spc="330" kern="0" dirty="0">
                <a:solidFill>
                  <a:srgbClr val="8B6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&amp; THE GAP</a:t>
            </a:r>
            <a:endParaRPr lang="en-US" sz="890" dirty="0"/>
          </a:p>
        </p:txBody>
      </p:sp>
      <p:sp>
        <p:nvSpPr>
          <p:cNvPr id="3" name="Text 1"/>
          <p:cNvSpPr txBox="1"/>
          <p:nvPr/>
        </p:nvSpPr>
        <p:spPr>
          <a:xfrm>
            <a:off x="11578630" y="521990"/>
            <a:ext cx="25777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890" b="1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90" dirty="0"/>
          </a:p>
        </p:txBody>
      </p:sp>
      <p:sp>
        <p:nvSpPr>
          <p:cNvPr id="4" name="Text 2"/>
          <p:cNvSpPr txBox="1"/>
          <p:nvPr/>
        </p:nvSpPr>
        <p:spPr>
          <a:xfrm>
            <a:off x="406400" y="981571"/>
            <a:ext cx="4724938" cy="1093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300" b="1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Campus commerce is </a:t>
            </a:r>
            <a:pPr algn="l" indent="0" marL="0">
              <a:lnSpc>
                <a:spcPct val="85000"/>
              </a:lnSpc>
              <a:buNone/>
            </a:pPr>
            <a:r>
              <a:rPr lang="en-US" sz="3300" b="1" dirty="0">
                <a:solidFill>
                  <a:srgbClr val="6A3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fragmented.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567299" y="2794117"/>
            <a:ext cx="418451" cy="151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1667"/>
              </a:lnSpc>
              <a:buNone/>
            </a:pPr>
            <a:r>
              <a:rPr lang="en-US" sz="700" b="1" spc="160" kern="0" dirty="0">
                <a:solidFill>
                  <a:srgbClr val="6A3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576774" y="2890706"/>
            <a:ext cx="996370" cy="292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1667"/>
              </a:lnSpc>
              <a:buNone/>
            </a:pPr>
            <a:r>
              <a:rPr lang="en-US" sz="1240" b="1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</a:t>
            </a:r>
            <a:endParaRPr lang="en-US" sz="1240" dirty="0"/>
          </a:p>
        </p:txBody>
      </p:sp>
      <p:sp>
        <p:nvSpPr>
          <p:cNvPr id="7" name="Text 5"/>
          <p:cNvSpPr txBox="1"/>
          <p:nvPr/>
        </p:nvSpPr>
        <p:spPr>
          <a:xfrm>
            <a:off x="1700250" y="2103370"/>
            <a:ext cx="342508" cy="141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1667"/>
              </a:lnSpc>
              <a:buNone/>
            </a:pPr>
            <a:r>
              <a:rPr lang="en-US" sz="700" b="1" spc="160" kern="0" dirty="0">
                <a:solidFill>
                  <a:srgbClr val="6A3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DMS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1687824" y="2239014"/>
            <a:ext cx="961774" cy="274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1667"/>
              </a:lnSpc>
              <a:buNone/>
            </a:pPr>
            <a:r>
              <a:rPr lang="en-US" sz="1240" b="1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</a:t>
            </a:r>
            <a:endParaRPr lang="en-US" sz="1240" dirty="0"/>
          </a:p>
        </p:txBody>
      </p:sp>
      <p:sp>
        <p:nvSpPr>
          <p:cNvPr id="9" name="Text 7"/>
          <p:cNvSpPr txBox="1"/>
          <p:nvPr/>
        </p:nvSpPr>
        <p:spPr>
          <a:xfrm>
            <a:off x="3011254" y="2779165"/>
            <a:ext cx="681020" cy="148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1667"/>
              </a:lnSpc>
              <a:buNone/>
            </a:pPr>
            <a:r>
              <a:rPr lang="en-US" sz="700" b="1" spc="160" kern="0" dirty="0">
                <a:solidFill>
                  <a:srgbClr val="6A3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SCROLL…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3015994" y="2908468"/>
            <a:ext cx="875580" cy="256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1667"/>
              </a:lnSpc>
              <a:buNone/>
            </a:pPr>
            <a:r>
              <a:rPr lang="en-US" sz="1240" b="1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 chats</a:t>
            </a:r>
            <a:endParaRPr lang="en-US" sz="1240" dirty="0"/>
          </a:p>
        </p:txBody>
      </p:sp>
      <p:sp>
        <p:nvSpPr>
          <p:cNvPr id="11" name="Text 9"/>
          <p:cNvSpPr txBox="1"/>
          <p:nvPr/>
        </p:nvSpPr>
        <p:spPr>
          <a:xfrm>
            <a:off x="3937693" y="2073759"/>
            <a:ext cx="962417" cy="188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1667"/>
              </a:lnSpc>
              <a:buNone/>
            </a:pPr>
            <a:r>
              <a:rPr lang="en-US" sz="700" b="1" spc="160" kern="0" dirty="0">
                <a:solidFill>
                  <a:srgbClr val="6A3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“ASK TUNDE”</a:t>
            </a:r>
            <a:endParaRPr lang="en-US" sz="700" dirty="0"/>
          </a:p>
        </p:txBody>
      </p:sp>
      <p:sp>
        <p:nvSpPr>
          <p:cNvPr id="12" name="Text 10"/>
          <p:cNvSpPr txBox="1"/>
          <p:nvPr/>
        </p:nvSpPr>
        <p:spPr>
          <a:xfrm>
            <a:off x="3921131" y="2209258"/>
            <a:ext cx="1640487" cy="334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1667"/>
              </a:lnSpc>
              <a:buNone/>
            </a:pPr>
            <a:r>
              <a:rPr lang="en-US" sz="1240" b="1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contacts</a:t>
            </a:r>
            <a:endParaRPr lang="en-US" sz="1240" dirty="0"/>
          </a:p>
        </p:txBody>
      </p:sp>
      <p:sp>
        <p:nvSpPr>
          <p:cNvPr id="13" name="Text 11"/>
          <p:cNvSpPr txBox="1"/>
          <p:nvPr/>
        </p:nvSpPr>
        <p:spPr>
          <a:xfrm>
            <a:off x="5345465" y="2727621"/>
            <a:ext cx="862470" cy="1687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1667"/>
              </a:lnSpc>
              <a:buNone/>
            </a:pPr>
            <a:r>
              <a:rPr lang="en-US" sz="700" b="1" spc="160" kern="0" dirty="0">
                <a:solidFill>
                  <a:srgbClr val="6A3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 HEARD…”</a:t>
            </a:r>
            <a:endParaRPr lang="en-US" sz="700" dirty="0"/>
          </a:p>
        </p:txBody>
      </p:sp>
      <p:sp>
        <p:nvSpPr>
          <p:cNvPr id="14" name="Text 12"/>
          <p:cNvSpPr txBox="1"/>
          <p:nvPr/>
        </p:nvSpPr>
        <p:spPr>
          <a:xfrm>
            <a:off x="5352574" y="2838548"/>
            <a:ext cx="1372808" cy="2948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1667"/>
              </a:lnSpc>
              <a:buNone/>
            </a:pPr>
            <a:r>
              <a:rPr lang="en-US" sz="1240" b="1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of mouth</a:t>
            </a:r>
            <a:endParaRPr lang="en-US" sz="1240" dirty="0"/>
          </a:p>
        </p:txBody>
      </p:sp>
      <p:sp>
        <p:nvSpPr>
          <p:cNvPr id="15" name="Text 13"/>
          <p:cNvSpPr txBox="1"/>
          <p:nvPr/>
        </p:nvSpPr>
        <p:spPr>
          <a:xfrm>
            <a:off x="406400" y="3571677"/>
            <a:ext cx="324182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2060" b="1" dirty="0">
                <a:solidFill>
                  <a:srgbClr val="6A3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“Who sells this again?”</a:t>
            </a:r>
            <a:endParaRPr lang="en-US" sz="2060" dirty="0"/>
          </a:p>
        </p:txBody>
      </p:sp>
      <p:sp>
        <p:nvSpPr>
          <p:cNvPr id="16" name="Text 14"/>
          <p:cNvSpPr txBox="1"/>
          <p:nvPr/>
        </p:nvSpPr>
        <p:spPr>
          <a:xfrm>
            <a:off x="544810" y="4639667"/>
            <a:ext cx="157823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1170" b="1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to find &amp; trust</a:t>
            </a:r>
            <a:endParaRPr lang="en-US" sz="1170" dirty="0"/>
          </a:p>
        </p:txBody>
      </p:sp>
      <p:sp>
        <p:nvSpPr>
          <p:cNvPr id="17" name="Text 15"/>
          <p:cNvSpPr txBox="1"/>
          <p:nvPr/>
        </p:nvSpPr>
        <p:spPr>
          <a:xfrm>
            <a:off x="544810" y="4912717"/>
            <a:ext cx="1742683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860" dirty="0">
                <a:solidFill>
                  <a:srgbClr val="5B4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Outdated info, lost chats and unanswered messages hide good vendors.</a:t>
            </a:r>
            <a:endParaRPr lang="en-US" sz="860" dirty="0"/>
          </a:p>
        </p:txBody>
      </p:sp>
      <p:sp>
        <p:nvSpPr>
          <p:cNvPr id="18" name="Text 16"/>
          <p:cNvSpPr txBox="1"/>
          <p:nvPr/>
        </p:nvSpPr>
        <p:spPr>
          <a:xfrm>
            <a:off x="2725738" y="4639667"/>
            <a:ext cx="1856172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1170" b="1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Vendors have no home</a:t>
            </a:r>
            <a:endParaRPr lang="en-US" sz="1170" dirty="0"/>
          </a:p>
        </p:txBody>
      </p:sp>
      <p:sp>
        <p:nvSpPr>
          <p:cNvPr id="19" name="Text 17"/>
          <p:cNvSpPr txBox="1"/>
          <p:nvPr/>
        </p:nvSpPr>
        <p:spPr>
          <a:xfrm>
            <a:off x="2725738" y="4912717"/>
            <a:ext cx="1680365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860" dirty="0">
                <a:solidFill>
                  <a:srgbClr val="5B4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sellers run on status updates: no storefront, no order tracking.</a:t>
            </a:r>
            <a:endParaRPr lang="en-US" sz="860" dirty="0"/>
          </a:p>
        </p:txBody>
      </p:sp>
      <p:sp>
        <p:nvSpPr>
          <p:cNvPr id="20" name="Text 18"/>
          <p:cNvSpPr txBox="1"/>
          <p:nvPr/>
        </p:nvSpPr>
        <p:spPr>
          <a:xfrm>
            <a:off x="4906764" y="4639667"/>
            <a:ext cx="1243287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1170" b="1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structure or recourse</a:t>
            </a:r>
            <a:endParaRPr lang="en-US" sz="1170" dirty="0"/>
          </a:p>
        </p:txBody>
      </p:sp>
      <p:sp>
        <p:nvSpPr>
          <p:cNvPr id="21" name="Text 19"/>
          <p:cNvSpPr txBox="1"/>
          <p:nvPr/>
        </p:nvSpPr>
        <p:spPr>
          <a:xfrm>
            <a:off x="4906764" y="5128617"/>
            <a:ext cx="1812858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860" dirty="0">
                <a:solidFill>
                  <a:srgbClr val="5B4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Payments, delivery and disputes happen off-platform, with no record.</a:t>
            </a:r>
            <a:endParaRPr lang="en-US" sz="860" dirty="0"/>
          </a:p>
        </p:txBody>
      </p:sp>
      <p:sp>
        <p:nvSpPr>
          <p:cNvPr id="22" name="Text 20"/>
          <p:cNvSpPr txBox="1"/>
          <p:nvPr/>
        </p:nvSpPr>
        <p:spPr>
          <a:xfrm>
            <a:off x="7321550" y="1189930"/>
            <a:ext cx="33174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830" b="1" spc="230" kern="0" dirty="0">
                <a:solidFill>
                  <a:srgbClr val="8B6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WE SERVE &amp; THE OPPORTUNITY</a:t>
            </a:r>
            <a:endParaRPr lang="en-US" sz="830" dirty="0"/>
          </a:p>
        </p:txBody>
      </p:sp>
      <p:sp>
        <p:nvSpPr>
          <p:cNvPr id="23" name="Text 21"/>
          <p:cNvSpPr txBox="1"/>
          <p:nvPr/>
        </p:nvSpPr>
        <p:spPr>
          <a:xfrm>
            <a:off x="7321550" y="1443930"/>
            <a:ext cx="106026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2340" b="1" dirty="0">
                <a:solidFill>
                  <a:srgbClr val="6A3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100K+</a:t>
            </a:r>
            <a:endParaRPr lang="en-US" sz="2340" dirty="0"/>
          </a:p>
        </p:txBody>
      </p:sp>
      <p:sp>
        <p:nvSpPr>
          <p:cNvPr id="24" name="Text 22"/>
          <p:cNvSpPr txBox="1"/>
          <p:nvPr/>
        </p:nvSpPr>
        <p:spPr>
          <a:xfrm>
            <a:off x="9660638" y="1647130"/>
            <a:ext cx="1915412" cy="349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4167"/>
              </a:lnSpc>
              <a:buNone/>
            </a:pPr>
            <a:r>
              <a:rPr lang="en-US" sz="930" b="1" dirty="0">
                <a:solidFill>
                  <a:srgbClr val="5B4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in Lagos (UNILAG &amp; LASU alone)</a:t>
            </a:r>
            <a:endParaRPr lang="en-US" sz="930" dirty="0"/>
          </a:p>
        </p:txBody>
      </p:sp>
      <p:sp>
        <p:nvSpPr>
          <p:cNvPr id="25" name="Text 23"/>
          <p:cNvSpPr txBox="1"/>
          <p:nvPr/>
        </p:nvSpPr>
        <p:spPr>
          <a:xfrm>
            <a:off x="7321550" y="2185392"/>
            <a:ext cx="1049007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2340" b="1" dirty="0">
                <a:solidFill>
                  <a:srgbClr val="6A3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≈2.5M</a:t>
            </a:r>
            <a:endParaRPr lang="en-US" sz="2340" dirty="0"/>
          </a:p>
        </p:txBody>
      </p:sp>
      <p:sp>
        <p:nvSpPr>
          <p:cNvPr id="26" name="Text 24"/>
          <p:cNvSpPr txBox="1"/>
          <p:nvPr/>
        </p:nvSpPr>
        <p:spPr>
          <a:xfrm>
            <a:off x="9902480" y="2388592"/>
            <a:ext cx="1673570" cy="349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4167"/>
              </a:lnSpc>
              <a:buNone/>
            </a:pPr>
            <a:r>
              <a:rPr lang="en-US" sz="930" b="1" dirty="0">
                <a:solidFill>
                  <a:srgbClr val="5B4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across Nigeria’s tertiary institutions</a:t>
            </a:r>
            <a:endParaRPr lang="en-US" sz="930" dirty="0"/>
          </a:p>
        </p:txBody>
      </p:sp>
      <p:sp>
        <p:nvSpPr>
          <p:cNvPr id="27" name="Text 25"/>
          <p:cNvSpPr txBox="1"/>
          <p:nvPr/>
        </p:nvSpPr>
        <p:spPr>
          <a:xfrm>
            <a:off x="7321550" y="2926854"/>
            <a:ext cx="896768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2340" b="1" dirty="0">
                <a:solidFill>
                  <a:srgbClr val="6A3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≈14M</a:t>
            </a:r>
            <a:endParaRPr lang="en-US" sz="2340" dirty="0"/>
          </a:p>
        </p:txBody>
      </p:sp>
      <p:sp>
        <p:nvSpPr>
          <p:cNvPr id="28" name="Text 26"/>
          <p:cNvSpPr txBox="1"/>
          <p:nvPr/>
        </p:nvSpPr>
        <p:spPr>
          <a:xfrm>
            <a:off x="9719028" y="3130054"/>
            <a:ext cx="1857022" cy="349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4167"/>
              </a:lnSpc>
              <a:buNone/>
            </a:pPr>
            <a:r>
              <a:rPr lang="en-US" sz="930" b="1" dirty="0">
                <a:solidFill>
                  <a:srgbClr val="5B4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in Africa: the long-term horizon</a:t>
            </a:r>
            <a:endParaRPr lang="en-US" sz="930" dirty="0"/>
          </a:p>
        </p:txBody>
      </p:sp>
      <p:sp>
        <p:nvSpPr>
          <p:cNvPr id="29" name="Text 27"/>
          <p:cNvSpPr txBox="1"/>
          <p:nvPr/>
        </p:nvSpPr>
        <p:spPr>
          <a:xfrm>
            <a:off x="7321550" y="3668316"/>
            <a:ext cx="1150818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2340" b="1" dirty="0">
                <a:solidFill>
                  <a:srgbClr val="6A3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₦10.8B</a:t>
            </a:r>
            <a:endParaRPr lang="en-US" sz="2340" dirty="0"/>
          </a:p>
        </p:txBody>
      </p:sp>
      <p:sp>
        <p:nvSpPr>
          <p:cNvPr id="30" name="Text 28"/>
          <p:cNvSpPr txBox="1"/>
          <p:nvPr/>
        </p:nvSpPr>
        <p:spPr>
          <a:xfrm>
            <a:off x="9410091" y="3871516"/>
            <a:ext cx="2165959" cy="349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4167"/>
              </a:lnSpc>
              <a:buNone/>
            </a:pPr>
            <a:r>
              <a:rPr lang="en-US" sz="930" b="1" dirty="0">
                <a:solidFill>
                  <a:srgbClr val="5B4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yearly revenue pool in Nigeria at a 3% take rate*</a:t>
            </a:r>
            <a:endParaRPr lang="en-US" sz="930" dirty="0"/>
          </a:p>
        </p:txBody>
      </p:sp>
      <p:sp>
        <p:nvSpPr>
          <p:cNvPr id="31" name="Text 29"/>
          <p:cNvSpPr txBox="1"/>
          <p:nvPr/>
        </p:nvSpPr>
        <p:spPr>
          <a:xfrm>
            <a:off x="7321550" y="4409777"/>
            <a:ext cx="4481185" cy="636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790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Buyers: students &amp; the campus community. Sellers: student vendors and small campus businesses. *Assumes ₦12,000 spent per student per month through vendors (≈₦360B a year). Enrolment: NUC (2018), UNESCO/World Bank; UNILAG and LASU published figures.</a:t>
            </a:r>
            <a:endParaRPr lang="en-US" sz="790" dirty="0"/>
          </a:p>
        </p:txBody>
      </p:sp>
      <p:sp>
        <p:nvSpPr>
          <p:cNvPr id="32" name="Text 30"/>
          <p:cNvSpPr txBox="1"/>
          <p:nvPr/>
        </p:nvSpPr>
        <p:spPr>
          <a:xfrm>
            <a:off x="599281" y="6217940"/>
            <a:ext cx="8882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830" b="1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levromart.com</a:t>
            </a:r>
            <a:endParaRPr lang="en-US" sz="830" dirty="0"/>
          </a:p>
        </p:txBody>
      </p:sp>
      <p:sp>
        <p:nvSpPr>
          <p:cNvPr id="33" name="Text 31"/>
          <p:cNvSpPr txBox="1"/>
          <p:nvPr/>
        </p:nvSpPr>
        <p:spPr>
          <a:xfrm>
            <a:off x="8862814" y="6217940"/>
            <a:ext cx="312738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830" b="1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LevroMart · AMSUL Business Pitch Competition 2026</a:t>
            </a:r>
            <a:endParaRPr lang="en-US" sz="8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0641" y="521891"/>
            <a:ext cx="1585136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890" b="1" spc="330" kern="0" dirty="0">
                <a:solidFill>
                  <a:srgbClr val="27F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890" dirty="0"/>
          </a:p>
        </p:txBody>
      </p:sp>
      <p:sp>
        <p:nvSpPr>
          <p:cNvPr id="3" name="Text 1"/>
          <p:cNvSpPr txBox="1"/>
          <p:nvPr/>
        </p:nvSpPr>
        <p:spPr>
          <a:xfrm>
            <a:off x="11579523" y="521990"/>
            <a:ext cx="256877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8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90" dirty="0"/>
          </a:p>
        </p:txBody>
      </p:sp>
      <p:sp>
        <p:nvSpPr>
          <p:cNvPr id="4" name="Text 2"/>
          <p:cNvSpPr txBox="1"/>
          <p:nvPr/>
        </p:nvSpPr>
        <p:spPr>
          <a:xfrm>
            <a:off x="406400" y="991691"/>
            <a:ext cx="3785280" cy="615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</a:t>
            </a:r>
            <a:pPr algn="l" indent="0" marL="0">
              <a:lnSpc>
                <a:spcPct val="85000"/>
              </a:lnSpc>
              <a:buNone/>
            </a:pPr>
            <a:r>
              <a:rPr lang="en-US" sz="3300" b="1" dirty="0">
                <a:solidFill>
                  <a:srgbClr val="27F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LevroMart.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406400" y="1667570"/>
            <a:ext cx="5107659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70" dirty="0">
                <a:solidFill>
                  <a:srgbClr val="FFFFFF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structured place for the whole campus commerce journey.</a:t>
            </a:r>
            <a:endParaRPr lang="en-US" sz="1170" dirty="0"/>
          </a:p>
        </p:txBody>
      </p:sp>
      <p:sp>
        <p:nvSpPr>
          <p:cNvPr id="6" name="Text 4"/>
          <p:cNvSpPr txBox="1"/>
          <p:nvPr/>
        </p:nvSpPr>
        <p:spPr>
          <a:xfrm>
            <a:off x="1134070" y="2139454"/>
            <a:ext cx="85908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13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</a:t>
            </a:r>
            <a:endParaRPr lang="en-US" sz="1380" dirty="0"/>
          </a:p>
        </p:txBody>
      </p:sp>
      <p:sp>
        <p:nvSpPr>
          <p:cNvPr id="7" name="Text 5"/>
          <p:cNvSpPr txBox="1"/>
          <p:nvPr/>
        </p:nvSpPr>
        <p:spPr>
          <a:xfrm>
            <a:off x="1134070" y="2393454"/>
            <a:ext cx="4189871" cy="336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8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Products, services, rentals and packages from vendors near you, by campus, category or map.</a:t>
            </a:r>
            <a:endParaRPr lang="en-US" sz="890" dirty="0"/>
          </a:p>
        </p:txBody>
      </p:sp>
      <p:sp>
        <p:nvSpPr>
          <p:cNvPr id="8" name="Text 6"/>
          <p:cNvSpPr txBox="1"/>
          <p:nvPr/>
        </p:nvSpPr>
        <p:spPr>
          <a:xfrm>
            <a:off x="1134070" y="3023592"/>
            <a:ext cx="81480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13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</a:t>
            </a:r>
            <a:endParaRPr lang="en-US" sz="1380" dirty="0"/>
          </a:p>
        </p:txBody>
      </p:sp>
      <p:sp>
        <p:nvSpPr>
          <p:cNvPr id="9" name="Text 7"/>
          <p:cNvSpPr txBox="1"/>
          <p:nvPr/>
        </p:nvSpPr>
        <p:spPr>
          <a:xfrm>
            <a:off x="1134070" y="3277592"/>
            <a:ext cx="4304740" cy="336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8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vendor storefronts, in-app chat and negotiation. Follow your favourites.</a:t>
            </a:r>
            <a:endParaRPr lang="en-US" sz="890" dirty="0"/>
          </a:p>
        </p:txBody>
      </p:sp>
      <p:sp>
        <p:nvSpPr>
          <p:cNvPr id="10" name="Text 8"/>
          <p:cNvSpPr txBox="1"/>
          <p:nvPr/>
        </p:nvSpPr>
        <p:spPr>
          <a:xfrm>
            <a:off x="1134070" y="3907730"/>
            <a:ext cx="86544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13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</a:t>
            </a:r>
            <a:endParaRPr lang="en-US" sz="1380" dirty="0"/>
          </a:p>
        </p:txBody>
      </p:sp>
      <p:sp>
        <p:nvSpPr>
          <p:cNvPr id="11" name="Text 9"/>
          <p:cNvSpPr txBox="1"/>
          <p:nvPr/>
        </p:nvSpPr>
        <p:spPr>
          <a:xfrm>
            <a:off x="1134070" y="4161730"/>
            <a:ext cx="4354001" cy="336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8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Order, pay, track and rate, with a record and a dispute process behind every sale.</a:t>
            </a:r>
            <a:endParaRPr lang="en-US" sz="890" dirty="0"/>
          </a:p>
        </p:txBody>
      </p:sp>
      <p:sp>
        <p:nvSpPr>
          <p:cNvPr id="12" name="Text 10"/>
          <p:cNvSpPr txBox="1"/>
          <p:nvPr/>
        </p:nvSpPr>
        <p:spPr>
          <a:xfrm>
            <a:off x="7477657" y="1062831"/>
            <a:ext cx="902819" cy="285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167"/>
              </a:lnSpc>
              <a:buNone/>
            </a:pPr>
            <a:r>
              <a:rPr lang="en-US" sz="760" b="1" spc="1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/ IG</a:t>
            </a:r>
            <a:endParaRPr lang="en-US" sz="760" dirty="0"/>
          </a:p>
        </p:txBody>
      </p:sp>
      <p:sp>
        <p:nvSpPr>
          <p:cNvPr id="13" name="Text 11"/>
          <p:cNvSpPr txBox="1"/>
          <p:nvPr/>
        </p:nvSpPr>
        <p:spPr>
          <a:xfrm>
            <a:off x="8695502" y="1062831"/>
            <a:ext cx="880525" cy="285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167"/>
              </a:lnSpc>
              <a:buNone/>
            </a:pPr>
            <a:r>
              <a:rPr lang="en-US" sz="760" b="1" spc="1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E-COMMERCE</a:t>
            </a:r>
            <a:endParaRPr lang="en-US" sz="760" dirty="0"/>
          </a:p>
        </p:txBody>
      </p:sp>
      <p:sp>
        <p:nvSpPr>
          <p:cNvPr id="14" name="Text 12"/>
          <p:cNvSpPr txBox="1"/>
          <p:nvPr/>
        </p:nvSpPr>
        <p:spPr>
          <a:xfrm>
            <a:off x="9853975" y="1202432"/>
            <a:ext cx="941357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167"/>
              </a:lnSpc>
              <a:buNone/>
            </a:pPr>
            <a:r>
              <a:rPr lang="en-US" sz="760" b="1" spc="1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CLASSIFIEDS</a:t>
            </a:r>
            <a:endParaRPr lang="en-US" sz="760" dirty="0"/>
          </a:p>
        </p:txBody>
      </p:sp>
      <p:sp>
        <p:nvSpPr>
          <p:cNvPr id="15" name="Text 13"/>
          <p:cNvSpPr txBox="1"/>
          <p:nvPr/>
        </p:nvSpPr>
        <p:spPr>
          <a:xfrm>
            <a:off x="10857043" y="1202432"/>
            <a:ext cx="896874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167"/>
              </a:lnSpc>
              <a:buNone/>
            </a:pPr>
            <a:r>
              <a:rPr lang="en-US" sz="760" b="1" spc="1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LEVROMART</a:t>
            </a:r>
            <a:endParaRPr lang="en-US" sz="760" dirty="0"/>
          </a:p>
        </p:txBody>
      </p:sp>
      <p:sp>
        <p:nvSpPr>
          <p:cNvPr id="16" name="Text 14"/>
          <p:cNvSpPr txBox="1"/>
          <p:nvPr/>
        </p:nvSpPr>
        <p:spPr>
          <a:xfrm>
            <a:off x="5933380" y="1496913"/>
            <a:ext cx="1034038" cy="349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Campus-aware discovery</a:t>
            </a:r>
            <a:endParaRPr lang="en-US" sz="930" dirty="0"/>
          </a:p>
        </p:txBody>
      </p:sp>
      <p:sp>
        <p:nvSpPr>
          <p:cNvPr id="17" name="Text 15"/>
          <p:cNvSpPr txBox="1"/>
          <p:nvPr/>
        </p:nvSpPr>
        <p:spPr>
          <a:xfrm>
            <a:off x="8970863" y="1582539"/>
            <a:ext cx="329704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167"/>
              </a:lnSpc>
              <a:buNone/>
            </a:pPr>
            <a:r>
              <a:rPr lang="en-US" sz="930" b="1" dirty="0">
                <a:solidFill>
                  <a:srgbClr val="FFC8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</a:t>
            </a:r>
            <a:endParaRPr lang="en-US" sz="930" dirty="0"/>
          </a:p>
        </p:txBody>
      </p:sp>
      <p:sp>
        <p:nvSpPr>
          <p:cNvPr id="18" name="Text 16"/>
          <p:cNvSpPr txBox="1"/>
          <p:nvPr/>
        </p:nvSpPr>
        <p:spPr>
          <a:xfrm>
            <a:off x="10159802" y="1582539"/>
            <a:ext cx="329704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167"/>
              </a:lnSpc>
              <a:buNone/>
            </a:pPr>
            <a:r>
              <a:rPr lang="en-US" sz="930" b="1" dirty="0">
                <a:solidFill>
                  <a:srgbClr val="FFC8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</a:t>
            </a:r>
            <a:endParaRPr lang="en-US" sz="930" dirty="0"/>
          </a:p>
        </p:txBody>
      </p:sp>
      <p:sp>
        <p:nvSpPr>
          <p:cNvPr id="19" name="Text 17"/>
          <p:cNvSpPr txBox="1"/>
          <p:nvPr/>
        </p:nvSpPr>
        <p:spPr>
          <a:xfrm>
            <a:off x="5933380" y="2052340"/>
            <a:ext cx="1081918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vendors</a:t>
            </a:r>
            <a:endParaRPr lang="en-US" sz="930" dirty="0"/>
          </a:p>
        </p:txBody>
      </p:sp>
      <p:sp>
        <p:nvSpPr>
          <p:cNvPr id="20" name="Text 18"/>
          <p:cNvSpPr txBox="1"/>
          <p:nvPr/>
        </p:nvSpPr>
        <p:spPr>
          <a:xfrm>
            <a:off x="5933380" y="2436515"/>
            <a:ext cx="1209633" cy="349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Storefront + order tracking</a:t>
            </a:r>
            <a:endParaRPr lang="en-US" sz="930" dirty="0"/>
          </a:p>
        </p:txBody>
      </p:sp>
      <p:sp>
        <p:nvSpPr>
          <p:cNvPr id="21" name="Text 19"/>
          <p:cNvSpPr txBox="1"/>
          <p:nvPr/>
        </p:nvSpPr>
        <p:spPr>
          <a:xfrm>
            <a:off x="5933380" y="2969716"/>
            <a:ext cx="1460818" cy="349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&amp; negotiation in-app</a:t>
            </a:r>
            <a:endParaRPr lang="en-US" sz="930" dirty="0"/>
          </a:p>
        </p:txBody>
      </p:sp>
      <p:sp>
        <p:nvSpPr>
          <p:cNvPr id="22" name="Text 20"/>
          <p:cNvSpPr txBox="1"/>
          <p:nvPr/>
        </p:nvSpPr>
        <p:spPr>
          <a:xfrm>
            <a:off x="10159802" y="3055342"/>
            <a:ext cx="329704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167"/>
              </a:lnSpc>
              <a:buNone/>
            </a:pPr>
            <a:r>
              <a:rPr lang="en-US" sz="930" b="1" dirty="0">
                <a:solidFill>
                  <a:srgbClr val="FFC8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</a:t>
            </a:r>
            <a:endParaRPr lang="en-US" sz="930" dirty="0"/>
          </a:p>
        </p:txBody>
      </p:sp>
      <p:sp>
        <p:nvSpPr>
          <p:cNvPr id="23" name="Text 21"/>
          <p:cNvSpPr txBox="1"/>
          <p:nvPr/>
        </p:nvSpPr>
        <p:spPr>
          <a:xfrm>
            <a:off x="5933380" y="3502918"/>
            <a:ext cx="1416122" cy="349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an item from vendors</a:t>
            </a:r>
            <a:endParaRPr lang="en-US" sz="930" dirty="0"/>
          </a:p>
        </p:txBody>
      </p:sp>
      <p:sp>
        <p:nvSpPr>
          <p:cNvPr id="24" name="Text 22"/>
          <p:cNvSpPr txBox="1"/>
          <p:nvPr/>
        </p:nvSpPr>
        <p:spPr>
          <a:xfrm>
            <a:off x="5831780" y="4053880"/>
            <a:ext cx="3553948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7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yes · “Part” = partly · ✕ no. Our assessment of typical features.</a:t>
            </a:r>
            <a:endParaRPr lang="en-US" sz="790" dirty="0"/>
          </a:p>
        </p:txBody>
      </p:sp>
      <p:sp>
        <p:nvSpPr>
          <p:cNvPr id="25" name="Text 23"/>
          <p:cNvSpPr txBox="1"/>
          <p:nvPr/>
        </p:nvSpPr>
        <p:spPr>
          <a:xfrm>
            <a:off x="534591" y="5488384"/>
            <a:ext cx="1149544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an item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534591" y="5708055"/>
            <a:ext cx="2010960" cy="275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7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Can’t find it? Post a request; vendors in that sector who opt in send you offers.</a:t>
            </a:r>
            <a:endParaRPr lang="en-US" sz="740" dirty="0"/>
          </a:p>
        </p:txBody>
      </p:sp>
      <p:sp>
        <p:nvSpPr>
          <p:cNvPr id="27" name="Text 25"/>
          <p:cNvSpPr txBox="1"/>
          <p:nvPr/>
        </p:nvSpPr>
        <p:spPr>
          <a:xfrm>
            <a:off x="2830711" y="5488384"/>
            <a:ext cx="1414742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of the Week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2830711" y="5708055"/>
            <a:ext cx="1900655" cy="275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7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free week of promotion for the top vendor. Our live growth campaign.</a:t>
            </a:r>
            <a:endParaRPr lang="en-US" sz="740" dirty="0"/>
          </a:p>
        </p:txBody>
      </p:sp>
      <p:sp>
        <p:nvSpPr>
          <p:cNvPr id="29" name="Text 27"/>
          <p:cNvSpPr txBox="1"/>
          <p:nvPr/>
        </p:nvSpPr>
        <p:spPr>
          <a:xfrm>
            <a:off x="5126831" y="5488384"/>
            <a:ext cx="1176935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your price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5126831" y="5708055"/>
            <a:ext cx="2040261" cy="275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7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Negotiable listings, rentals and services booked in the same app.</a:t>
            </a:r>
            <a:endParaRPr lang="en-US" sz="740" dirty="0"/>
          </a:p>
        </p:txBody>
      </p:sp>
      <p:sp>
        <p:nvSpPr>
          <p:cNvPr id="31" name="Text 29"/>
          <p:cNvSpPr txBox="1"/>
          <p:nvPr/>
        </p:nvSpPr>
        <p:spPr>
          <a:xfrm>
            <a:off x="7423051" y="5488384"/>
            <a:ext cx="1302739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Levi, our assistant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7423051" y="5708055"/>
            <a:ext cx="1865303" cy="275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7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 helper that finds products and answers questions.</a:t>
            </a:r>
            <a:endParaRPr lang="en-US" sz="740" dirty="0"/>
          </a:p>
        </p:txBody>
      </p:sp>
      <p:sp>
        <p:nvSpPr>
          <p:cNvPr id="33" name="Text 31"/>
          <p:cNvSpPr txBox="1"/>
          <p:nvPr/>
        </p:nvSpPr>
        <p:spPr>
          <a:xfrm>
            <a:off x="9719171" y="5488384"/>
            <a:ext cx="1107079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Promos coming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9719171" y="5708055"/>
            <a:ext cx="1938343" cy="275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7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offers and referral rewards to grow buyers and sales.</a:t>
            </a:r>
            <a:endParaRPr lang="en-US" sz="740" dirty="0"/>
          </a:p>
        </p:txBody>
      </p:sp>
      <p:sp>
        <p:nvSpPr>
          <p:cNvPr id="35" name="Text 33"/>
          <p:cNvSpPr txBox="1"/>
          <p:nvPr/>
        </p:nvSpPr>
        <p:spPr>
          <a:xfrm>
            <a:off x="599281" y="6217940"/>
            <a:ext cx="8882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levromart.com</a:t>
            </a:r>
            <a:endParaRPr lang="en-US" sz="830" dirty="0"/>
          </a:p>
        </p:txBody>
      </p:sp>
      <p:sp>
        <p:nvSpPr>
          <p:cNvPr id="36" name="Text 34"/>
          <p:cNvSpPr txBox="1"/>
          <p:nvPr/>
        </p:nvSpPr>
        <p:spPr>
          <a:xfrm>
            <a:off x="8862814" y="6217940"/>
            <a:ext cx="312738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LevroMart · AMSUL Business Pitch Competition 2026</a:t>
            </a:r>
            <a:endParaRPr lang="en-US" sz="8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0641" y="521891"/>
            <a:ext cx="2444746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890" b="1" spc="330" kern="0" dirty="0">
                <a:solidFill>
                  <a:srgbClr val="8B6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MVP · LIVE TODAY</a:t>
            </a:r>
            <a:endParaRPr lang="en-US" sz="890" dirty="0"/>
          </a:p>
        </p:txBody>
      </p:sp>
      <p:sp>
        <p:nvSpPr>
          <p:cNvPr id="3" name="Text 1"/>
          <p:cNvSpPr txBox="1"/>
          <p:nvPr/>
        </p:nvSpPr>
        <p:spPr>
          <a:xfrm>
            <a:off x="11573768" y="521990"/>
            <a:ext cx="262632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890" b="1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90" dirty="0"/>
          </a:p>
        </p:txBody>
      </p:sp>
      <p:sp>
        <p:nvSpPr>
          <p:cNvPr id="4" name="Text 2"/>
          <p:cNvSpPr txBox="1"/>
          <p:nvPr/>
        </p:nvSpPr>
        <p:spPr>
          <a:xfrm>
            <a:off x="6604000" y="1284089"/>
            <a:ext cx="4880893" cy="104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160" b="1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product, </a:t>
            </a:r>
            <a:pPr algn="l" indent="0" marL="0">
              <a:lnSpc>
                <a:spcPct val="85000"/>
              </a:lnSpc>
              <a:buNone/>
            </a:pPr>
            <a:r>
              <a:rPr lang="en-US" sz="3160" b="1" dirty="0">
                <a:solidFill>
                  <a:srgbClr val="6A3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live.</a:t>
            </a:r>
            <a:endParaRPr lang="en-US" sz="3160" dirty="0"/>
          </a:p>
        </p:txBody>
      </p:sp>
      <p:sp>
        <p:nvSpPr>
          <p:cNvPr id="5" name="Text 3"/>
          <p:cNvSpPr txBox="1"/>
          <p:nvPr/>
        </p:nvSpPr>
        <p:spPr>
          <a:xfrm>
            <a:off x="6604000" y="2418259"/>
            <a:ext cx="4984297" cy="507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10" dirty="0">
                <a:solidFill>
                  <a:srgbClr val="5B4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and vendors are using it now. Tap through the screens to see what they see.</a:t>
            </a:r>
            <a:endParaRPr lang="en-US" sz="1310" dirty="0"/>
          </a:p>
        </p:txBody>
      </p:sp>
      <p:sp>
        <p:nvSpPr>
          <p:cNvPr id="6" name="Text 4"/>
          <p:cNvSpPr txBox="1"/>
          <p:nvPr/>
        </p:nvSpPr>
        <p:spPr>
          <a:xfrm>
            <a:off x="6793210" y="3279874"/>
            <a:ext cx="1108671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030" b="1" dirty="0">
                <a:solidFill>
                  <a:srgbClr val="6A3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200+</a:t>
            </a:r>
            <a:endParaRPr lang="en-US" sz="3030" dirty="0"/>
          </a:p>
        </p:txBody>
      </p:sp>
      <p:sp>
        <p:nvSpPr>
          <p:cNvPr id="7" name="Text 5"/>
          <p:cNvSpPr txBox="1"/>
          <p:nvPr/>
        </p:nvSpPr>
        <p:spPr>
          <a:xfrm>
            <a:off x="6793210" y="3848795"/>
            <a:ext cx="912268" cy="285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760" b="1" spc="120" kern="0" dirty="0">
                <a:solidFill>
                  <a:srgbClr val="5B4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REGISTERED USERS</a:t>
            </a:r>
            <a:endParaRPr lang="en-US" sz="760" dirty="0"/>
          </a:p>
        </p:txBody>
      </p:sp>
      <p:sp>
        <p:nvSpPr>
          <p:cNvPr id="8" name="Text 6"/>
          <p:cNvSpPr txBox="1"/>
          <p:nvPr/>
        </p:nvSpPr>
        <p:spPr>
          <a:xfrm>
            <a:off x="8560991" y="3279874"/>
            <a:ext cx="803556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030" b="1" dirty="0">
                <a:solidFill>
                  <a:srgbClr val="6A3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</a:t>
            </a:r>
            <a:endParaRPr lang="en-US" sz="3030" dirty="0"/>
          </a:p>
        </p:txBody>
      </p:sp>
      <p:sp>
        <p:nvSpPr>
          <p:cNvPr id="9" name="Text 7"/>
          <p:cNvSpPr txBox="1"/>
          <p:nvPr/>
        </p:nvSpPr>
        <p:spPr>
          <a:xfrm>
            <a:off x="8560991" y="3848795"/>
            <a:ext cx="1282568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760" b="1" spc="120" kern="0" dirty="0">
                <a:solidFill>
                  <a:srgbClr val="5B4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VENDORS</a:t>
            </a:r>
            <a:endParaRPr lang="en-US" sz="760" dirty="0"/>
          </a:p>
        </p:txBody>
      </p:sp>
      <p:sp>
        <p:nvSpPr>
          <p:cNvPr id="10" name="Text 8"/>
          <p:cNvSpPr txBox="1"/>
          <p:nvPr/>
        </p:nvSpPr>
        <p:spPr>
          <a:xfrm>
            <a:off x="10328771" y="3279874"/>
            <a:ext cx="97193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030" b="1" dirty="0">
                <a:solidFill>
                  <a:srgbClr val="6A3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180+</a:t>
            </a:r>
            <a:endParaRPr lang="en-US" sz="3030" dirty="0"/>
          </a:p>
        </p:txBody>
      </p:sp>
      <p:sp>
        <p:nvSpPr>
          <p:cNvPr id="11" name="Text 9"/>
          <p:cNvSpPr txBox="1"/>
          <p:nvPr/>
        </p:nvSpPr>
        <p:spPr>
          <a:xfrm>
            <a:off x="10328771" y="3848795"/>
            <a:ext cx="1043805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760" b="1" spc="120" kern="0" dirty="0">
                <a:solidFill>
                  <a:srgbClr val="5B4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LISTINGS</a:t>
            </a:r>
            <a:endParaRPr lang="en-US" sz="760" dirty="0"/>
          </a:p>
        </p:txBody>
      </p:sp>
      <p:sp>
        <p:nvSpPr>
          <p:cNvPr id="12" name="Text 10"/>
          <p:cNvSpPr txBox="1"/>
          <p:nvPr/>
        </p:nvSpPr>
        <p:spPr>
          <a:xfrm>
            <a:off x="6989961" y="4561582"/>
            <a:ext cx="2237938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1000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Distance-sorted, campus filters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9662021" y="4561582"/>
            <a:ext cx="1824005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1000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In-app chat &amp; negotiation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989961" y="4947543"/>
            <a:ext cx="1528869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1000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alerts for orders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9662021" y="4947543"/>
            <a:ext cx="1916474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1000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vendors &amp; disputes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604000" y="5335488"/>
            <a:ext cx="5371902" cy="309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790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stage: pre-revenue. Building and validating the marketplace network in Lagos; billing and payments are rolling out next.</a:t>
            </a:r>
            <a:endParaRPr lang="en-US" sz="790" dirty="0"/>
          </a:p>
        </p:txBody>
      </p:sp>
      <p:sp>
        <p:nvSpPr>
          <p:cNvPr id="17" name="Text 15"/>
          <p:cNvSpPr txBox="1"/>
          <p:nvPr/>
        </p:nvSpPr>
        <p:spPr>
          <a:xfrm>
            <a:off x="599281" y="6217940"/>
            <a:ext cx="8882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830" b="1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levromart.com</a:t>
            </a:r>
            <a:endParaRPr lang="en-US" sz="830" dirty="0"/>
          </a:p>
        </p:txBody>
      </p:sp>
      <p:sp>
        <p:nvSpPr>
          <p:cNvPr id="18" name="Text 16"/>
          <p:cNvSpPr txBox="1"/>
          <p:nvPr/>
        </p:nvSpPr>
        <p:spPr>
          <a:xfrm>
            <a:off x="8862814" y="6217940"/>
            <a:ext cx="312738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830" b="1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LevroMart · AMSUL Business Pitch Competition 2026</a:t>
            </a:r>
            <a:endParaRPr lang="en-US" sz="83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0641" y="521891"/>
            <a:ext cx="3988053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890" b="1" spc="330" kern="0" dirty="0">
                <a:solidFill>
                  <a:srgbClr val="2C1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 &amp; UNIT ECONOMICS</a:t>
            </a:r>
            <a:endParaRPr lang="en-US" sz="890" dirty="0"/>
          </a:p>
        </p:txBody>
      </p:sp>
      <p:sp>
        <p:nvSpPr>
          <p:cNvPr id="3" name="Text 1"/>
          <p:cNvSpPr txBox="1"/>
          <p:nvPr/>
        </p:nvSpPr>
        <p:spPr>
          <a:xfrm>
            <a:off x="11579622" y="521990"/>
            <a:ext cx="256778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890" b="1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90" dirty="0"/>
          </a:p>
        </p:txBody>
      </p:sp>
      <p:sp>
        <p:nvSpPr>
          <p:cNvPr id="4" name="Text 2"/>
          <p:cNvSpPr txBox="1"/>
          <p:nvPr/>
        </p:nvSpPr>
        <p:spPr>
          <a:xfrm>
            <a:off x="406400" y="829171"/>
            <a:ext cx="941017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160" b="1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Vendors pay when </a:t>
            </a:r>
            <a:pPr algn="l" indent="0" marL="0">
              <a:lnSpc>
                <a:spcPct val="85000"/>
              </a:lnSpc>
              <a:buNone/>
            </a:pPr>
            <a:r>
              <a:rPr lang="en-US" sz="3160" b="1" dirty="0">
                <a:solidFill>
                  <a:srgbClr val="2C1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LevroMart creates value.</a:t>
            </a:r>
            <a:endParaRPr lang="en-US" sz="3160" dirty="0"/>
          </a:p>
        </p:txBody>
      </p:sp>
      <p:sp>
        <p:nvSpPr>
          <p:cNvPr id="5" name="Text 3"/>
          <p:cNvSpPr txBox="1"/>
          <p:nvPr/>
        </p:nvSpPr>
        <p:spPr>
          <a:xfrm>
            <a:off x="5027613" y="1800027"/>
            <a:ext cx="645517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890" b="1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01</a:t>
            </a:r>
            <a:endParaRPr lang="en-US" sz="890" dirty="0"/>
          </a:p>
        </p:txBody>
      </p:sp>
      <p:sp>
        <p:nvSpPr>
          <p:cNvPr id="6" name="Text 4"/>
          <p:cNvSpPr txBox="1"/>
          <p:nvPr/>
        </p:nvSpPr>
        <p:spPr>
          <a:xfrm>
            <a:off x="676870" y="1749227"/>
            <a:ext cx="1192010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790" b="1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COMMISSION</a:t>
            </a:r>
            <a:endParaRPr lang="en-US" sz="790" dirty="0"/>
          </a:p>
        </p:txBody>
      </p:sp>
      <p:sp>
        <p:nvSpPr>
          <p:cNvPr id="7" name="Text 5"/>
          <p:cNvSpPr txBox="1"/>
          <p:nvPr/>
        </p:nvSpPr>
        <p:spPr>
          <a:xfrm>
            <a:off x="676870" y="1868587"/>
            <a:ext cx="3042450" cy="977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230" b="1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pPr algn="l" indent="0" marL="0">
              <a:lnSpc>
                <a:spcPct val="85000"/>
              </a:lnSpc>
              <a:buNone/>
            </a:pPr>
            <a:r>
              <a:rPr lang="en-US" sz="1440" b="1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completed sale</a:t>
            </a:r>
            <a:endParaRPr lang="en-US" sz="5230" dirty="0"/>
          </a:p>
        </p:txBody>
      </p:sp>
      <p:sp>
        <p:nvSpPr>
          <p:cNvPr id="8" name="Text 6"/>
          <p:cNvSpPr txBox="1"/>
          <p:nvPr/>
        </p:nvSpPr>
        <p:spPr>
          <a:xfrm>
            <a:off x="676870" y="2826048"/>
            <a:ext cx="3943889" cy="36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960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sale, no commission. Aligned with the vendor from day one.</a:t>
            </a:r>
            <a:endParaRPr lang="en-US" sz="960" dirty="0"/>
          </a:p>
        </p:txBody>
      </p:sp>
      <p:sp>
        <p:nvSpPr>
          <p:cNvPr id="9" name="Text 7"/>
          <p:cNvSpPr txBox="1"/>
          <p:nvPr/>
        </p:nvSpPr>
        <p:spPr>
          <a:xfrm>
            <a:off x="10804327" y="1800027"/>
            <a:ext cx="670123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890" b="1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02</a:t>
            </a:r>
            <a:endParaRPr lang="en-US" sz="890" dirty="0"/>
          </a:p>
        </p:txBody>
      </p:sp>
      <p:sp>
        <p:nvSpPr>
          <p:cNvPr id="10" name="Text 8"/>
          <p:cNvSpPr txBox="1"/>
          <p:nvPr/>
        </p:nvSpPr>
        <p:spPr>
          <a:xfrm>
            <a:off x="6478191" y="1749227"/>
            <a:ext cx="1673889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790" b="1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 LISTING FEE</a:t>
            </a:r>
            <a:endParaRPr lang="en-US" sz="790" dirty="0"/>
          </a:p>
        </p:txBody>
      </p:sp>
      <p:sp>
        <p:nvSpPr>
          <p:cNvPr id="11" name="Text 9"/>
          <p:cNvSpPr txBox="1"/>
          <p:nvPr/>
        </p:nvSpPr>
        <p:spPr>
          <a:xfrm>
            <a:off x="6478191" y="1868587"/>
            <a:ext cx="3859488" cy="977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230" b="1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₦999</a:t>
            </a:r>
            <a:pPr algn="l" indent="0" marL="0">
              <a:lnSpc>
                <a:spcPct val="85000"/>
              </a:lnSpc>
              <a:buNone/>
            </a:pPr>
            <a:r>
              <a:rPr lang="en-US" sz="1440" b="1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listing / month</a:t>
            </a:r>
            <a:endParaRPr lang="en-US" sz="5230" dirty="0"/>
          </a:p>
        </p:txBody>
      </p:sp>
      <p:sp>
        <p:nvSpPr>
          <p:cNvPr id="12" name="Text 10"/>
          <p:cNvSpPr txBox="1"/>
          <p:nvPr/>
        </p:nvSpPr>
        <p:spPr>
          <a:xfrm>
            <a:off x="6478191" y="2826048"/>
            <a:ext cx="3712451" cy="36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960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Predictable pricing, no commission on that listing. One mode per listing, never both.</a:t>
            </a:r>
            <a:endParaRPr lang="en-US" sz="960" dirty="0"/>
          </a:p>
        </p:txBody>
      </p:sp>
      <p:sp>
        <p:nvSpPr>
          <p:cNvPr id="13" name="Text 11"/>
          <p:cNvSpPr txBox="1"/>
          <p:nvPr/>
        </p:nvSpPr>
        <p:spPr>
          <a:xfrm>
            <a:off x="737791" y="3896816"/>
            <a:ext cx="28755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720" b="1" spc="130" kern="0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ECONOMICS (PER ACTIVE VENDOR)</a:t>
            </a:r>
            <a:endParaRPr lang="en-US" sz="720" dirty="0"/>
          </a:p>
        </p:txBody>
      </p:sp>
      <p:sp>
        <p:nvSpPr>
          <p:cNvPr id="14" name="Text 12"/>
          <p:cNvSpPr txBox="1"/>
          <p:nvPr/>
        </p:nvSpPr>
        <p:spPr>
          <a:xfrm>
            <a:off x="7203182" y="3896816"/>
            <a:ext cx="5016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4167"/>
              </a:lnSpc>
              <a:buNone/>
            </a:pPr>
            <a:r>
              <a:rPr lang="en-US" sz="720" b="1" spc="130" kern="0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</a:t>
            </a:r>
            <a:endParaRPr lang="en-US" sz="720" dirty="0"/>
          </a:p>
        </p:txBody>
      </p:sp>
      <p:sp>
        <p:nvSpPr>
          <p:cNvPr id="15" name="Text 13"/>
          <p:cNvSpPr txBox="1"/>
          <p:nvPr/>
        </p:nvSpPr>
        <p:spPr>
          <a:xfrm>
            <a:off x="9046170" y="3896816"/>
            <a:ext cx="5213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4167"/>
              </a:lnSpc>
              <a:buNone/>
            </a:pPr>
            <a:r>
              <a:rPr lang="en-US" sz="720" b="1" spc="130" kern="0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2</a:t>
            </a:r>
            <a:endParaRPr lang="en-US" sz="720" dirty="0"/>
          </a:p>
        </p:txBody>
      </p:sp>
      <p:sp>
        <p:nvSpPr>
          <p:cNvPr id="16" name="Text 14"/>
          <p:cNvSpPr txBox="1"/>
          <p:nvPr/>
        </p:nvSpPr>
        <p:spPr>
          <a:xfrm>
            <a:off x="10933509" y="3896816"/>
            <a:ext cx="5207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4167"/>
              </a:lnSpc>
              <a:buNone/>
            </a:pPr>
            <a:r>
              <a:rPr lang="en-US" sz="720" b="1" spc="130" kern="0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3</a:t>
            </a:r>
            <a:endParaRPr lang="en-US" sz="720" dirty="0"/>
          </a:p>
        </p:txBody>
      </p:sp>
      <p:sp>
        <p:nvSpPr>
          <p:cNvPr id="17" name="Text 15"/>
          <p:cNvSpPr txBox="1"/>
          <p:nvPr/>
        </p:nvSpPr>
        <p:spPr>
          <a:xfrm>
            <a:off x="737791" y="4168477"/>
            <a:ext cx="3011768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1070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revenue per vendor / month (ARPV)</a:t>
            </a:r>
            <a:endParaRPr lang="en-US" sz="1070" dirty="0"/>
          </a:p>
        </p:txBody>
      </p:sp>
      <p:sp>
        <p:nvSpPr>
          <p:cNvPr id="18" name="Text 16"/>
          <p:cNvSpPr txBox="1"/>
          <p:nvPr/>
        </p:nvSpPr>
        <p:spPr>
          <a:xfrm>
            <a:off x="7137499" y="4168477"/>
            <a:ext cx="567333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4167"/>
              </a:lnSpc>
              <a:buNone/>
            </a:pPr>
            <a:r>
              <a:rPr lang="en-US" sz="1070" b="1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₦1,640</a:t>
            </a:r>
            <a:endParaRPr lang="en-US" sz="1070" dirty="0"/>
          </a:p>
        </p:txBody>
      </p:sp>
      <p:sp>
        <p:nvSpPr>
          <p:cNvPr id="19" name="Text 17"/>
          <p:cNvSpPr txBox="1"/>
          <p:nvPr/>
        </p:nvSpPr>
        <p:spPr>
          <a:xfrm>
            <a:off x="9044583" y="4168477"/>
            <a:ext cx="522982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4167"/>
              </a:lnSpc>
              <a:buNone/>
            </a:pPr>
            <a:r>
              <a:rPr lang="en-US" sz="1070" b="1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₦2,110</a:t>
            </a:r>
            <a:endParaRPr lang="en-US" sz="1070" dirty="0"/>
          </a:p>
        </p:txBody>
      </p:sp>
      <p:sp>
        <p:nvSpPr>
          <p:cNvPr id="20" name="Text 18"/>
          <p:cNvSpPr txBox="1"/>
          <p:nvPr/>
        </p:nvSpPr>
        <p:spPr>
          <a:xfrm>
            <a:off x="10864652" y="4168477"/>
            <a:ext cx="589558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4167"/>
              </a:lnSpc>
              <a:buNone/>
            </a:pPr>
            <a:r>
              <a:rPr lang="en-US" sz="1070" b="1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₦2,690</a:t>
            </a:r>
            <a:endParaRPr lang="en-US" sz="1070" dirty="0"/>
          </a:p>
        </p:txBody>
      </p:sp>
      <p:sp>
        <p:nvSpPr>
          <p:cNvPr id="21" name="Text 19"/>
          <p:cNvSpPr txBox="1"/>
          <p:nvPr/>
        </p:nvSpPr>
        <p:spPr>
          <a:xfrm>
            <a:off x="737791" y="4534098"/>
            <a:ext cx="3031515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1070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Acquisition cost per active vendor (CAC)</a:t>
            </a:r>
            <a:endParaRPr lang="en-US" sz="1070" dirty="0"/>
          </a:p>
        </p:txBody>
      </p:sp>
      <p:sp>
        <p:nvSpPr>
          <p:cNvPr id="22" name="Text 20"/>
          <p:cNvSpPr txBox="1"/>
          <p:nvPr/>
        </p:nvSpPr>
        <p:spPr>
          <a:xfrm>
            <a:off x="7073900" y="4534098"/>
            <a:ext cx="630932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4167"/>
              </a:lnSpc>
              <a:buNone/>
            </a:pPr>
            <a:r>
              <a:rPr lang="en-US" sz="1070" b="1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₦14,100</a:t>
            </a:r>
            <a:endParaRPr lang="en-US" sz="1070" dirty="0"/>
          </a:p>
        </p:txBody>
      </p:sp>
      <p:sp>
        <p:nvSpPr>
          <p:cNvPr id="23" name="Text 21"/>
          <p:cNvSpPr txBox="1"/>
          <p:nvPr/>
        </p:nvSpPr>
        <p:spPr>
          <a:xfrm>
            <a:off x="8962529" y="4534098"/>
            <a:ext cx="605036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4167"/>
              </a:lnSpc>
              <a:buNone/>
            </a:pPr>
            <a:r>
              <a:rPr lang="en-US" sz="1070" b="1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₦8,300</a:t>
            </a:r>
            <a:endParaRPr lang="en-US" sz="1070" dirty="0"/>
          </a:p>
        </p:txBody>
      </p:sp>
      <p:sp>
        <p:nvSpPr>
          <p:cNvPr id="24" name="Text 22"/>
          <p:cNvSpPr txBox="1"/>
          <p:nvPr/>
        </p:nvSpPr>
        <p:spPr>
          <a:xfrm>
            <a:off x="10785574" y="4534098"/>
            <a:ext cx="668635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4167"/>
              </a:lnSpc>
              <a:buNone/>
            </a:pPr>
            <a:r>
              <a:rPr lang="en-US" sz="1070" b="1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₦12,200</a:t>
            </a:r>
            <a:endParaRPr lang="en-US" sz="1070" dirty="0"/>
          </a:p>
        </p:txBody>
      </p:sp>
      <p:sp>
        <p:nvSpPr>
          <p:cNvPr id="25" name="Text 23"/>
          <p:cNvSpPr txBox="1"/>
          <p:nvPr/>
        </p:nvSpPr>
        <p:spPr>
          <a:xfrm>
            <a:off x="737791" y="4899720"/>
            <a:ext cx="3500123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1070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Lifetime value, 24 months at 92% margin (LTV)</a:t>
            </a:r>
            <a:endParaRPr lang="en-US" sz="1070" dirty="0"/>
          </a:p>
        </p:txBody>
      </p:sp>
      <p:sp>
        <p:nvSpPr>
          <p:cNvPr id="26" name="Text 24"/>
          <p:cNvSpPr txBox="1"/>
          <p:nvPr/>
        </p:nvSpPr>
        <p:spPr>
          <a:xfrm>
            <a:off x="7007523" y="4899720"/>
            <a:ext cx="697309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4167"/>
              </a:lnSpc>
              <a:buNone/>
            </a:pPr>
            <a:r>
              <a:rPr lang="en-US" sz="1070" b="1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₦36,200</a:t>
            </a:r>
            <a:endParaRPr lang="en-US" sz="1070" dirty="0"/>
          </a:p>
        </p:txBody>
      </p:sp>
      <p:sp>
        <p:nvSpPr>
          <p:cNvPr id="27" name="Text 25"/>
          <p:cNvSpPr txBox="1"/>
          <p:nvPr/>
        </p:nvSpPr>
        <p:spPr>
          <a:xfrm>
            <a:off x="8880078" y="4899720"/>
            <a:ext cx="687487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4167"/>
              </a:lnSpc>
              <a:buNone/>
            </a:pPr>
            <a:r>
              <a:rPr lang="en-US" sz="1070" b="1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₦46,700</a:t>
            </a:r>
            <a:endParaRPr lang="en-US" sz="1070" dirty="0"/>
          </a:p>
        </p:txBody>
      </p:sp>
      <p:sp>
        <p:nvSpPr>
          <p:cNvPr id="28" name="Text 26"/>
          <p:cNvSpPr txBox="1"/>
          <p:nvPr/>
        </p:nvSpPr>
        <p:spPr>
          <a:xfrm>
            <a:off x="10766524" y="4899720"/>
            <a:ext cx="687685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4167"/>
              </a:lnSpc>
              <a:buNone/>
            </a:pPr>
            <a:r>
              <a:rPr lang="en-US" sz="1070" b="1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₦59,300</a:t>
            </a:r>
            <a:endParaRPr lang="en-US" sz="1070" dirty="0"/>
          </a:p>
        </p:txBody>
      </p:sp>
      <p:sp>
        <p:nvSpPr>
          <p:cNvPr id="29" name="Text 27"/>
          <p:cNvSpPr txBox="1"/>
          <p:nvPr/>
        </p:nvSpPr>
        <p:spPr>
          <a:xfrm>
            <a:off x="737791" y="5281216"/>
            <a:ext cx="1567194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1070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 : CAC · payback</a:t>
            </a:r>
            <a:endParaRPr lang="en-US" sz="1070" dirty="0"/>
          </a:p>
        </p:txBody>
      </p:sp>
      <p:sp>
        <p:nvSpPr>
          <p:cNvPr id="30" name="Text 28"/>
          <p:cNvSpPr txBox="1"/>
          <p:nvPr/>
        </p:nvSpPr>
        <p:spPr>
          <a:xfrm>
            <a:off x="6582466" y="5265341"/>
            <a:ext cx="11223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4167"/>
              </a:lnSpc>
              <a:buNone/>
            </a:pPr>
            <a:r>
              <a:rPr lang="en-US" sz="1240" b="1" dirty="0">
                <a:solidFill>
                  <a:srgbClr val="2C1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2.6× · 9.4 mo</a:t>
            </a:r>
            <a:endParaRPr lang="en-US" sz="1240" dirty="0"/>
          </a:p>
        </p:txBody>
      </p:sp>
      <p:sp>
        <p:nvSpPr>
          <p:cNvPr id="31" name="Text 29"/>
          <p:cNvSpPr txBox="1"/>
          <p:nvPr/>
        </p:nvSpPr>
        <p:spPr>
          <a:xfrm>
            <a:off x="8442863" y="5265341"/>
            <a:ext cx="11247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4167"/>
              </a:lnSpc>
              <a:buNone/>
            </a:pPr>
            <a:r>
              <a:rPr lang="en-US" sz="1240" b="1" dirty="0">
                <a:solidFill>
                  <a:srgbClr val="2C1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5.6× · 4.3 mo</a:t>
            </a:r>
            <a:endParaRPr lang="en-US" sz="1240" dirty="0"/>
          </a:p>
        </p:txBody>
      </p:sp>
      <p:sp>
        <p:nvSpPr>
          <p:cNvPr id="32" name="Text 30"/>
          <p:cNvSpPr txBox="1"/>
          <p:nvPr/>
        </p:nvSpPr>
        <p:spPr>
          <a:xfrm>
            <a:off x="10313052" y="5265341"/>
            <a:ext cx="11411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4167"/>
              </a:lnSpc>
              <a:buNone/>
            </a:pPr>
            <a:r>
              <a:rPr lang="en-US" sz="1240" b="1" dirty="0">
                <a:solidFill>
                  <a:srgbClr val="2C1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4.8× · 5.0 mo</a:t>
            </a:r>
            <a:endParaRPr lang="en-US" sz="1240" dirty="0"/>
          </a:p>
        </p:txBody>
      </p:sp>
      <p:sp>
        <p:nvSpPr>
          <p:cNvPr id="33" name="Text 31"/>
          <p:cNvSpPr txBox="1"/>
          <p:nvPr/>
        </p:nvSpPr>
        <p:spPr>
          <a:xfrm>
            <a:off x="656530" y="5747742"/>
            <a:ext cx="2010641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790" b="1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REVENUE LAYERS (Year 2+):</a:t>
            </a:r>
            <a:endParaRPr lang="en-US" sz="790" dirty="0"/>
          </a:p>
        </p:txBody>
      </p:sp>
      <p:sp>
        <p:nvSpPr>
          <p:cNvPr id="34" name="Text 32"/>
          <p:cNvSpPr txBox="1"/>
          <p:nvPr/>
        </p:nvSpPr>
        <p:spPr>
          <a:xfrm>
            <a:off x="2883396" y="5760442"/>
            <a:ext cx="1018857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790" b="1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visibility</a:t>
            </a:r>
            <a:endParaRPr lang="en-US" sz="790" dirty="0"/>
          </a:p>
        </p:txBody>
      </p:sp>
      <p:sp>
        <p:nvSpPr>
          <p:cNvPr id="35" name="Text 33"/>
          <p:cNvSpPr txBox="1"/>
          <p:nvPr/>
        </p:nvSpPr>
        <p:spPr>
          <a:xfrm>
            <a:off x="4196060" y="5760442"/>
            <a:ext cx="2178911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790" b="1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of the Week sponsorship &amp; ads</a:t>
            </a:r>
            <a:endParaRPr lang="en-US" sz="790" dirty="0"/>
          </a:p>
        </p:txBody>
      </p:sp>
      <p:sp>
        <p:nvSpPr>
          <p:cNvPr id="36" name="Text 34"/>
          <p:cNvSpPr txBox="1"/>
          <p:nvPr/>
        </p:nvSpPr>
        <p:spPr>
          <a:xfrm>
            <a:off x="6592887" y="5760442"/>
            <a:ext cx="797929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790" b="1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tools</a:t>
            </a:r>
            <a:endParaRPr lang="en-US" sz="790" dirty="0"/>
          </a:p>
        </p:txBody>
      </p:sp>
      <p:sp>
        <p:nvSpPr>
          <p:cNvPr id="37" name="Text 35"/>
          <p:cNvSpPr txBox="1"/>
          <p:nvPr/>
        </p:nvSpPr>
        <p:spPr>
          <a:xfrm>
            <a:off x="7699077" y="5760442"/>
            <a:ext cx="1209103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790" b="1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automation</a:t>
            </a:r>
            <a:endParaRPr lang="en-US" sz="790" dirty="0"/>
          </a:p>
        </p:txBody>
      </p:sp>
      <p:sp>
        <p:nvSpPr>
          <p:cNvPr id="38" name="Text 36"/>
          <p:cNvSpPr txBox="1"/>
          <p:nvPr/>
        </p:nvSpPr>
        <p:spPr>
          <a:xfrm>
            <a:off x="9189541" y="5760442"/>
            <a:ext cx="741462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790" b="1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Partnerships</a:t>
            </a:r>
            <a:endParaRPr lang="en-US" sz="790" dirty="0"/>
          </a:p>
        </p:txBody>
      </p:sp>
      <p:sp>
        <p:nvSpPr>
          <p:cNvPr id="39" name="Text 37"/>
          <p:cNvSpPr txBox="1"/>
          <p:nvPr/>
        </p:nvSpPr>
        <p:spPr>
          <a:xfrm>
            <a:off x="599281" y="6217940"/>
            <a:ext cx="8882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830" b="1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levromart.com</a:t>
            </a:r>
            <a:endParaRPr lang="en-US" sz="830" dirty="0"/>
          </a:p>
        </p:txBody>
      </p:sp>
      <p:sp>
        <p:nvSpPr>
          <p:cNvPr id="40" name="Text 38"/>
          <p:cNvSpPr txBox="1"/>
          <p:nvPr/>
        </p:nvSpPr>
        <p:spPr>
          <a:xfrm>
            <a:off x="4772402" y="6227465"/>
            <a:ext cx="70131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4167"/>
              </a:lnSpc>
              <a:buNone/>
            </a:pPr>
            <a:r>
              <a:rPr lang="en-US" sz="720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Assumptions: GMV per active vendor ₦40K→₦55K/month; 60% of vendors on commission; CAC = marketing spend ÷ new active vendors.</a:t>
            </a:r>
            <a:endParaRPr lang="en-US" sz="7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0641" y="521891"/>
            <a:ext cx="5257138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890" b="1" spc="330" kern="0" dirty="0">
                <a:solidFill>
                  <a:srgbClr val="8B6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MARKET, COMPETITORS &amp; REACHING CUSTOMERS</a:t>
            </a:r>
            <a:endParaRPr lang="en-US" sz="890" dirty="0"/>
          </a:p>
        </p:txBody>
      </p:sp>
      <p:sp>
        <p:nvSpPr>
          <p:cNvPr id="3" name="Text 1"/>
          <p:cNvSpPr txBox="1"/>
          <p:nvPr/>
        </p:nvSpPr>
        <p:spPr>
          <a:xfrm>
            <a:off x="11578233" y="521990"/>
            <a:ext cx="258167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890" b="1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90" dirty="0"/>
          </a:p>
        </p:txBody>
      </p:sp>
      <p:sp>
        <p:nvSpPr>
          <p:cNvPr id="4" name="Text 2"/>
          <p:cNvSpPr txBox="1"/>
          <p:nvPr/>
        </p:nvSpPr>
        <p:spPr>
          <a:xfrm>
            <a:off x="406400" y="829171"/>
            <a:ext cx="908159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160" b="1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win where others </a:t>
            </a:r>
            <a:pPr algn="l" indent="0" marL="0">
              <a:lnSpc>
                <a:spcPct val="85000"/>
              </a:lnSpc>
              <a:buNone/>
            </a:pPr>
            <a:r>
              <a:rPr lang="en-US" sz="3160" b="1" dirty="0">
                <a:solidFill>
                  <a:srgbClr val="6A3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don’t go: the campus.</a:t>
            </a:r>
            <a:endParaRPr lang="en-US" sz="3160" dirty="0"/>
          </a:p>
        </p:txBody>
      </p:sp>
      <p:sp>
        <p:nvSpPr>
          <p:cNvPr id="5" name="Text 3"/>
          <p:cNvSpPr txBox="1"/>
          <p:nvPr/>
        </p:nvSpPr>
        <p:spPr>
          <a:xfrm>
            <a:off x="1896864" y="1571427"/>
            <a:ext cx="1140521" cy="285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167"/>
              </a:lnSpc>
              <a:buNone/>
            </a:pPr>
            <a:r>
              <a:rPr lang="en-US" sz="760" b="1" spc="120" kern="0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&amp; IG VENDORS</a:t>
            </a:r>
            <a:endParaRPr lang="en-US" sz="760" dirty="0"/>
          </a:p>
        </p:txBody>
      </p:sp>
      <p:sp>
        <p:nvSpPr>
          <p:cNvPr id="6" name="Text 4"/>
          <p:cNvSpPr txBox="1"/>
          <p:nvPr/>
        </p:nvSpPr>
        <p:spPr>
          <a:xfrm>
            <a:off x="3244949" y="1571427"/>
            <a:ext cx="574179" cy="285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167"/>
              </a:lnSpc>
              <a:buNone/>
            </a:pPr>
            <a:r>
              <a:rPr lang="en-US" sz="760" b="1" spc="120" kern="0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JUMIA / KONGA</a:t>
            </a:r>
            <a:endParaRPr lang="en-US" sz="760" dirty="0"/>
          </a:p>
        </p:txBody>
      </p:sp>
      <p:sp>
        <p:nvSpPr>
          <p:cNvPr id="7" name="Text 5"/>
          <p:cNvSpPr txBox="1"/>
          <p:nvPr/>
        </p:nvSpPr>
        <p:spPr>
          <a:xfrm>
            <a:off x="4101634" y="1571427"/>
            <a:ext cx="1069815" cy="285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167"/>
              </a:lnSpc>
              <a:buNone/>
            </a:pPr>
            <a:r>
              <a:rPr lang="en-US" sz="760" b="1" spc="120" kern="0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JIJI / FB MARKETPLACE</a:t>
            </a:r>
            <a:endParaRPr lang="en-US" sz="760" dirty="0"/>
          </a:p>
        </p:txBody>
      </p:sp>
      <p:sp>
        <p:nvSpPr>
          <p:cNvPr id="8" name="Text 6"/>
          <p:cNvSpPr txBox="1"/>
          <p:nvPr/>
        </p:nvSpPr>
        <p:spPr>
          <a:xfrm>
            <a:off x="5349907" y="1711027"/>
            <a:ext cx="896874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167"/>
              </a:lnSpc>
              <a:buNone/>
            </a:pPr>
            <a:r>
              <a:rPr lang="en-US" sz="760" b="1" spc="120" kern="0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LEVROMART</a:t>
            </a:r>
            <a:endParaRPr lang="en-US" sz="760" dirty="0"/>
          </a:p>
        </p:txBody>
      </p:sp>
      <p:sp>
        <p:nvSpPr>
          <p:cNvPr id="9" name="Text 7"/>
          <p:cNvSpPr txBox="1"/>
          <p:nvPr/>
        </p:nvSpPr>
        <p:spPr>
          <a:xfrm>
            <a:off x="497780" y="2001639"/>
            <a:ext cx="1058668" cy="321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880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 campus buyers</a:t>
            </a:r>
            <a:endParaRPr lang="en-US" sz="880" dirty="0"/>
          </a:p>
        </p:txBody>
      </p:sp>
      <p:sp>
        <p:nvSpPr>
          <p:cNvPr id="10" name="Text 8"/>
          <p:cNvSpPr txBox="1"/>
          <p:nvPr/>
        </p:nvSpPr>
        <p:spPr>
          <a:xfrm>
            <a:off x="2309515" y="2082899"/>
            <a:ext cx="31521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167"/>
              </a:lnSpc>
              <a:buNone/>
            </a:pPr>
            <a:r>
              <a:rPr lang="en-US" sz="880" b="1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</a:t>
            </a:r>
            <a:endParaRPr lang="en-US" sz="880" dirty="0"/>
          </a:p>
        </p:txBody>
      </p:sp>
      <p:sp>
        <p:nvSpPr>
          <p:cNvPr id="11" name="Text 9"/>
          <p:cNvSpPr txBox="1"/>
          <p:nvPr/>
        </p:nvSpPr>
        <p:spPr>
          <a:xfrm>
            <a:off x="497780" y="2516981"/>
            <a:ext cx="1205387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880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Fees for tiny sellers</a:t>
            </a:r>
            <a:endParaRPr lang="en-US" sz="880" dirty="0"/>
          </a:p>
        </p:txBody>
      </p:sp>
      <p:sp>
        <p:nvSpPr>
          <p:cNvPr id="12" name="Text 10"/>
          <p:cNvSpPr txBox="1"/>
          <p:nvPr/>
        </p:nvSpPr>
        <p:spPr>
          <a:xfrm>
            <a:off x="2305248" y="2516981"/>
            <a:ext cx="323652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167"/>
              </a:lnSpc>
              <a:buNone/>
            </a:pPr>
            <a:r>
              <a:rPr lang="en-US" sz="880" b="1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880" dirty="0"/>
          </a:p>
        </p:txBody>
      </p:sp>
      <p:sp>
        <p:nvSpPr>
          <p:cNvPr id="13" name="Text 11"/>
          <p:cNvSpPr txBox="1"/>
          <p:nvPr/>
        </p:nvSpPr>
        <p:spPr>
          <a:xfrm>
            <a:off x="3367088" y="2516981"/>
            <a:ext cx="329902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167"/>
              </a:lnSpc>
              <a:buNone/>
            </a:pPr>
            <a:r>
              <a:rPr lang="en-US" sz="880" b="1" dirty="0">
                <a:solidFill>
                  <a:srgbClr val="C78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880" dirty="0"/>
          </a:p>
        </p:txBody>
      </p:sp>
      <p:sp>
        <p:nvSpPr>
          <p:cNvPr id="14" name="Text 12"/>
          <p:cNvSpPr txBox="1"/>
          <p:nvPr/>
        </p:nvSpPr>
        <p:spPr>
          <a:xfrm>
            <a:off x="4496891" y="2516981"/>
            <a:ext cx="279202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167"/>
              </a:lnSpc>
              <a:buNone/>
            </a:pPr>
            <a:r>
              <a:rPr lang="en-US" sz="880" b="1" dirty="0">
                <a:solidFill>
                  <a:srgbClr val="C78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Ads</a:t>
            </a:r>
            <a:endParaRPr lang="en-US" sz="880" dirty="0"/>
          </a:p>
        </p:txBody>
      </p:sp>
      <p:sp>
        <p:nvSpPr>
          <p:cNvPr id="15" name="Text 13"/>
          <p:cNvSpPr txBox="1"/>
          <p:nvPr/>
        </p:nvSpPr>
        <p:spPr>
          <a:xfrm>
            <a:off x="5405749" y="2490391"/>
            <a:ext cx="78518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167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 / ₦999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97780" y="2869902"/>
            <a:ext cx="1057819" cy="321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880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tracking &amp; records</a:t>
            </a:r>
            <a:endParaRPr lang="en-US" sz="880" dirty="0"/>
          </a:p>
        </p:txBody>
      </p:sp>
      <p:sp>
        <p:nvSpPr>
          <p:cNvPr id="17" name="Text 15"/>
          <p:cNvSpPr txBox="1"/>
          <p:nvPr/>
        </p:nvSpPr>
        <p:spPr>
          <a:xfrm>
            <a:off x="497780" y="3365004"/>
            <a:ext cx="1221099" cy="321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880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own logistics network</a:t>
            </a:r>
            <a:endParaRPr lang="en-US" sz="880" dirty="0"/>
          </a:p>
        </p:txBody>
      </p:sp>
      <p:sp>
        <p:nvSpPr>
          <p:cNvPr id="18" name="Text 16"/>
          <p:cNvSpPr txBox="1"/>
          <p:nvPr/>
        </p:nvSpPr>
        <p:spPr>
          <a:xfrm>
            <a:off x="2356247" y="3446264"/>
            <a:ext cx="22165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167"/>
              </a:lnSpc>
              <a:buNone/>
            </a:pPr>
            <a:r>
              <a:rPr lang="en-US" sz="880" b="1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880" dirty="0"/>
          </a:p>
        </p:txBody>
      </p:sp>
      <p:sp>
        <p:nvSpPr>
          <p:cNvPr id="19" name="Text 17"/>
          <p:cNvSpPr txBox="1"/>
          <p:nvPr/>
        </p:nvSpPr>
        <p:spPr>
          <a:xfrm>
            <a:off x="3405882" y="3446264"/>
            <a:ext cx="252412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167"/>
              </a:lnSpc>
              <a:buNone/>
            </a:pPr>
            <a:r>
              <a:rPr lang="en-US" sz="880" b="1" dirty="0">
                <a:solidFill>
                  <a:srgbClr val="C78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880" dirty="0"/>
          </a:p>
        </p:txBody>
      </p:sp>
      <p:sp>
        <p:nvSpPr>
          <p:cNvPr id="20" name="Text 18"/>
          <p:cNvSpPr txBox="1"/>
          <p:nvPr/>
        </p:nvSpPr>
        <p:spPr>
          <a:xfrm>
            <a:off x="4525665" y="3446264"/>
            <a:ext cx="22165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167"/>
              </a:lnSpc>
              <a:buNone/>
            </a:pPr>
            <a:r>
              <a:rPr lang="en-US" sz="880" b="1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880" dirty="0"/>
          </a:p>
        </p:txBody>
      </p:sp>
      <p:sp>
        <p:nvSpPr>
          <p:cNvPr id="21" name="Text 19"/>
          <p:cNvSpPr txBox="1"/>
          <p:nvPr/>
        </p:nvSpPr>
        <p:spPr>
          <a:xfrm>
            <a:off x="5663505" y="3419574"/>
            <a:ext cx="26957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167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97780" y="3860105"/>
            <a:ext cx="977134" cy="4837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880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Vendors discoverable by distance</a:t>
            </a:r>
            <a:endParaRPr lang="en-US" sz="880" dirty="0"/>
          </a:p>
        </p:txBody>
      </p:sp>
      <p:sp>
        <p:nvSpPr>
          <p:cNvPr id="23" name="Text 21"/>
          <p:cNvSpPr txBox="1"/>
          <p:nvPr/>
        </p:nvSpPr>
        <p:spPr>
          <a:xfrm>
            <a:off x="4478933" y="4022626"/>
            <a:ext cx="31521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167"/>
              </a:lnSpc>
              <a:buNone/>
            </a:pPr>
            <a:r>
              <a:rPr lang="en-US" sz="880" b="1" dirty="0">
                <a:solidFill>
                  <a:srgbClr val="C78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</a:t>
            </a:r>
            <a:endParaRPr lang="en-US" sz="880" dirty="0"/>
          </a:p>
        </p:txBody>
      </p:sp>
      <p:sp>
        <p:nvSpPr>
          <p:cNvPr id="24" name="Text 22"/>
          <p:cNvSpPr txBox="1"/>
          <p:nvPr/>
        </p:nvSpPr>
        <p:spPr>
          <a:xfrm>
            <a:off x="406400" y="4539357"/>
            <a:ext cx="6241916" cy="309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790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advantage: students are the founders and the users; the vendors are their classmates; every campus we open makes the next one cheaper.</a:t>
            </a:r>
            <a:endParaRPr lang="en-US" sz="790" dirty="0"/>
          </a:p>
        </p:txBody>
      </p:sp>
      <p:sp>
        <p:nvSpPr>
          <p:cNvPr id="25" name="Text 23"/>
          <p:cNvSpPr txBox="1"/>
          <p:nvPr/>
        </p:nvSpPr>
        <p:spPr>
          <a:xfrm>
            <a:off x="497780" y="5022751"/>
            <a:ext cx="536575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7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UNILAG</a:t>
            </a:r>
            <a:endParaRPr lang="en-US" sz="790" dirty="0"/>
          </a:p>
        </p:txBody>
      </p:sp>
      <p:sp>
        <p:nvSpPr>
          <p:cNvPr id="26" name="Text 24"/>
          <p:cNvSpPr txBox="1"/>
          <p:nvPr/>
        </p:nvSpPr>
        <p:spPr>
          <a:xfrm>
            <a:off x="1389757" y="5022751"/>
            <a:ext cx="381099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790" b="1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LASU</a:t>
            </a:r>
            <a:endParaRPr lang="en-US" sz="790" dirty="0"/>
          </a:p>
        </p:txBody>
      </p:sp>
      <p:sp>
        <p:nvSpPr>
          <p:cNvPr id="27" name="Text 25"/>
          <p:cNvSpPr txBox="1"/>
          <p:nvPr/>
        </p:nvSpPr>
        <p:spPr>
          <a:xfrm>
            <a:off x="2126258" y="5022751"/>
            <a:ext cx="1056120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790" b="1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Lagos campuses</a:t>
            </a:r>
            <a:endParaRPr lang="en-US" sz="790" dirty="0"/>
          </a:p>
        </p:txBody>
      </p:sp>
      <p:sp>
        <p:nvSpPr>
          <p:cNvPr id="28" name="Text 26"/>
          <p:cNvSpPr txBox="1"/>
          <p:nvPr/>
        </p:nvSpPr>
        <p:spPr>
          <a:xfrm>
            <a:off x="3519487" y="5022751"/>
            <a:ext cx="765373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790" b="1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South-West</a:t>
            </a:r>
            <a:endParaRPr lang="en-US" sz="790" dirty="0"/>
          </a:p>
        </p:txBody>
      </p:sp>
      <p:sp>
        <p:nvSpPr>
          <p:cNvPr id="29" name="Text 27"/>
          <p:cNvSpPr txBox="1"/>
          <p:nvPr/>
        </p:nvSpPr>
        <p:spPr>
          <a:xfrm>
            <a:off x="4640263" y="5022751"/>
            <a:ext cx="506115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790" b="1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Nigeria</a:t>
            </a:r>
            <a:endParaRPr lang="en-US" sz="790" dirty="0"/>
          </a:p>
        </p:txBody>
      </p:sp>
      <p:sp>
        <p:nvSpPr>
          <p:cNvPr id="30" name="Text 28"/>
          <p:cNvSpPr txBox="1"/>
          <p:nvPr/>
        </p:nvSpPr>
        <p:spPr>
          <a:xfrm>
            <a:off x="5501779" y="5022751"/>
            <a:ext cx="436463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790" b="1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Africa</a:t>
            </a:r>
            <a:endParaRPr lang="en-US" sz="790" dirty="0"/>
          </a:p>
        </p:txBody>
      </p:sp>
      <p:sp>
        <p:nvSpPr>
          <p:cNvPr id="31" name="Text 29"/>
          <p:cNvSpPr txBox="1"/>
          <p:nvPr/>
        </p:nvSpPr>
        <p:spPr>
          <a:xfrm>
            <a:off x="7290495" y="1646436"/>
            <a:ext cx="245599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1140" b="1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of the Week campaign</a:t>
            </a:r>
            <a:endParaRPr lang="en-US" sz="1140" dirty="0"/>
          </a:p>
        </p:txBody>
      </p:sp>
      <p:sp>
        <p:nvSpPr>
          <p:cNvPr id="32" name="Text 30"/>
          <p:cNvSpPr txBox="1"/>
          <p:nvPr/>
        </p:nvSpPr>
        <p:spPr>
          <a:xfrm>
            <a:off x="7290495" y="1855986"/>
            <a:ext cx="392775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830" dirty="0">
                <a:solidFill>
                  <a:srgbClr val="5B4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free week of promotion pulls vendors in, and their followers follow.</a:t>
            </a:r>
            <a:endParaRPr lang="en-US" sz="830" dirty="0"/>
          </a:p>
        </p:txBody>
      </p:sp>
      <p:sp>
        <p:nvSpPr>
          <p:cNvPr id="33" name="Text 31"/>
          <p:cNvSpPr txBox="1"/>
          <p:nvPr/>
        </p:nvSpPr>
        <p:spPr>
          <a:xfrm>
            <a:off x="7290495" y="2400598"/>
            <a:ext cx="291271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1140" b="1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Campus ambassadors &amp; activations</a:t>
            </a:r>
            <a:endParaRPr lang="en-US" sz="1140" dirty="0"/>
          </a:p>
        </p:txBody>
      </p:sp>
      <p:sp>
        <p:nvSpPr>
          <p:cNvPr id="34" name="Text 32"/>
          <p:cNvSpPr txBox="1"/>
          <p:nvPr/>
        </p:nvSpPr>
        <p:spPr>
          <a:xfrm>
            <a:off x="7290495" y="2610148"/>
            <a:ext cx="461983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830" dirty="0">
                <a:solidFill>
                  <a:srgbClr val="5B4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Hostel and faculty reps onboard vendors; orientation-week stalls with QR codes.</a:t>
            </a:r>
            <a:endParaRPr lang="en-US" sz="830" dirty="0"/>
          </a:p>
        </p:txBody>
      </p:sp>
      <p:sp>
        <p:nvSpPr>
          <p:cNvPr id="35" name="Text 33"/>
          <p:cNvSpPr txBox="1"/>
          <p:nvPr/>
        </p:nvSpPr>
        <p:spPr>
          <a:xfrm>
            <a:off x="7290495" y="3154759"/>
            <a:ext cx="159076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1140" b="1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&amp; community</a:t>
            </a:r>
            <a:endParaRPr lang="en-US" sz="1140" dirty="0"/>
          </a:p>
        </p:txBody>
      </p:sp>
      <p:sp>
        <p:nvSpPr>
          <p:cNvPr id="36" name="Text 34"/>
          <p:cNvSpPr txBox="1"/>
          <p:nvPr/>
        </p:nvSpPr>
        <p:spPr>
          <a:xfrm>
            <a:off x="7290495" y="3364309"/>
            <a:ext cx="426949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830" dirty="0">
                <a:solidFill>
                  <a:srgbClr val="5B4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TikTok, Instagram, LinkedIn and a WhatsApp community, one @levromart.</a:t>
            </a:r>
            <a:endParaRPr lang="en-US" sz="830" dirty="0"/>
          </a:p>
        </p:txBody>
      </p:sp>
      <p:sp>
        <p:nvSpPr>
          <p:cNvPr id="37" name="Text 35"/>
          <p:cNvSpPr txBox="1"/>
          <p:nvPr/>
        </p:nvSpPr>
        <p:spPr>
          <a:xfrm>
            <a:off x="7290495" y="3908921"/>
            <a:ext cx="153969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1140" b="1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Promos &amp; referrals</a:t>
            </a:r>
            <a:endParaRPr lang="en-US" sz="1140" dirty="0"/>
          </a:p>
        </p:txBody>
      </p:sp>
      <p:sp>
        <p:nvSpPr>
          <p:cNvPr id="38" name="Text 36"/>
          <p:cNvSpPr txBox="1"/>
          <p:nvPr/>
        </p:nvSpPr>
        <p:spPr>
          <a:xfrm>
            <a:off x="7290495" y="4118471"/>
            <a:ext cx="392594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830" dirty="0">
                <a:solidFill>
                  <a:srgbClr val="5B4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offers and referral rewards to lift first orders and repeat use.</a:t>
            </a:r>
            <a:endParaRPr lang="en-US" sz="830" dirty="0"/>
          </a:p>
        </p:txBody>
      </p:sp>
      <p:sp>
        <p:nvSpPr>
          <p:cNvPr id="39" name="Text 37"/>
          <p:cNvSpPr txBox="1"/>
          <p:nvPr/>
        </p:nvSpPr>
        <p:spPr>
          <a:xfrm>
            <a:off x="7290495" y="4663083"/>
            <a:ext cx="144170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1140" b="1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partners</a:t>
            </a:r>
            <a:endParaRPr lang="en-US" sz="1140" dirty="0"/>
          </a:p>
        </p:txBody>
      </p:sp>
      <p:sp>
        <p:nvSpPr>
          <p:cNvPr id="40" name="Text 38"/>
          <p:cNvSpPr txBox="1"/>
          <p:nvPr/>
        </p:nvSpPr>
        <p:spPr>
          <a:xfrm>
            <a:off x="7290495" y="4872633"/>
            <a:ext cx="393210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830" dirty="0">
                <a:solidFill>
                  <a:srgbClr val="5B4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Campus logistics such as Run It (partnership in progress, not yet live).</a:t>
            </a:r>
            <a:endParaRPr lang="en-US" sz="830" dirty="0"/>
          </a:p>
        </p:txBody>
      </p:sp>
      <p:sp>
        <p:nvSpPr>
          <p:cNvPr id="41" name="Text 39"/>
          <p:cNvSpPr txBox="1"/>
          <p:nvPr/>
        </p:nvSpPr>
        <p:spPr>
          <a:xfrm>
            <a:off x="599281" y="6217940"/>
            <a:ext cx="8882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830" b="1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levromart.com</a:t>
            </a:r>
            <a:endParaRPr lang="en-US" sz="830" dirty="0"/>
          </a:p>
        </p:txBody>
      </p:sp>
      <p:sp>
        <p:nvSpPr>
          <p:cNvPr id="42" name="Text 40"/>
          <p:cNvSpPr txBox="1"/>
          <p:nvPr/>
        </p:nvSpPr>
        <p:spPr>
          <a:xfrm>
            <a:off x="8862814" y="6217940"/>
            <a:ext cx="312738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830" b="1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LevroMart · AMSUL Business Pitch Competition 2026</a:t>
            </a:r>
            <a:endParaRPr lang="en-US" sz="83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0641" y="521891"/>
            <a:ext cx="2213415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890" b="1" spc="330" kern="0" dirty="0">
                <a:solidFill>
                  <a:srgbClr val="27F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 MODEL</a:t>
            </a:r>
            <a:endParaRPr lang="en-US" sz="890" dirty="0"/>
          </a:p>
        </p:txBody>
      </p:sp>
      <p:sp>
        <p:nvSpPr>
          <p:cNvPr id="3" name="Text 1"/>
          <p:cNvSpPr txBox="1"/>
          <p:nvPr/>
        </p:nvSpPr>
        <p:spPr>
          <a:xfrm>
            <a:off x="11587659" y="521990"/>
            <a:ext cx="248741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8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890" dirty="0"/>
          </a:p>
        </p:txBody>
      </p:sp>
      <p:sp>
        <p:nvSpPr>
          <p:cNvPr id="4" name="Text 2"/>
          <p:cNvSpPr txBox="1"/>
          <p:nvPr/>
        </p:nvSpPr>
        <p:spPr>
          <a:xfrm>
            <a:off x="406400" y="991691"/>
            <a:ext cx="5551531" cy="104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1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grows </a:t>
            </a:r>
            <a:pPr algn="l" indent="0" marL="0">
              <a:lnSpc>
                <a:spcPct val="85000"/>
              </a:lnSpc>
              <a:buNone/>
            </a:pPr>
            <a:r>
              <a:rPr lang="en-US" sz="3160" b="1" dirty="0">
                <a:solidFill>
                  <a:srgbClr val="27F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22×.</a:t>
            </a:r>
            <a:pPr algn="l" indent="0" marL="0">
              <a:lnSpc>
                <a:spcPct val="85000"/>
              </a:lnSpc>
              <a:buNone/>
            </a:pPr>
            <a:r>
              <a:rPr lang="en-US" sz="31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Costs grow 5×.</a:t>
            </a:r>
            <a:endParaRPr lang="en-US" sz="3160" dirty="0"/>
          </a:p>
        </p:txBody>
      </p:sp>
      <p:sp>
        <p:nvSpPr>
          <p:cNvPr id="5" name="Text 3"/>
          <p:cNvSpPr txBox="1"/>
          <p:nvPr/>
        </p:nvSpPr>
        <p:spPr>
          <a:xfrm>
            <a:off x="406400" y="2105521"/>
            <a:ext cx="5449507" cy="440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40" dirty="0">
                <a:solidFill>
                  <a:srgbClr val="FFFFFF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Vendors bring their own stock and (mostly) their own delivery. We sell software, so each new vendor costs almost nothing to serve.</a:t>
            </a:r>
            <a:endParaRPr lang="en-US" sz="1140" dirty="0"/>
          </a:p>
        </p:txBody>
      </p:sp>
      <p:sp>
        <p:nvSpPr>
          <p:cNvPr id="6" name="Text 4"/>
          <p:cNvSpPr txBox="1"/>
          <p:nvPr/>
        </p:nvSpPr>
        <p:spPr>
          <a:xfrm>
            <a:off x="615950" y="2723059"/>
            <a:ext cx="957600" cy="717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850" b="1" dirty="0">
                <a:solidFill>
                  <a:srgbClr val="27F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22×</a:t>
            </a:r>
            <a:endParaRPr lang="en-US" sz="3850" dirty="0"/>
          </a:p>
        </p:txBody>
      </p:sp>
      <p:sp>
        <p:nvSpPr>
          <p:cNvPr id="7" name="Text 5"/>
          <p:cNvSpPr txBox="1"/>
          <p:nvPr/>
        </p:nvSpPr>
        <p:spPr>
          <a:xfrm>
            <a:off x="615950" y="3413323"/>
            <a:ext cx="221543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83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REVENUE, YEAR 1 → YEAR 3</a:t>
            </a:r>
            <a:endParaRPr lang="en-US" sz="830" dirty="0"/>
          </a:p>
        </p:txBody>
      </p:sp>
      <p:sp>
        <p:nvSpPr>
          <p:cNvPr id="8" name="Text 6"/>
          <p:cNvSpPr txBox="1"/>
          <p:nvPr/>
        </p:nvSpPr>
        <p:spPr>
          <a:xfrm>
            <a:off x="3308747" y="2723059"/>
            <a:ext cx="1089668" cy="717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850" b="1" dirty="0">
                <a:solidFill>
                  <a:srgbClr val="FFC8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5.5×</a:t>
            </a:r>
            <a:endParaRPr lang="en-US" sz="3850" dirty="0"/>
          </a:p>
        </p:txBody>
      </p:sp>
      <p:sp>
        <p:nvSpPr>
          <p:cNvPr id="9" name="Text 7"/>
          <p:cNvSpPr txBox="1"/>
          <p:nvPr/>
        </p:nvSpPr>
        <p:spPr>
          <a:xfrm>
            <a:off x="3308747" y="3413323"/>
            <a:ext cx="1984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83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COSTS, YEAR 1 → YEAR 3</a:t>
            </a:r>
            <a:endParaRPr lang="en-US" sz="830" dirty="0"/>
          </a:p>
        </p:txBody>
      </p:sp>
      <p:sp>
        <p:nvSpPr>
          <p:cNvPr id="10" name="Text 8"/>
          <p:cNvSpPr txBox="1"/>
          <p:nvPr/>
        </p:nvSpPr>
        <p:spPr>
          <a:xfrm>
            <a:off x="1032371" y="3923705"/>
            <a:ext cx="8329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Asset-light</a:t>
            </a:r>
            <a:endParaRPr lang="en-US" sz="1030" dirty="0"/>
          </a:p>
        </p:txBody>
      </p:sp>
      <p:sp>
        <p:nvSpPr>
          <p:cNvPr id="11" name="Text 9"/>
          <p:cNvSpPr txBox="1"/>
          <p:nvPr/>
        </p:nvSpPr>
        <p:spPr>
          <a:xfrm>
            <a:off x="1032371" y="4134445"/>
            <a:ext cx="19647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7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inventory, no fleet, no warehouses.</a:t>
            </a:r>
            <a:endParaRPr lang="en-US" sz="740" dirty="0"/>
          </a:p>
        </p:txBody>
      </p:sp>
      <p:sp>
        <p:nvSpPr>
          <p:cNvPr id="12" name="Text 10"/>
          <p:cNvSpPr txBox="1"/>
          <p:nvPr/>
        </p:nvSpPr>
        <p:spPr>
          <a:xfrm>
            <a:off x="3846612" y="3923705"/>
            <a:ext cx="169098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operations</a:t>
            </a:r>
            <a:endParaRPr lang="en-US" sz="1030" dirty="0"/>
          </a:p>
        </p:txBody>
      </p:sp>
      <p:sp>
        <p:nvSpPr>
          <p:cNvPr id="13" name="Text 11"/>
          <p:cNvSpPr txBox="1"/>
          <p:nvPr/>
        </p:nvSpPr>
        <p:spPr>
          <a:xfrm>
            <a:off x="3846612" y="4134445"/>
            <a:ext cx="1908299" cy="418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7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reminders, auto-cancel, auto-complete, payment matching, Levi support.</a:t>
            </a:r>
            <a:endParaRPr lang="en-US" sz="740" dirty="0"/>
          </a:p>
        </p:txBody>
      </p:sp>
      <p:sp>
        <p:nvSpPr>
          <p:cNvPr id="14" name="Text 12"/>
          <p:cNvSpPr txBox="1"/>
          <p:nvPr/>
        </p:nvSpPr>
        <p:spPr>
          <a:xfrm>
            <a:off x="1032371" y="4869458"/>
            <a:ext cx="146750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Repeatable campus playbook</a:t>
            </a:r>
            <a:endParaRPr lang="en-US" sz="1030" dirty="0"/>
          </a:p>
        </p:txBody>
      </p:sp>
      <p:sp>
        <p:nvSpPr>
          <p:cNvPr id="15" name="Text 13"/>
          <p:cNvSpPr txBox="1"/>
          <p:nvPr/>
        </p:nvSpPr>
        <p:spPr>
          <a:xfrm>
            <a:off x="1032371" y="5270698"/>
            <a:ext cx="2017542" cy="275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7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1,100+ Nigerian institutions are already in the app, including medical colleges.</a:t>
            </a:r>
            <a:endParaRPr lang="en-US" sz="740" dirty="0"/>
          </a:p>
        </p:txBody>
      </p:sp>
      <p:sp>
        <p:nvSpPr>
          <p:cNvPr id="16" name="Text 14"/>
          <p:cNvSpPr txBox="1"/>
          <p:nvPr/>
        </p:nvSpPr>
        <p:spPr>
          <a:xfrm>
            <a:off x="3846612" y="4869458"/>
            <a:ext cx="86725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stack</a:t>
            </a:r>
            <a:endParaRPr lang="en-US" sz="1030" dirty="0"/>
          </a:p>
        </p:txBody>
      </p:sp>
      <p:sp>
        <p:nvSpPr>
          <p:cNvPr id="17" name="Text 15"/>
          <p:cNvSpPr txBox="1"/>
          <p:nvPr/>
        </p:nvSpPr>
        <p:spPr>
          <a:xfrm>
            <a:off x="3846612" y="5080198"/>
            <a:ext cx="1951932" cy="275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7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Installable web app, managed database, CDN: capacity on demand.</a:t>
            </a:r>
            <a:endParaRPr lang="en-US" sz="740" dirty="0"/>
          </a:p>
        </p:txBody>
      </p:sp>
      <p:sp>
        <p:nvSpPr>
          <p:cNvPr id="18" name="Text 16"/>
          <p:cNvSpPr txBox="1"/>
          <p:nvPr/>
        </p:nvSpPr>
        <p:spPr>
          <a:xfrm>
            <a:off x="6498530" y="1200051"/>
            <a:ext cx="4224268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790" b="1" spc="1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VENDORS &amp; MONTHLY REVENUE, BY MONTH</a:t>
            </a:r>
            <a:endParaRPr lang="en-US" sz="790" dirty="0"/>
          </a:p>
        </p:txBody>
      </p:sp>
      <p:sp>
        <p:nvSpPr>
          <p:cNvPr id="19" name="Text 17"/>
          <p:cNvSpPr txBox="1"/>
          <p:nvPr/>
        </p:nvSpPr>
        <p:spPr>
          <a:xfrm>
            <a:off x="6498530" y="5580856"/>
            <a:ext cx="5240470" cy="309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7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case. Registered vendors 1,100 (M12) → 3,600 (M24) → 8,500 (M36); about 45–60% active. Network effects (follows, leaderboard, requests) lower the cost of each new vendor.</a:t>
            </a:r>
            <a:endParaRPr lang="en-US" sz="790" dirty="0"/>
          </a:p>
        </p:txBody>
      </p:sp>
      <p:sp>
        <p:nvSpPr>
          <p:cNvPr id="20" name="Text 18"/>
          <p:cNvSpPr txBox="1"/>
          <p:nvPr/>
        </p:nvSpPr>
        <p:spPr>
          <a:xfrm>
            <a:off x="599281" y="6217940"/>
            <a:ext cx="8882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levromart.com</a:t>
            </a:r>
            <a:endParaRPr lang="en-US" sz="830" dirty="0"/>
          </a:p>
        </p:txBody>
      </p:sp>
      <p:sp>
        <p:nvSpPr>
          <p:cNvPr id="21" name="Text 19"/>
          <p:cNvSpPr txBox="1"/>
          <p:nvPr/>
        </p:nvSpPr>
        <p:spPr>
          <a:xfrm>
            <a:off x="8862814" y="6217940"/>
            <a:ext cx="312738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LevroMart · AMSUL Business Pitch Competition 2026</a:t>
            </a:r>
            <a:endParaRPr lang="en-US" sz="8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0641" y="521891"/>
            <a:ext cx="2945734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890" b="1" spc="330" kern="0" dirty="0">
                <a:solidFill>
                  <a:srgbClr val="0F9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SUSTAINABILITY STRATEGY</a:t>
            </a:r>
            <a:endParaRPr lang="en-US" sz="890" dirty="0"/>
          </a:p>
        </p:txBody>
      </p:sp>
      <p:sp>
        <p:nvSpPr>
          <p:cNvPr id="3" name="Text 1"/>
          <p:cNvSpPr txBox="1"/>
          <p:nvPr/>
        </p:nvSpPr>
        <p:spPr>
          <a:xfrm>
            <a:off x="11579523" y="521990"/>
            <a:ext cx="256877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890" b="1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890" dirty="0"/>
          </a:p>
        </p:txBody>
      </p:sp>
      <p:sp>
        <p:nvSpPr>
          <p:cNvPr id="4" name="Text 2"/>
          <p:cNvSpPr txBox="1"/>
          <p:nvPr/>
        </p:nvSpPr>
        <p:spPr>
          <a:xfrm>
            <a:off x="406400" y="829171"/>
            <a:ext cx="7529580" cy="104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160" b="1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to last: </a:t>
            </a:r>
            <a:pPr algn="l" indent="0" marL="0">
              <a:lnSpc>
                <a:spcPct val="85000"/>
              </a:lnSpc>
              <a:buNone/>
            </a:pPr>
            <a:r>
              <a:rPr lang="en-US" sz="3160" b="1" dirty="0">
                <a:solidFill>
                  <a:srgbClr val="0F9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economic, operational, environmental.</a:t>
            </a:r>
            <a:endParaRPr lang="en-US" sz="3160" dirty="0"/>
          </a:p>
        </p:txBody>
      </p:sp>
      <p:sp>
        <p:nvSpPr>
          <p:cNvPr id="5" name="Text 3"/>
          <p:cNvSpPr txBox="1"/>
          <p:nvPr/>
        </p:nvSpPr>
        <p:spPr>
          <a:xfrm>
            <a:off x="615950" y="2745581"/>
            <a:ext cx="113128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1650" b="1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798810" y="3141762"/>
            <a:ext cx="3041388" cy="339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90" b="1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Recurring, aligned revenue:</a:t>
            </a:r>
            <a:pPr algn="l" indent="0" marL="0">
              <a:lnSpc>
                <a:spcPct val="110000"/>
              </a:lnSpc>
              <a:buNone/>
            </a:pPr>
            <a:r>
              <a:rPr lang="en-US" sz="890" dirty="0">
                <a:solidFill>
                  <a:srgbClr val="2742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commission only on completed sales, or a flat monthly listing fee.</a:t>
            </a:r>
            <a:endParaRPr lang="en-US" sz="890" dirty="0"/>
          </a:p>
        </p:txBody>
      </p:sp>
      <p:sp>
        <p:nvSpPr>
          <p:cNvPr id="7" name="Text 5"/>
          <p:cNvSpPr txBox="1"/>
          <p:nvPr/>
        </p:nvSpPr>
        <p:spPr>
          <a:xfrm>
            <a:off x="798810" y="3561259"/>
            <a:ext cx="2838402" cy="339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90" b="1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 costs:</a:t>
            </a:r>
            <a:pPr algn="l" indent="0" marL="0">
              <a:lnSpc>
                <a:spcPct val="110000"/>
              </a:lnSpc>
              <a:buNone/>
            </a:pPr>
            <a:r>
              <a:rPr lang="en-US" sz="890" dirty="0">
                <a:solidFill>
                  <a:srgbClr val="2742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student team on stipends; infrastructure under ₦150K a month in Year 1.</a:t>
            </a:r>
            <a:endParaRPr lang="en-US" sz="890" dirty="0"/>
          </a:p>
        </p:txBody>
      </p:sp>
      <p:sp>
        <p:nvSpPr>
          <p:cNvPr id="8" name="Text 6"/>
          <p:cNvSpPr txBox="1"/>
          <p:nvPr/>
        </p:nvSpPr>
        <p:spPr>
          <a:xfrm>
            <a:off x="798810" y="3980755"/>
            <a:ext cx="3225795" cy="339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90" b="1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Break-even in month 19</a:t>
            </a:r>
            <a:pPr algn="l" indent="0" marL="0">
              <a:lnSpc>
                <a:spcPct val="110000"/>
              </a:lnSpc>
              <a:buNone/>
            </a:pPr>
            <a:r>
              <a:rPr lang="en-US" sz="890" dirty="0">
                <a:solidFill>
                  <a:srgbClr val="2742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with a funded runway and a 36% cash buffer.</a:t>
            </a:r>
            <a:endParaRPr lang="en-US" sz="890" dirty="0"/>
          </a:p>
        </p:txBody>
      </p:sp>
      <p:sp>
        <p:nvSpPr>
          <p:cNvPr id="9" name="Text 7"/>
          <p:cNvSpPr txBox="1"/>
          <p:nvPr/>
        </p:nvSpPr>
        <p:spPr>
          <a:xfrm>
            <a:off x="4463157" y="2745581"/>
            <a:ext cx="143204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1650" b="1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</a:t>
            </a:r>
            <a:endParaRPr lang="en-US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4646017" y="3141762"/>
            <a:ext cx="3106360" cy="339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90" b="1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built in:</a:t>
            </a:r>
            <a:pPr algn="l" indent="0" marL="0">
              <a:lnSpc>
                <a:spcPct val="110000"/>
              </a:lnSpc>
              <a:buNone/>
            </a:pPr>
            <a:r>
              <a:rPr lang="en-US" sz="890" dirty="0">
                <a:solidFill>
                  <a:srgbClr val="2742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vendor verification, ratings, dispute process, order records.</a:t>
            </a:r>
            <a:endParaRPr lang="en-US" sz="890" dirty="0"/>
          </a:p>
        </p:txBody>
      </p:sp>
      <p:sp>
        <p:nvSpPr>
          <p:cNvPr id="11" name="Text 9"/>
          <p:cNvSpPr txBox="1"/>
          <p:nvPr/>
        </p:nvSpPr>
        <p:spPr>
          <a:xfrm>
            <a:off x="4646017" y="3561259"/>
            <a:ext cx="3116977" cy="339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90" b="1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Self-running workflows:</a:t>
            </a:r>
            <a:pPr algn="l" indent="0" marL="0">
              <a:lnSpc>
                <a:spcPct val="110000"/>
              </a:lnSpc>
              <a:buNone/>
            </a:pPr>
            <a:r>
              <a:rPr lang="en-US" sz="890" dirty="0">
                <a:solidFill>
                  <a:srgbClr val="2742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reminders, auto-cancel, auto-complete, payment matching.</a:t>
            </a:r>
            <a:endParaRPr lang="en-US" sz="890" dirty="0"/>
          </a:p>
        </p:txBody>
      </p:sp>
      <p:sp>
        <p:nvSpPr>
          <p:cNvPr id="12" name="Text 10"/>
          <p:cNvSpPr txBox="1"/>
          <p:nvPr/>
        </p:nvSpPr>
        <p:spPr>
          <a:xfrm>
            <a:off x="4646017" y="3980755"/>
            <a:ext cx="3011874" cy="339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90" b="1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Compliance:</a:t>
            </a:r>
            <a:pPr algn="l" indent="0" marL="0">
              <a:lnSpc>
                <a:spcPct val="110000"/>
              </a:lnSpc>
              <a:buNone/>
            </a:pPr>
            <a:r>
              <a:rPr lang="en-US" sz="890" dirty="0">
                <a:solidFill>
                  <a:srgbClr val="2742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Terms, Privacy and Refund policies updated Oct 2026; NDPA-aware data handling.</a:t>
            </a:r>
            <a:endParaRPr lang="en-US" sz="890" dirty="0"/>
          </a:p>
        </p:txBody>
      </p:sp>
      <p:sp>
        <p:nvSpPr>
          <p:cNvPr id="13" name="Text 11"/>
          <p:cNvSpPr txBox="1"/>
          <p:nvPr/>
        </p:nvSpPr>
        <p:spPr>
          <a:xfrm>
            <a:off x="8310364" y="2745581"/>
            <a:ext cx="26562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1650" b="1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Environmental &amp; social</a:t>
            </a:r>
            <a:endParaRPr lang="en-US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8493224" y="3141762"/>
            <a:ext cx="3250850" cy="339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90" b="1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Rent, resell, reuse:</a:t>
            </a:r>
            <a:pPr algn="l" indent="0" marL="0">
              <a:lnSpc>
                <a:spcPct val="110000"/>
              </a:lnSpc>
              <a:buNone/>
            </a:pPr>
            <a:r>
              <a:rPr lang="en-US" sz="890" dirty="0">
                <a:solidFill>
                  <a:srgbClr val="2742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rentals and second-hand listings extend product life.</a:t>
            </a:r>
            <a:endParaRPr lang="en-US" sz="890" dirty="0"/>
          </a:p>
        </p:txBody>
      </p:sp>
      <p:sp>
        <p:nvSpPr>
          <p:cNvPr id="15" name="Text 13"/>
          <p:cNvSpPr txBox="1"/>
          <p:nvPr/>
        </p:nvSpPr>
        <p:spPr>
          <a:xfrm>
            <a:off x="8493224" y="3561259"/>
            <a:ext cx="3085446" cy="339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90" b="1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Hyperlocal buying:</a:t>
            </a:r>
            <a:pPr algn="l" indent="0" marL="0">
              <a:lnSpc>
                <a:spcPct val="110000"/>
              </a:lnSpc>
              <a:buNone/>
            </a:pPr>
            <a:r>
              <a:rPr lang="en-US" sz="890" dirty="0">
                <a:solidFill>
                  <a:srgbClr val="2742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distance-sorted results mean shorter trips and fewer parcels.</a:t>
            </a:r>
            <a:endParaRPr lang="en-US" sz="890" dirty="0"/>
          </a:p>
        </p:txBody>
      </p:sp>
      <p:sp>
        <p:nvSpPr>
          <p:cNvPr id="16" name="Text 14"/>
          <p:cNvSpPr txBox="1"/>
          <p:nvPr/>
        </p:nvSpPr>
        <p:spPr>
          <a:xfrm>
            <a:off x="8493224" y="3980755"/>
            <a:ext cx="3223247" cy="339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90" b="1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income:</a:t>
            </a:r>
            <a:pPr algn="l" indent="0" marL="0">
              <a:lnSpc>
                <a:spcPct val="110000"/>
              </a:lnSpc>
              <a:buNone/>
            </a:pPr>
            <a:r>
              <a:rPr lang="en-US" sz="890" dirty="0">
                <a:solidFill>
                  <a:srgbClr val="2742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small vendors earn online, without a shop or ads budget.</a:t>
            </a:r>
            <a:endParaRPr lang="en-US" sz="890" dirty="0"/>
          </a:p>
        </p:txBody>
      </p:sp>
      <p:sp>
        <p:nvSpPr>
          <p:cNvPr id="17" name="Text 15"/>
          <p:cNvSpPr txBox="1"/>
          <p:nvPr/>
        </p:nvSpPr>
        <p:spPr>
          <a:xfrm>
            <a:off x="636191" y="5218609"/>
            <a:ext cx="1257195" cy="601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790" b="1" spc="180" kern="0" dirty="0">
                <a:solidFill>
                  <a:srgbClr val="6A3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WEAKNESSES &amp; HOW WE MANAGE THEM</a:t>
            </a:r>
            <a:endParaRPr lang="en-US" sz="790" dirty="0"/>
          </a:p>
        </p:txBody>
      </p:sp>
      <p:sp>
        <p:nvSpPr>
          <p:cNvPr id="18" name="Text 16"/>
          <p:cNvSpPr txBox="1"/>
          <p:nvPr/>
        </p:nvSpPr>
        <p:spPr>
          <a:xfrm>
            <a:off x="2119511" y="5092303"/>
            <a:ext cx="8267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890" b="1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Pre-revenue</a:t>
            </a:r>
            <a:endParaRPr lang="en-US" sz="890" dirty="0"/>
          </a:p>
        </p:txBody>
      </p:sp>
      <p:sp>
        <p:nvSpPr>
          <p:cNvPr id="19" name="Text 17"/>
          <p:cNvSpPr txBox="1"/>
          <p:nvPr/>
        </p:nvSpPr>
        <p:spPr>
          <a:xfrm>
            <a:off x="2119511" y="5276354"/>
            <a:ext cx="2119035" cy="291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760" dirty="0">
                <a:solidFill>
                  <a:srgbClr val="4134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Billing goes live first; a funded runway to month 19.</a:t>
            </a:r>
            <a:endParaRPr lang="en-US" sz="760" dirty="0"/>
          </a:p>
        </p:txBody>
      </p:sp>
      <p:sp>
        <p:nvSpPr>
          <p:cNvPr id="20" name="Text 18"/>
          <p:cNvSpPr txBox="1"/>
          <p:nvPr/>
        </p:nvSpPr>
        <p:spPr>
          <a:xfrm>
            <a:off x="4519116" y="5092303"/>
            <a:ext cx="1025757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890" b="1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user base</a:t>
            </a:r>
            <a:endParaRPr lang="en-US" sz="890" dirty="0"/>
          </a:p>
        </p:txBody>
      </p:sp>
      <p:sp>
        <p:nvSpPr>
          <p:cNvPr id="21" name="Text 19"/>
          <p:cNvSpPr txBox="1"/>
          <p:nvPr/>
        </p:nvSpPr>
        <p:spPr>
          <a:xfrm>
            <a:off x="4519116" y="5276354"/>
            <a:ext cx="2265860" cy="291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760" dirty="0">
                <a:solidFill>
                  <a:srgbClr val="4134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Campus activations, ambassadors, Vendor of the Week.</a:t>
            </a:r>
            <a:endParaRPr lang="en-US" sz="760" dirty="0"/>
          </a:p>
        </p:txBody>
      </p:sp>
      <p:sp>
        <p:nvSpPr>
          <p:cNvPr id="22" name="Text 20"/>
          <p:cNvSpPr txBox="1"/>
          <p:nvPr/>
        </p:nvSpPr>
        <p:spPr>
          <a:xfrm>
            <a:off x="6918821" y="5092303"/>
            <a:ext cx="1061747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890" b="1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not live</a:t>
            </a:r>
            <a:endParaRPr lang="en-US" sz="890" dirty="0"/>
          </a:p>
        </p:txBody>
      </p:sp>
      <p:sp>
        <p:nvSpPr>
          <p:cNvPr id="23" name="Text 21"/>
          <p:cNvSpPr txBox="1"/>
          <p:nvPr/>
        </p:nvSpPr>
        <p:spPr>
          <a:xfrm>
            <a:off x="6918821" y="5276354"/>
            <a:ext cx="2007350" cy="291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760" dirty="0">
                <a:solidFill>
                  <a:srgbClr val="4134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Pickup first; campus partner (Run It) in progress.</a:t>
            </a:r>
            <a:endParaRPr lang="en-US" sz="760" dirty="0"/>
          </a:p>
        </p:txBody>
      </p:sp>
      <p:sp>
        <p:nvSpPr>
          <p:cNvPr id="24" name="Text 22"/>
          <p:cNvSpPr txBox="1"/>
          <p:nvPr/>
        </p:nvSpPr>
        <p:spPr>
          <a:xfrm>
            <a:off x="9318526" y="5092303"/>
            <a:ext cx="1084678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890" b="1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habit</a:t>
            </a:r>
            <a:endParaRPr lang="en-US" sz="890" dirty="0"/>
          </a:p>
        </p:txBody>
      </p:sp>
      <p:sp>
        <p:nvSpPr>
          <p:cNvPr id="25" name="Text 23"/>
          <p:cNvSpPr txBox="1"/>
          <p:nvPr/>
        </p:nvSpPr>
        <p:spPr>
          <a:xfrm>
            <a:off x="9318526" y="5276354"/>
            <a:ext cx="2279979" cy="291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760" dirty="0">
                <a:solidFill>
                  <a:srgbClr val="4134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keep chat, and add storefronts, records and trust.</a:t>
            </a:r>
            <a:endParaRPr lang="en-US" sz="760" dirty="0"/>
          </a:p>
        </p:txBody>
      </p:sp>
      <p:sp>
        <p:nvSpPr>
          <p:cNvPr id="26" name="Text 24"/>
          <p:cNvSpPr txBox="1"/>
          <p:nvPr/>
        </p:nvSpPr>
        <p:spPr>
          <a:xfrm>
            <a:off x="599281" y="6217940"/>
            <a:ext cx="8882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830" b="1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levromart.com</a:t>
            </a:r>
            <a:endParaRPr lang="en-US" sz="830" dirty="0"/>
          </a:p>
        </p:txBody>
      </p:sp>
      <p:sp>
        <p:nvSpPr>
          <p:cNvPr id="27" name="Text 25"/>
          <p:cNvSpPr txBox="1"/>
          <p:nvPr/>
        </p:nvSpPr>
        <p:spPr>
          <a:xfrm>
            <a:off x="8862814" y="6217940"/>
            <a:ext cx="312738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830" b="1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LevroMart · AMSUL Business Pitch Competition 2026</a:t>
            </a:r>
            <a:endParaRPr lang="en-US" sz="83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0641" y="521891"/>
            <a:ext cx="2761115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890" b="1" spc="330" kern="0" dirty="0">
                <a:solidFill>
                  <a:srgbClr val="27F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HEALTH &amp; P&amp;L</a:t>
            </a:r>
            <a:endParaRPr lang="en-US" sz="890" dirty="0"/>
          </a:p>
        </p:txBody>
      </p:sp>
      <p:sp>
        <p:nvSpPr>
          <p:cNvPr id="3" name="Text 1"/>
          <p:cNvSpPr txBox="1"/>
          <p:nvPr/>
        </p:nvSpPr>
        <p:spPr>
          <a:xfrm>
            <a:off x="11578233" y="521990"/>
            <a:ext cx="258167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8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890" dirty="0"/>
          </a:p>
        </p:txBody>
      </p:sp>
      <p:sp>
        <p:nvSpPr>
          <p:cNvPr id="4" name="Text 2"/>
          <p:cNvSpPr txBox="1"/>
          <p:nvPr/>
        </p:nvSpPr>
        <p:spPr>
          <a:xfrm>
            <a:off x="406400" y="829171"/>
            <a:ext cx="988164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1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pre-revenue to </a:t>
            </a:r>
            <a:pPr algn="l" indent="0" marL="0">
              <a:lnSpc>
                <a:spcPct val="85000"/>
              </a:lnSpc>
              <a:buNone/>
            </a:pPr>
            <a:r>
              <a:rPr lang="en-US" sz="3160" b="1" dirty="0">
                <a:solidFill>
                  <a:srgbClr val="27F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break-even in 19 months.</a:t>
            </a:r>
            <a:endParaRPr lang="en-US" sz="3160" dirty="0"/>
          </a:p>
        </p:txBody>
      </p:sp>
      <p:sp>
        <p:nvSpPr>
          <p:cNvPr id="5" name="Text 3"/>
          <p:cNvSpPr txBox="1"/>
          <p:nvPr/>
        </p:nvSpPr>
        <p:spPr>
          <a:xfrm>
            <a:off x="697111" y="1698427"/>
            <a:ext cx="16745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720" b="1" spc="13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CASE (₦ MILLION)</a:t>
            </a:r>
            <a:endParaRPr lang="en-US" sz="720" dirty="0"/>
          </a:p>
        </p:txBody>
      </p:sp>
      <p:sp>
        <p:nvSpPr>
          <p:cNvPr id="6" name="Text 4"/>
          <p:cNvSpPr txBox="1"/>
          <p:nvPr/>
        </p:nvSpPr>
        <p:spPr>
          <a:xfrm>
            <a:off x="3371453" y="1698427"/>
            <a:ext cx="5016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4167"/>
              </a:lnSpc>
              <a:buNone/>
            </a:pPr>
            <a:r>
              <a:rPr lang="en-US" sz="720" b="1" spc="13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</a:t>
            </a:r>
            <a:endParaRPr lang="en-US" sz="720" dirty="0"/>
          </a:p>
        </p:txBody>
      </p:sp>
      <p:sp>
        <p:nvSpPr>
          <p:cNvPr id="7" name="Text 5"/>
          <p:cNvSpPr txBox="1"/>
          <p:nvPr/>
        </p:nvSpPr>
        <p:spPr>
          <a:xfrm>
            <a:off x="4114403" y="1698427"/>
            <a:ext cx="5213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4167"/>
              </a:lnSpc>
              <a:buNone/>
            </a:pPr>
            <a:r>
              <a:rPr lang="en-US" sz="720" b="1" spc="13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2</a:t>
            </a:r>
            <a:endParaRPr lang="en-US" sz="720" dirty="0"/>
          </a:p>
        </p:txBody>
      </p:sp>
      <p:sp>
        <p:nvSpPr>
          <p:cNvPr id="8" name="Text 6"/>
          <p:cNvSpPr txBox="1"/>
          <p:nvPr/>
        </p:nvSpPr>
        <p:spPr>
          <a:xfrm>
            <a:off x="4878189" y="1698427"/>
            <a:ext cx="5207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4167"/>
              </a:lnSpc>
              <a:buNone/>
            </a:pPr>
            <a:r>
              <a:rPr lang="en-US" sz="720" b="1" spc="13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3</a:t>
            </a:r>
            <a:endParaRPr lang="en-US" sz="720" dirty="0"/>
          </a:p>
        </p:txBody>
      </p:sp>
      <p:sp>
        <p:nvSpPr>
          <p:cNvPr id="9" name="Text 7"/>
          <p:cNvSpPr txBox="1"/>
          <p:nvPr/>
        </p:nvSpPr>
        <p:spPr>
          <a:xfrm>
            <a:off x="697111" y="1995487"/>
            <a:ext cx="62329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10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1030" dirty="0"/>
          </a:p>
        </p:txBody>
      </p:sp>
      <p:sp>
        <p:nvSpPr>
          <p:cNvPr id="10" name="Text 8"/>
          <p:cNvSpPr txBox="1"/>
          <p:nvPr/>
        </p:nvSpPr>
        <p:spPr>
          <a:xfrm>
            <a:off x="3608586" y="1995487"/>
            <a:ext cx="26451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4167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</a:t>
            </a:r>
            <a:endParaRPr lang="en-US" sz="1030" dirty="0"/>
          </a:p>
        </p:txBody>
      </p:sp>
      <p:sp>
        <p:nvSpPr>
          <p:cNvPr id="11" name="Text 9"/>
          <p:cNvSpPr txBox="1"/>
          <p:nvPr/>
        </p:nvSpPr>
        <p:spPr>
          <a:xfrm>
            <a:off x="4282777" y="1995487"/>
            <a:ext cx="3530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4167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32.5</a:t>
            </a:r>
            <a:endParaRPr lang="en-US" sz="1030" dirty="0"/>
          </a:p>
        </p:txBody>
      </p:sp>
      <p:sp>
        <p:nvSpPr>
          <p:cNvPr id="12" name="Text 10"/>
          <p:cNvSpPr txBox="1"/>
          <p:nvPr/>
        </p:nvSpPr>
        <p:spPr>
          <a:xfrm>
            <a:off x="5005784" y="1995487"/>
            <a:ext cx="39310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4167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115.0</a:t>
            </a:r>
            <a:endParaRPr lang="en-US" sz="1030" dirty="0"/>
          </a:p>
        </p:txBody>
      </p:sp>
      <p:sp>
        <p:nvSpPr>
          <p:cNvPr id="13" name="Text 11"/>
          <p:cNvSpPr txBox="1"/>
          <p:nvPr/>
        </p:nvSpPr>
        <p:spPr>
          <a:xfrm>
            <a:off x="697111" y="2344738"/>
            <a:ext cx="115570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10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costs</a:t>
            </a:r>
            <a:endParaRPr lang="en-US" sz="1030" dirty="0"/>
          </a:p>
        </p:txBody>
      </p:sp>
      <p:sp>
        <p:nvSpPr>
          <p:cNvPr id="14" name="Text 12"/>
          <p:cNvSpPr txBox="1"/>
          <p:nvPr/>
        </p:nvSpPr>
        <p:spPr>
          <a:xfrm>
            <a:off x="3555206" y="2344738"/>
            <a:ext cx="31789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4167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15.9</a:t>
            </a:r>
            <a:endParaRPr lang="en-US" sz="1030" dirty="0"/>
          </a:p>
        </p:txBody>
      </p:sp>
      <p:sp>
        <p:nvSpPr>
          <p:cNvPr id="15" name="Text 13"/>
          <p:cNvSpPr txBox="1"/>
          <p:nvPr/>
        </p:nvSpPr>
        <p:spPr>
          <a:xfrm>
            <a:off x="4265414" y="2344738"/>
            <a:ext cx="37038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4167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30.4</a:t>
            </a:r>
            <a:endParaRPr lang="en-US" sz="1030" dirty="0"/>
          </a:p>
        </p:txBody>
      </p:sp>
      <p:sp>
        <p:nvSpPr>
          <p:cNvPr id="16" name="Text 14"/>
          <p:cNvSpPr txBox="1"/>
          <p:nvPr/>
        </p:nvSpPr>
        <p:spPr>
          <a:xfrm>
            <a:off x="5043686" y="2344738"/>
            <a:ext cx="35520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4167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86.8</a:t>
            </a:r>
            <a:endParaRPr lang="en-US" sz="1030" dirty="0"/>
          </a:p>
        </p:txBody>
      </p:sp>
      <p:sp>
        <p:nvSpPr>
          <p:cNvPr id="17" name="Text 15"/>
          <p:cNvSpPr txBox="1"/>
          <p:nvPr/>
        </p:nvSpPr>
        <p:spPr>
          <a:xfrm>
            <a:off x="697111" y="2693988"/>
            <a:ext cx="140964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profit / (loss)</a:t>
            </a:r>
            <a:endParaRPr lang="en-US" sz="1140" dirty="0"/>
          </a:p>
        </p:txBody>
      </p:sp>
      <p:sp>
        <p:nvSpPr>
          <p:cNvPr id="18" name="Text 16"/>
          <p:cNvSpPr txBox="1"/>
          <p:nvPr/>
        </p:nvSpPr>
        <p:spPr>
          <a:xfrm>
            <a:off x="3388519" y="2693988"/>
            <a:ext cx="48458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4167"/>
              </a:lnSpc>
              <a:buNone/>
            </a:pPr>
            <a:r>
              <a:rPr lang="en-US" sz="1140" b="1" dirty="0">
                <a:solidFill>
                  <a:srgbClr val="FF9A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(10.6)</a:t>
            </a:r>
            <a:endParaRPr lang="en-US" sz="1140" dirty="0"/>
          </a:p>
        </p:txBody>
      </p:sp>
      <p:sp>
        <p:nvSpPr>
          <p:cNvPr id="19" name="Text 17"/>
          <p:cNvSpPr txBox="1"/>
          <p:nvPr/>
        </p:nvSpPr>
        <p:spPr>
          <a:xfrm>
            <a:off x="4378325" y="2693988"/>
            <a:ext cx="25747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4167"/>
              </a:lnSpc>
              <a:buNone/>
            </a:pPr>
            <a:r>
              <a:rPr lang="en-US" sz="1140" b="1" dirty="0">
                <a:solidFill>
                  <a:srgbClr val="27F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</a:t>
            </a:r>
            <a:endParaRPr lang="en-US" sz="1140" dirty="0"/>
          </a:p>
        </p:txBody>
      </p:sp>
      <p:sp>
        <p:nvSpPr>
          <p:cNvPr id="20" name="Text 18"/>
          <p:cNvSpPr txBox="1"/>
          <p:nvPr/>
        </p:nvSpPr>
        <p:spPr>
          <a:xfrm>
            <a:off x="5044877" y="2693988"/>
            <a:ext cx="35401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4167"/>
              </a:lnSpc>
              <a:buNone/>
            </a:pPr>
            <a:r>
              <a:rPr lang="en-US" sz="1140" b="1" dirty="0">
                <a:solidFill>
                  <a:srgbClr val="27F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28.1</a:t>
            </a:r>
            <a:endParaRPr lang="en-US" sz="1140" dirty="0"/>
          </a:p>
        </p:txBody>
      </p:sp>
      <p:sp>
        <p:nvSpPr>
          <p:cNvPr id="21" name="Text 19"/>
          <p:cNvSpPr txBox="1"/>
          <p:nvPr/>
        </p:nvSpPr>
        <p:spPr>
          <a:xfrm>
            <a:off x="697111" y="3062287"/>
            <a:ext cx="18267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10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vendors (year end)</a:t>
            </a:r>
            <a:endParaRPr lang="en-US" sz="1030" dirty="0"/>
          </a:p>
        </p:txBody>
      </p:sp>
      <p:sp>
        <p:nvSpPr>
          <p:cNvPr id="22" name="Text 20"/>
          <p:cNvSpPr txBox="1"/>
          <p:nvPr/>
        </p:nvSpPr>
        <p:spPr>
          <a:xfrm>
            <a:off x="3581598" y="3062287"/>
            <a:ext cx="29150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4167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577</a:t>
            </a:r>
            <a:endParaRPr lang="en-US" sz="1030" dirty="0"/>
          </a:p>
        </p:txBody>
      </p:sp>
      <p:sp>
        <p:nvSpPr>
          <p:cNvPr id="23" name="Text 21"/>
          <p:cNvSpPr txBox="1"/>
          <p:nvPr/>
        </p:nvSpPr>
        <p:spPr>
          <a:xfrm>
            <a:off x="4220369" y="3062287"/>
            <a:ext cx="41542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4167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2,160</a:t>
            </a:r>
            <a:endParaRPr lang="en-US" sz="1030" dirty="0"/>
          </a:p>
        </p:txBody>
      </p:sp>
      <p:sp>
        <p:nvSpPr>
          <p:cNvPr id="24" name="Text 22"/>
          <p:cNvSpPr txBox="1"/>
          <p:nvPr/>
        </p:nvSpPr>
        <p:spPr>
          <a:xfrm>
            <a:off x="4972447" y="3062287"/>
            <a:ext cx="42644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4167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5,100</a:t>
            </a:r>
            <a:endParaRPr lang="en-US" sz="1030" dirty="0"/>
          </a:p>
        </p:txBody>
      </p:sp>
      <p:sp>
        <p:nvSpPr>
          <p:cNvPr id="25" name="Text 23"/>
          <p:cNvSpPr txBox="1"/>
          <p:nvPr/>
        </p:nvSpPr>
        <p:spPr>
          <a:xfrm>
            <a:off x="697111" y="3411538"/>
            <a:ext cx="256524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10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revenue, month 3 / 12 / 24 / 36</a:t>
            </a:r>
            <a:endParaRPr lang="en-US" sz="1030" dirty="0"/>
          </a:p>
        </p:txBody>
      </p:sp>
      <p:sp>
        <p:nvSpPr>
          <p:cNvPr id="26" name="Text 24"/>
          <p:cNvSpPr txBox="1"/>
          <p:nvPr/>
        </p:nvSpPr>
        <p:spPr>
          <a:xfrm>
            <a:off x="3617031" y="3411538"/>
            <a:ext cx="178185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4167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₦0.18M · ₦1.0M · ₦4.8M · ₦14.2M</a:t>
            </a:r>
            <a:endParaRPr lang="en-US" sz="1030" dirty="0"/>
          </a:p>
        </p:txBody>
      </p:sp>
      <p:sp>
        <p:nvSpPr>
          <p:cNvPr id="27" name="Text 25"/>
          <p:cNvSpPr txBox="1"/>
          <p:nvPr/>
        </p:nvSpPr>
        <p:spPr>
          <a:xfrm>
            <a:off x="534591" y="4225429"/>
            <a:ext cx="1061853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1720" b="1" dirty="0">
                <a:solidFill>
                  <a:srgbClr val="27F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19</a:t>
            </a:r>
            <a:endParaRPr lang="en-US" sz="1720" dirty="0"/>
          </a:p>
        </p:txBody>
      </p:sp>
      <p:sp>
        <p:nvSpPr>
          <p:cNvPr id="28" name="Text 26"/>
          <p:cNvSpPr txBox="1"/>
          <p:nvPr/>
        </p:nvSpPr>
        <p:spPr>
          <a:xfrm>
            <a:off x="534591" y="4555629"/>
            <a:ext cx="1005268" cy="237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700" b="1" spc="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BREAK-EVEN</a:t>
            </a:r>
            <a:endParaRPr lang="en-US" sz="700" dirty="0"/>
          </a:p>
        </p:txBody>
      </p:sp>
      <p:sp>
        <p:nvSpPr>
          <p:cNvPr id="29" name="Text 27"/>
          <p:cNvSpPr txBox="1"/>
          <p:nvPr/>
        </p:nvSpPr>
        <p:spPr>
          <a:xfrm>
            <a:off x="1875631" y="4225429"/>
            <a:ext cx="86300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1720" b="1" dirty="0">
                <a:solidFill>
                  <a:srgbClr val="FFC8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₦14.7M</a:t>
            </a:r>
            <a:endParaRPr lang="en-US" sz="1720" dirty="0"/>
          </a:p>
        </p:txBody>
      </p:sp>
      <p:sp>
        <p:nvSpPr>
          <p:cNvPr id="30" name="Text 28"/>
          <p:cNvSpPr txBox="1"/>
          <p:nvPr/>
        </p:nvSpPr>
        <p:spPr>
          <a:xfrm>
            <a:off x="1875631" y="4555629"/>
            <a:ext cx="967367" cy="237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700" b="1" spc="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CASH NEED (MONTH 18)</a:t>
            </a:r>
            <a:endParaRPr lang="en-US" sz="700" dirty="0"/>
          </a:p>
        </p:txBody>
      </p:sp>
      <p:sp>
        <p:nvSpPr>
          <p:cNvPr id="31" name="Text 29"/>
          <p:cNvSpPr txBox="1"/>
          <p:nvPr/>
        </p:nvSpPr>
        <p:spPr>
          <a:xfrm>
            <a:off x="3216771" y="4225429"/>
            <a:ext cx="498376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1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1720" dirty="0"/>
          </a:p>
        </p:txBody>
      </p:sp>
      <p:sp>
        <p:nvSpPr>
          <p:cNvPr id="32" name="Text 30"/>
          <p:cNvSpPr txBox="1"/>
          <p:nvPr/>
        </p:nvSpPr>
        <p:spPr>
          <a:xfrm>
            <a:off x="3216771" y="4555629"/>
            <a:ext cx="865768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700" b="1" spc="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 MARGIN PER VENDOR</a:t>
            </a:r>
            <a:endParaRPr lang="en-US" sz="700" dirty="0"/>
          </a:p>
        </p:txBody>
      </p:sp>
      <p:sp>
        <p:nvSpPr>
          <p:cNvPr id="33" name="Text 31"/>
          <p:cNvSpPr txBox="1"/>
          <p:nvPr/>
        </p:nvSpPr>
        <p:spPr>
          <a:xfrm>
            <a:off x="4557911" y="4225429"/>
            <a:ext cx="742752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1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₦20M</a:t>
            </a:r>
            <a:endParaRPr lang="en-US" sz="1720" dirty="0"/>
          </a:p>
        </p:txBody>
      </p:sp>
      <p:sp>
        <p:nvSpPr>
          <p:cNvPr id="34" name="Text 32"/>
          <p:cNvSpPr txBox="1"/>
          <p:nvPr/>
        </p:nvSpPr>
        <p:spPr>
          <a:xfrm>
            <a:off x="4557911" y="4555629"/>
            <a:ext cx="992634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700" b="1" spc="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ASK: COVERS THE PEAK + 36% BUFFER</a:t>
            </a:r>
            <a:endParaRPr lang="en-US" sz="700" dirty="0"/>
          </a:p>
        </p:txBody>
      </p:sp>
      <p:sp>
        <p:nvSpPr>
          <p:cNvPr id="35" name="Text 33"/>
          <p:cNvSpPr txBox="1"/>
          <p:nvPr/>
        </p:nvSpPr>
        <p:spPr>
          <a:xfrm>
            <a:off x="406400" y="5128121"/>
            <a:ext cx="5362665" cy="4645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77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Costs: team stipends and hires (₦0.45M → ₦2.6M/month), campus marketing (₦0.65M → ₦3.0M), infrastructure, legal and 8% support. Revenue starts in month 3. Downside check: 30% fewer vendors moves break-even to about month 27.</a:t>
            </a:r>
            <a:endParaRPr lang="en-US" sz="770" dirty="0"/>
          </a:p>
        </p:txBody>
      </p:sp>
      <p:sp>
        <p:nvSpPr>
          <p:cNvPr id="36" name="Text 34"/>
          <p:cNvSpPr txBox="1"/>
          <p:nvPr/>
        </p:nvSpPr>
        <p:spPr>
          <a:xfrm>
            <a:off x="6183511" y="1708646"/>
            <a:ext cx="4674934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790" b="1" spc="1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REVENUE VS COSTS, AND CASH POSITION (₦M)</a:t>
            </a:r>
            <a:endParaRPr lang="en-US" sz="790" dirty="0"/>
          </a:p>
        </p:txBody>
      </p:sp>
      <p:sp>
        <p:nvSpPr>
          <p:cNvPr id="37" name="Text 35"/>
          <p:cNvSpPr txBox="1"/>
          <p:nvPr/>
        </p:nvSpPr>
        <p:spPr>
          <a:xfrm>
            <a:off x="599281" y="6217940"/>
            <a:ext cx="8882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levromart.com</a:t>
            </a:r>
            <a:endParaRPr lang="en-US" sz="830" dirty="0"/>
          </a:p>
        </p:txBody>
      </p:sp>
      <p:sp>
        <p:nvSpPr>
          <p:cNvPr id="38" name="Text 36"/>
          <p:cNvSpPr txBox="1"/>
          <p:nvPr/>
        </p:nvSpPr>
        <p:spPr>
          <a:xfrm>
            <a:off x="6750645" y="6217940"/>
            <a:ext cx="53874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Projections are estimates built on stated assumptions, to be validated with live billing data.</a:t>
            </a:r>
            <a:endParaRPr lang="en-US" sz="83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0641" y="521891"/>
            <a:ext cx="1076822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890" b="1" spc="330" kern="0" dirty="0">
                <a:solidFill>
                  <a:srgbClr val="8B6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TEAM</a:t>
            </a:r>
            <a:endParaRPr lang="en-US" sz="890" dirty="0"/>
          </a:p>
        </p:txBody>
      </p:sp>
      <p:sp>
        <p:nvSpPr>
          <p:cNvPr id="3" name="Text 1"/>
          <p:cNvSpPr txBox="1"/>
          <p:nvPr/>
        </p:nvSpPr>
        <p:spPr>
          <a:xfrm>
            <a:off x="11603137" y="521990"/>
            <a:ext cx="233263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890" b="1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90" dirty="0"/>
          </a:p>
        </p:txBody>
      </p:sp>
      <p:sp>
        <p:nvSpPr>
          <p:cNvPr id="4" name="Text 2"/>
          <p:cNvSpPr txBox="1"/>
          <p:nvPr/>
        </p:nvSpPr>
        <p:spPr>
          <a:xfrm>
            <a:off x="406400" y="971352"/>
            <a:ext cx="7222235" cy="615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300" b="1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Nine students, </a:t>
            </a:r>
            <a:pPr algn="l" indent="0" marL="0">
              <a:lnSpc>
                <a:spcPct val="85000"/>
              </a:lnSpc>
              <a:buNone/>
            </a:pPr>
            <a:r>
              <a:rPr lang="en-US" sz="3300" b="1" dirty="0">
                <a:solidFill>
                  <a:srgbClr val="6A3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marketplace.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406400" y="1647230"/>
            <a:ext cx="9471533" cy="507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10" dirty="0">
                <a:solidFill>
                  <a:srgbClr val="5B4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Product, technology, finance, growth, community and research: every function a two-sided marketplace needs.</a:t>
            </a:r>
            <a:endParaRPr lang="en-US" sz="1310" dirty="0"/>
          </a:p>
        </p:txBody>
      </p:sp>
      <p:sp>
        <p:nvSpPr>
          <p:cNvPr id="6" name="Text 4"/>
          <p:cNvSpPr txBox="1"/>
          <p:nvPr/>
        </p:nvSpPr>
        <p:spPr>
          <a:xfrm>
            <a:off x="406400" y="4069854"/>
            <a:ext cx="92872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833"/>
              </a:lnSpc>
              <a:buNone/>
            </a:pPr>
            <a:r>
              <a:rPr lang="en-US" sz="1030" b="1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Kennis Dede</a:t>
            </a:r>
            <a:endParaRPr lang="en-US" sz="1030" dirty="0"/>
          </a:p>
        </p:txBody>
      </p:sp>
      <p:sp>
        <p:nvSpPr>
          <p:cNvPr id="7" name="Text 5"/>
          <p:cNvSpPr txBox="1"/>
          <p:nvPr/>
        </p:nvSpPr>
        <p:spPr>
          <a:xfrm>
            <a:off x="406400" y="4293295"/>
            <a:ext cx="10681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720" b="1" spc="80" kern="0" dirty="0">
                <a:solidFill>
                  <a:srgbClr val="6A3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&amp; CEO</a:t>
            </a:r>
            <a:endParaRPr lang="en-US" sz="720" dirty="0"/>
          </a:p>
        </p:txBody>
      </p:sp>
      <p:sp>
        <p:nvSpPr>
          <p:cNvPr id="8" name="Text 6"/>
          <p:cNvSpPr txBox="1"/>
          <p:nvPr/>
        </p:nvSpPr>
        <p:spPr>
          <a:xfrm>
            <a:off x="1683147" y="4069854"/>
            <a:ext cx="89825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833"/>
              </a:lnSpc>
              <a:buNone/>
            </a:pPr>
            <a:r>
              <a:rPr lang="en-US" sz="1030" b="1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Yasir Oyebo</a:t>
            </a:r>
            <a:endParaRPr lang="en-US" sz="1030" dirty="0"/>
          </a:p>
        </p:txBody>
      </p:sp>
      <p:sp>
        <p:nvSpPr>
          <p:cNvPr id="9" name="Text 7"/>
          <p:cNvSpPr txBox="1"/>
          <p:nvPr/>
        </p:nvSpPr>
        <p:spPr>
          <a:xfrm>
            <a:off x="1683147" y="4293295"/>
            <a:ext cx="916408" cy="410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720" b="1" spc="80" kern="0" dirty="0">
                <a:solidFill>
                  <a:srgbClr val="6A3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CHIEF TECHNOLOGY OFFICER</a:t>
            </a:r>
            <a:endParaRPr lang="en-US" sz="720" dirty="0"/>
          </a:p>
        </p:txBody>
      </p:sp>
      <p:sp>
        <p:nvSpPr>
          <p:cNvPr id="10" name="Text 8"/>
          <p:cNvSpPr txBox="1"/>
          <p:nvPr/>
        </p:nvSpPr>
        <p:spPr>
          <a:xfrm>
            <a:off x="2959894" y="4069854"/>
            <a:ext cx="117969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833"/>
              </a:lnSpc>
              <a:buNone/>
            </a:pPr>
            <a:r>
              <a:rPr lang="en-US" sz="1030" b="1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Korede Bankole</a:t>
            </a:r>
            <a:endParaRPr lang="en-US" sz="1030" dirty="0"/>
          </a:p>
        </p:txBody>
      </p:sp>
      <p:sp>
        <p:nvSpPr>
          <p:cNvPr id="11" name="Text 9"/>
          <p:cNvSpPr txBox="1"/>
          <p:nvPr/>
        </p:nvSpPr>
        <p:spPr>
          <a:xfrm>
            <a:off x="2959894" y="4293295"/>
            <a:ext cx="989661" cy="549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720" b="1" spc="80" kern="0" dirty="0">
                <a:solidFill>
                  <a:srgbClr val="6A3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&amp; BUSINESS DEVELOPMENT LEAD</a:t>
            </a:r>
            <a:endParaRPr lang="en-US" sz="720" dirty="0"/>
          </a:p>
        </p:txBody>
      </p:sp>
      <p:sp>
        <p:nvSpPr>
          <p:cNvPr id="12" name="Text 10"/>
          <p:cNvSpPr txBox="1"/>
          <p:nvPr/>
        </p:nvSpPr>
        <p:spPr>
          <a:xfrm>
            <a:off x="4236641" y="4069854"/>
            <a:ext cx="80780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833"/>
              </a:lnSpc>
              <a:buNone/>
            </a:pPr>
            <a:r>
              <a:rPr lang="en-US" sz="1030" b="1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Faith Alalu</a:t>
            </a:r>
            <a:endParaRPr lang="en-US" sz="1030" dirty="0"/>
          </a:p>
        </p:txBody>
      </p:sp>
      <p:sp>
        <p:nvSpPr>
          <p:cNvPr id="13" name="Text 11"/>
          <p:cNvSpPr txBox="1"/>
          <p:nvPr/>
        </p:nvSpPr>
        <p:spPr>
          <a:xfrm>
            <a:off x="4236641" y="4293295"/>
            <a:ext cx="1177678" cy="27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720" b="1" spc="80" kern="0" dirty="0">
                <a:solidFill>
                  <a:srgbClr val="6A3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&amp; MARKETING LEAD</a:t>
            </a:r>
            <a:endParaRPr lang="en-US" sz="720" dirty="0"/>
          </a:p>
        </p:txBody>
      </p:sp>
      <p:sp>
        <p:nvSpPr>
          <p:cNvPr id="14" name="Text 12"/>
          <p:cNvSpPr txBox="1"/>
          <p:nvPr/>
        </p:nvSpPr>
        <p:spPr>
          <a:xfrm>
            <a:off x="5513388" y="4069953"/>
            <a:ext cx="794320" cy="36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833"/>
              </a:lnSpc>
              <a:buNone/>
            </a:pPr>
            <a:r>
              <a:rPr lang="en-US" sz="1030" b="1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Emmanuel Mbonu</a:t>
            </a:r>
            <a:endParaRPr lang="en-US" sz="1030" dirty="0"/>
          </a:p>
        </p:txBody>
      </p:sp>
      <p:sp>
        <p:nvSpPr>
          <p:cNvPr id="15" name="Text 13"/>
          <p:cNvSpPr txBox="1"/>
          <p:nvPr/>
        </p:nvSpPr>
        <p:spPr>
          <a:xfrm>
            <a:off x="5513388" y="4468614"/>
            <a:ext cx="1074911" cy="27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720" b="1" spc="80" kern="0" dirty="0">
                <a:solidFill>
                  <a:srgbClr val="6A3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&amp; PUBLICITY LEAD</a:t>
            </a:r>
            <a:endParaRPr lang="en-US" sz="720" dirty="0"/>
          </a:p>
        </p:txBody>
      </p:sp>
      <p:sp>
        <p:nvSpPr>
          <p:cNvPr id="16" name="Text 14"/>
          <p:cNvSpPr txBox="1"/>
          <p:nvPr/>
        </p:nvSpPr>
        <p:spPr>
          <a:xfrm>
            <a:off x="6790234" y="4069854"/>
            <a:ext cx="965456" cy="36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833"/>
              </a:lnSpc>
              <a:buNone/>
            </a:pPr>
            <a:r>
              <a:rPr lang="en-US" sz="1030" b="1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Oluwanifemi Bayewu</a:t>
            </a:r>
            <a:endParaRPr lang="en-US" sz="1030" dirty="0"/>
          </a:p>
        </p:txBody>
      </p:sp>
      <p:sp>
        <p:nvSpPr>
          <p:cNvPr id="17" name="Text 15"/>
          <p:cNvSpPr txBox="1"/>
          <p:nvPr/>
        </p:nvSpPr>
        <p:spPr>
          <a:xfrm>
            <a:off x="6790234" y="4468515"/>
            <a:ext cx="978620" cy="410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720" b="1" spc="80" kern="0" dirty="0">
                <a:solidFill>
                  <a:srgbClr val="6A3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&amp; COMMUNITY GROWTH LEAD</a:t>
            </a:r>
            <a:endParaRPr lang="en-US" sz="720" dirty="0"/>
          </a:p>
        </p:txBody>
      </p:sp>
      <p:sp>
        <p:nvSpPr>
          <p:cNvPr id="18" name="Text 16"/>
          <p:cNvSpPr txBox="1"/>
          <p:nvPr/>
        </p:nvSpPr>
        <p:spPr>
          <a:xfrm>
            <a:off x="8066980" y="4069854"/>
            <a:ext cx="118479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833"/>
              </a:lnSpc>
              <a:buNone/>
            </a:pPr>
            <a:r>
              <a:rPr lang="en-US" sz="1030" b="1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member 7</a:t>
            </a:r>
            <a:endParaRPr lang="en-US" sz="1030" dirty="0"/>
          </a:p>
        </p:txBody>
      </p:sp>
      <p:sp>
        <p:nvSpPr>
          <p:cNvPr id="19" name="Text 17"/>
          <p:cNvSpPr txBox="1"/>
          <p:nvPr/>
        </p:nvSpPr>
        <p:spPr>
          <a:xfrm>
            <a:off x="8066980" y="4293295"/>
            <a:ext cx="766465" cy="27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720" b="1" spc="80" kern="0" dirty="0">
                <a:solidFill>
                  <a:srgbClr val="6A3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TO BE ADDED</a:t>
            </a:r>
            <a:endParaRPr lang="en-US" sz="720" dirty="0"/>
          </a:p>
        </p:txBody>
      </p:sp>
      <p:sp>
        <p:nvSpPr>
          <p:cNvPr id="20" name="Text 18"/>
          <p:cNvSpPr txBox="1"/>
          <p:nvPr/>
        </p:nvSpPr>
        <p:spPr>
          <a:xfrm>
            <a:off x="9343727" y="4069854"/>
            <a:ext cx="11910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833"/>
              </a:lnSpc>
              <a:buNone/>
            </a:pPr>
            <a:r>
              <a:rPr lang="en-US" sz="1030" b="1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member 8</a:t>
            </a:r>
            <a:endParaRPr lang="en-US" sz="1030" dirty="0"/>
          </a:p>
        </p:txBody>
      </p:sp>
      <p:sp>
        <p:nvSpPr>
          <p:cNvPr id="21" name="Text 19"/>
          <p:cNvSpPr txBox="1"/>
          <p:nvPr/>
        </p:nvSpPr>
        <p:spPr>
          <a:xfrm>
            <a:off x="9343727" y="4293295"/>
            <a:ext cx="766465" cy="27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720" b="1" spc="80" kern="0" dirty="0">
                <a:solidFill>
                  <a:srgbClr val="6A3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TO BE ADDED</a:t>
            </a:r>
            <a:endParaRPr lang="en-US" sz="720" dirty="0"/>
          </a:p>
        </p:txBody>
      </p:sp>
      <p:sp>
        <p:nvSpPr>
          <p:cNvPr id="22" name="Text 20"/>
          <p:cNvSpPr txBox="1"/>
          <p:nvPr/>
        </p:nvSpPr>
        <p:spPr>
          <a:xfrm>
            <a:off x="10620474" y="4069953"/>
            <a:ext cx="119275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833"/>
              </a:lnSpc>
              <a:buNone/>
            </a:pPr>
            <a:r>
              <a:rPr lang="en-US" sz="1030" b="1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member 9</a:t>
            </a:r>
            <a:endParaRPr lang="en-US" sz="1030" dirty="0"/>
          </a:p>
        </p:txBody>
      </p:sp>
      <p:sp>
        <p:nvSpPr>
          <p:cNvPr id="23" name="Text 21"/>
          <p:cNvSpPr txBox="1"/>
          <p:nvPr/>
        </p:nvSpPr>
        <p:spPr>
          <a:xfrm>
            <a:off x="10620474" y="4293394"/>
            <a:ext cx="766465" cy="27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720" b="1" spc="80" kern="0" dirty="0">
                <a:solidFill>
                  <a:srgbClr val="6A3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TO BE ADDED</a:t>
            </a:r>
            <a:endParaRPr lang="en-US" sz="720" dirty="0"/>
          </a:p>
        </p:txBody>
      </p:sp>
      <p:sp>
        <p:nvSpPr>
          <p:cNvPr id="24" name="Text 22"/>
          <p:cNvSpPr txBox="1"/>
          <p:nvPr/>
        </p:nvSpPr>
        <p:spPr>
          <a:xfrm>
            <a:off x="761901" y="5260181"/>
            <a:ext cx="2179124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890" b="1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and shipped the live product</a:t>
            </a:r>
            <a:endParaRPr lang="en-US" sz="890" dirty="0"/>
          </a:p>
        </p:txBody>
      </p:sp>
      <p:sp>
        <p:nvSpPr>
          <p:cNvPr id="25" name="Text 23"/>
          <p:cNvSpPr txBox="1"/>
          <p:nvPr/>
        </p:nvSpPr>
        <p:spPr>
          <a:xfrm>
            <a:off x="3407966" y="5260181"/>
            <a:ext cx="2024761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890" b="1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&amp; campus relationships</a:t>
            </a:r>
            <a:endParaRPr lang="en-US" sz="890" dirty="0"/>
          </a:p>
        </p:txBody>
      </p:sp>
      <p:sp>
        <p:nvSpPr>
          <p:cNvPr id="26" name="Text 24"/>
          <p:cNvSpPr txBox="1"/>
          <p:nvPr/>
        </p:nvSpPr>
        <p:spPr>
          <a:xfrm>
            <a:off x="5909766" y="5260181"/>
            <a:ext cx="1748947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890" b="1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&amp; growth planning</a:t>
            </a:r>
            <a:endParaRPr lang="en-US" sz="890" dirty="0"/>
          </a:p>
        </p:txBody>
      </p:sp>
      <p:sp>
        <p:nvSpPr>
          <p:cNvPr id="27" name="Text 25"/>
          <p:cNvSpPr txBox="1"/>
          <p:nvPr/>
        </p:nvSpPr>
        <p:spPr>
          <a:xfrm>
            <a:off x="599281" y="6217940"/>
            <a:ext cx="8882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830" b="1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levromart.com</a:t>
            </a:r>
            <a:endParaRPr lang="en-US" sz="830" dirty="0"/>
          </a:p>
        </p:txBody>
      </p:sp>
      <p:sp>
        <p:nvSpPr>
          <p:cNvPr id="28" name="Text 26"/>
          <p:cNvSpPr txBox="1"/>
          <p:nvPr/>
        </p:nvSpPr>
        <p:spPr>
          <a:xfrm>
            <a:off x="8862814" y="6217940"/>
            <a:ext cx="312738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830" b="1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LevroMart · AMSUL Business Pitch Competition 2026</a:t>
            </a:r>
            <a:endParaRPr lang="en-US" sz="83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0641" y="521891"/>
            <a:ext cx="327272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890" b="1" spc="330" kern="0" dirty="0">
                <a:solidFill>
                  <a:srgbClr val="27F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 &amp; USE OF RESOURCES</a:t>
            </a:r>
            <a:endParaRPr lang="en-US" sz="890" dirty="0"/>
          </a:p>
        </p:txBody>
      </p:sp>
      <p:sp>
        <p:nvSpPr>
          <p:cNvPr id="3" name="Text 1"/>
          <p:cNvSpPr txBox="1"/>
          <p:nvPr/>
        </p:nvSpPr>
        <p:spPr>
          <a:xfrm>
            <a:off x="11640245" y="521990"/>
            <a:ext cx="196155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8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90" dirty="0"/>
          </a:p>
        </p:txBody>
      </p:sp>
      <p:sp>
        <p:nvSpPr>
          <p:cNvPr id="4" name="Text 2"/>
          <p:cNvSpPr txBox="1"/>
          <p:nvPr/>
        </p:nvSpPr>
        <p:spPr>
          <a:xfrm>
            <a:off x="406400" y="971352"/>
            <a:ext cx="5472864" cy="1048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1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early adoption into a </a:t>
            </a:r>
            <a:pPr algn="l" indent="0" marL="0">
              <a:lnSpc>
                <a:spcPct val="85000"/>
              </a:lnSpc>
              <a:buNone/>
            </a:pPr>
            <a:r>
              <a:rPr lang="en-US" sz="3160" b="1" dirty="0">
                <a:solidFill>
                  <a:srgbClr val="27F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 marketplace.</a:t>
            </a:r>
            <a:endParaRPr lang="en-US" sz="3160" dirty="0"/>
          </a:p>
        </p:txBody>
      </p:sp>
      <p:sp>
        <p:nvSpPr>
          <p:cNvPr id="5" name="Text 3"/>
          <p:cNvSpPr txBox="1"/>
          <p:nvPr/>
        </p:nvSpPr>
        <p:spPr>
          <a:xfrm>
            <a:off x="406400" y="1932781"/>
            <a:ext cx="3959283" cy="1022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500" b="1" dirty="0">
                <a:solidFill>
                  <a:srgbClr val="FFC8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₦20M</a:t>
            </a:r>
            <a:pPr algn="l" indent="0" marL="0">
              <a:lnSpc>
                <a:spcPct val="8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support</a:t>
            </a:r>
            <a:endParaRPr lang="en-US" sz="5500" dirty="0"/>
          </a:p>
        </p:txBody>
      </p:sp>
      <p:sp>
        <p:nvSpPr>
          <p:cNvPr id="6" name="Text 4"/>
          <p:cNvSpPr txBox="1"/>
          <p:nvPr/>
        </p:nvSpPr>
        <p:spPr>
          <a:xfrm>
            <a:off x="2793901" y="3320455"/>
            <a:ext cx="2063192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&amp; campus acquisition</a:t>
            </a:r>
            <a:endParaRPr lang="en-US" sz="930" dirty="0"/>
          </a:p>
        </p:txBody>
      </p:sp>
      <p:sp>
        <p:nvSpPr>
          <p:cNvPr id="7" name="Text 5"/>
          <p:cNvSpPr txBox="1"/>
          <p:nvPr/>
        </p:nvSpPr>
        <p:spPr>
          <a:xfrm>
            <a:off x="4965898" y="3320455"/>
            <a:ext cx="675084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 · ₦7M</a:t>
            </a:r>
            <a:endParaRPr lang="en-US" sz="930" dirty="0"/>
          </a:p>
        </p:txBody>
      </p:sp>
      <p:sp>
        <p:nvSpPr>
          <p:cNvPr id="8" name="Text 6"/>
          <p:cNvSpPr txBox="1"/>
          <p:nvPr/>
        </p:nvSpPr>
        <p:spPr>
          <a:xfrm>
            <a:off x="2793901" y="3562846"/>
            <a:ext cx="191435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growth &amp; onboarding</a:t>
            </a:r>
            <a:endParaRPr lang="en-US" sz="930" dirty="0"/>
          </a:p>
        </p:txBody>
      </p:sp>
      <p:sp>
        <p:nvSpPr>
          <p:cNvPr id="9" name="Text 7"/>
          <p:cNvSpPr txBox="1"/>
          <p:nvPr/>
        </p:nvSpPr>
        <p:spPr>
          <a:xfrm>
            <a:off x="4939407" y="3562846"/>
            <a:ext cx="701576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· ₦4M</a:t>
            </a:r>
            <a:endParaRPr lang="en-US" sz="930" dirty="0"/>
          </a:p>
        </p:txBody>
      </p:sp>
      <p:sp>
        <p:nvSpPr>
          <p:cNvPr id="10" name="Text 8"/>
          <p:cNvSpPr txBox="1"/>
          <p:nvPr/>
        </p:nvSpPr>
        <p:spPr>
          <a:xfrm>
            <a:off x="2793901" y="3805237"/>
            <a:ext cx="1413362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&amp; technology</a:t>
            </a:r>
            <a:endParaRPr lang="en-US" sz="930" dirty="0"/>
          </a:p>
        </p:txBody>
      </p:sp>
      <p:sp>
        <p:nvSpPr>
          <p:cNvPr id="11" name="Text 9"/>
          <p:cNvSpPr txBox="1"/>
          <p:nvPr/>
        </p:nvSpPr>
        <p:spPr>
          <a:xfrm>
            <a:off x="4939407" y="3805237"/>
            <a:ext cx="701576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· ₦4M</a:t>
            </a:r>
            <a:endParaRPr lang="en-US" sz="930" dirty="0"/>
          </a:p>
        </p:txBody>
      </p:sp>
      <p:sp>
        <p:nvSpPr>
          <p:cNvPr id="12" name="Text 10"/>
          <p:cNvSpPr txBox="1"/>
          <p:nvPr/>
        </p:nvSpPr>
        <p:spPr>
          <a:xfrm>
            <a:off x="2793901" y="4047629"/>
            <a:ext cx="123797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&amp; operations</a:t>
            </a:r>
            <a:endParaRPr lang="en-US" sz="930" dirty="0"/>
          </a:p>
        </p:txBody>
      </p:sp>
      <p:sp>
        <p:nvSpPr>
          <p:cNvPr id="13" name="Text 11"/>
          <p:cNvSpPr txBox="1"/>
          <p:nvPr/>
        </p:nvSpPr>
        <p:spPr>
          <a:xfrm>
            <a:off x="4985048" y="4047629"/>
            <a:ext cx="655935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· ₦3M</a:t>
            </a:r>
            <a:endParaRPr lang="en-US" sz="930" dirty="0"/>
          </a:p>
        </p:txBody>
      </p:sp>
      <p:sp>
        <p:nvSpPr>
          <p:cNvPr id="14" name="Text 12"/>
          <p:cNvSpPr txBox="1"/>
          <p:nvPr/>
        </p:nvSpPr>
        <p:spPr>
          <a:xfrm>
            <a:off x="2793901" y="4290020"/>
            <a:ext cx="1746186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&amp; contingency</a:t>
            </a:r>
            <a:endParaRPr lang="en-US" sz="930" dirty="0"/>
          </a:p>
        </p:txBody>
      </p:sp>
      <p:sp>
        <p:nvSpPr>
          <p:cNvPr id="15" name="Text 13"/>
          <p:cNvSpPr txBox="1"/>
          <p:nvPr/>
        </p:nvSpPr>
        <p:spPr>
          <a:xfrm>
            <a:off x="4969966" y="4290020"/>
            <a:ext cx="671016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 · ₦2M</a:t>
            </a:r>
            <a:endParaRPr lang="en-US" sz="930" dirty="0"/>
          </a:p>
        </p:txBody>
      </p:sp>
      <p:sp>
        <p:nvSpPr>
          <p:cNvPr id="16" name="Text 14"/>
          <p:cNvSpPr txBox="1"/>
          <p:nvPr/>
        </p:nvSpPr>
        <p:spPr>
          <a:xfrm>
            <a:off x="761901" y="5035153"/>
            <a:ext cx="2832033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890" b="1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Mentorship: marketplace ops &amp; fundraising</a:t>
            </a:r>
            <a:endParaRPr lang="en-US" sz="890" dirty="0"/>
          </a:p>
        </p:txBody>
      </p:sp>
      <p:sp>
        <p:nvSpPr>
          <p:cNvPr id="17" name="Text 15"/>
          <p:cNvSpPr txBox="1"/>
          <p:nvPr/>
        </p:nvSpPr>
        <p:spPr>
          <a:xfrm>
            <a:off x="761901" y="5423495"/>
            <a:ext cx="321348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890" b="1" dirty="0">
                <a:solidFill>
                  <a:srgbClr val="1B0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Partnerships: logistics, payments, student unions</a:t>
            </a:r>
            <a:endParaRPr lang="en-US" sz="890" dirty="0"/>
          </a:p>
        </p:txBody>
      </p:sp>
      <p:sp>
        <p:nvSpPr>
          <p:cNvPr id="18" name="Text 16"/>
          <p:cNvSpPr txBox="1"/>
          <p:nvPr/>
        </p:nvSpPr>
        <p:spPr>
          <a:xfrm>
            <a:off x="6228060" y="970161"/>
            <a:ext cx="3986991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890" b="1" spc="330" kern="0" dirty="0">
                <a:solidFill>
                  <a:srgbClr val="27F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NEXT 12 MONTHS DELIVER</a:t>
            </a:r>
            <a:endParaRPr lang="en-US" sz="890" dirty="0"/>
          </a:p>
        </p:txBody>
      </p:sp>
      <p:sp>
        <p:nvSpPr>
          <p:cNvPr id="19" name="Text 17"/>
          <p:cNvSpPr txBox="1"/>
          <p:nvPr/>
        </p:nvSpPr>
        <p:spPr>
          <a:xfrm>
            <a:off x="6376591" y="1385193"/>
            <a:ext cx="8932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18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1,000+</a:t>
            </a:r>
            <a:endParaRPr lang="en-US" sz="1860" dirty="0"/>
          </a:p>
        </p:txBody>
      </p:sp>
      <p:sp>
        <p:nvSpPr>
          <p:cNvPr id="20" name="Text 18"/>
          <p:cNvSpPr txBox="1"/>
          <p:nvPr/>
        </p:nvSpPr>
        <p:spPr>
          <a:xfrm>
            <a:off x="6376591" y="1768673"/>
            <a:ext cx="602258" cy="259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7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BY MONTH 3</a:t>
            </a:r>
            <a:endParaRPr lang="en-US" sz="700" dirty="0"/>
          </a:p>
        </p:txBody>
      </p:sp>
      <p:sp>
        <p:nvSpPr>
          <p:cNvPr id="21" name="Text 19"/>
          <p:cNvSpPr txBox="1"/>
          <p:nvPr/>
        </p:nvSpPr>
        <p:spPr>
          <a:xfrm>
            <a:off x="7791351" y="1385193"/>
            <a:ext cx="91757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18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</a:t>
            </a:r>
            <a:endParaRPr lang="en-US" sz="1860" dirty="0"/>
          </a:p>
        </p:txBody>
      </p:sp>
      <p:sp>
        <p:nvSpPr>
          <p:cNvPr id="22" name="Text 20"/>
          <p:cNvSpPr txBox="1"/>
          <p:nvPr/>
        </p:nvSpPr>
        <p:spPr>
          <a:xfrm>
            <a:off x="7791351" y="1768673"/>
            <a:ext cx="636587" cy="259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7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BY MONTH 12</a:t>
            </a:r>
            <a:endParaRPr lang="en-US" sz="700" dirty="0"/>
          </a:p>
        </p:txBody>
      </p:sp>
      <p:sp>
        <p:nvSpPr>
          <p:cNvPr id="23" name="Text 21"/>
          <p:cNvSpPr txBox="1"/>
          <p:nvPr/>
        </p:nvSpPr>
        <p:spPr>
          <a:xfrm>
            <a:off x="9206111" y="1385193"/>
            <a:ext cx="64869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18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1,100</a:t>
            </a:r>
            <a:endParaRPr lang="en-US" sz="1860" dirty="0"/>
          </a:p>
        </p:txBody>
      </p:sp>
      <p:sp>
        <p:nvSpPr>
          <p:cNvPr id="24" name="Text 22"/>
          <p:cNvSpPr txBox="1"/>
          <p:nvPr/>
        </p:nvSpPr>
        <p:spPr>
          <a:xfrm>
            <a:off x="9206111" y="1768673"/>
            <a:ext cx="801751" cy="259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7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VENDORS BY MONTH 12</a:t>
            </a:r>
            <a:endParaRPr lang="en-US" sz="700" dirty="0"/>
          </a:p>
        </p:txBody>
      </p:sp>
      <p:sp>
        <p:nvSpPr>
          <p:cNvPr id="25" name="Text 23"/>
          <p:cNvSpPr txBox="1"/>
          <p:nvPr/>
        </p:nvSpPr>
        <p:spPr>
          <a:xfrm>
            <a:off x="10620871" y="1385193"/>
            <a:ext cx="57249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18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₦1M</a:t>
            </a:r>
            <a:endParaRPr lang="en-US" sz="1860" dirty="0"/>
          </a:p>
        </p:txBody>
      </p:sp>
      <p:sp>
        <p:nvSpPr>
          <p:cNvPr id="26" name="Text 24"/>
          <p:cNvSpPr txBox="1"/>
          <p:nvPr/>
        </p:nvSpPr>
        <p:spPr>
          <a:xfrm>
            <a:off x="10620871" y="1768673"/>
            <a:ext cx="779457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7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REVENUE BY MONTH 12</a:t>
            </a:r>
            <a:endParaRPr lang="en-US" sz="700" dirty="0"/>
          </a:p>
        </p:txBody>
      </p:sp>
      <p:sp>
        <p:nvSpPr>
          <p:cNvPr id="27" name="Text 25"/>
          <p:cNvSpPr txBox="1"/>
          <p:nvPr/>
        </p:nvSpPr>
        <p:spPr>
          <a:xfrm>
            <a:off x="6228060" y="2390775"/>
            <a:ext cx="5909941" cy="813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241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Easier to find. Easier to trust. </a:t>
            </a:r>
            <a:pPr algn="l" indent="0" marL="0">
              <a:lnSpc>
                <a:spcPct val="85000"/>
              </a:lnSpc>
              <a:buNone/>
            </a:pPr>
            <a:r>
              <a:rPr lang="en-US" sz="2410" b="1" dirty="0">
                <a:solidFill>
                  <a:srgbClr val="FFC8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Easier to transact.</a:t>
            </a:r>
            <a:endParaRPr lang="en-US" sz="2410" dirty="0"/>
          </a:p>
        </p:txBody>
      </p:sp>
      <p:sp>
        <p:nvSpPr>
          <p:cNvPr id="28" name="Text 26"/>
          <p:cNvSpPr txBox="1"/>
          <p:nvPr/>
        </p:nvSpPr>
        <p:spPr>
          <a:xfrm>
            <a:off x="8300541" y="3652341"/>
            <a:ext cx="2463431" cy="572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1667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scan. Everything LevroMart.</a:t>
            </a:r>
            <a:endParaRPr lang="en-US" sz="1650" dirty="0"/>
          </a:p>
        </p:txBody>
      </p:sp>
      <p:sp>
        <p:nvSpPr>
          <p:cNvPr id="29" name="Text 27"/>
          <p:cNvSpPr txBox="1"/>
          <p:nvPr/>
        </p:nvSpPr>
        <p:spPr>
          <a:xfrm>
            <a:off x="8300541" y="4275038"/>
            <a:ext cx="2434554" cy="521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8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Website, Instagram, TikTok, LinkedIn, WhatsApp community and more, all on levromart.com/links.</a:t>
            </a:r>
            <a:endParaRPr lang="en-US" sz="890" dirty="0"/>
          </a:p>
        </p:txBody>
      </p:sp>
      <p:sp>
        <p:nvSpPr>
          <p:cNvPr id="30" name="Text 28"/>
          <p:cNvSpPr txBox="1"/>
          <p:nvPr/>
        </p:nvSpPr>
        <p:spPr>
          <a:xfrm>
            <a:off x="6228060" y="5279926"/>
            <a:ext cx="3596414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7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· @levromart · AMSUL Business Pitch Competition 2026</a:t>
            </a:r>
            <a:endParaRPr lang="en-US" sz="790" dirty="0"/>
          </a:p>
        </p:txBody>
      </p:sp>
      <p:sp>
        <p:nvSpPr>
          <p:cNvPr id="31" name="Text 29"/>
          <p:cNvSpPr txBox="1"/>
          <p:nvPr/>
        </p:nvSpPr>
        <p:spPr>
          <a:xfrm>
            <a:off x="599281" y="6217940"/>
            <a:ext cx="8882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levromart.com</a:t>
            </a:r>
            <a:endParaRPr lang="en-US" sz="830" dirty="0"/>
          </a:p>
        </p:txBody>
      </p:sp>
      <p:sp>
        <p:nvSpPr>
          <p:cNvPr id="32" name="Text 30"/>
          <p:cNvSpPr txBox="1"/>
          <p:nvPr/>
        </p:nvSpPr>
        <p:spPr>
          <a:xfrm>
            <a:off x="10105827" y="6217940"/>
            <a:ext cx="179735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LevroMart · Buy · Sell · Connect</a:t>
            </a:r>
            <a:endParaRPr lang="en-US" sz="8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LevroMart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LevroMart – AMSUL Business Pitch Competition 2026</dc:title>
  <dc:subject>PptxGenJS Presentation</dc:subject>
  <dc:creator>LevroMart</dc:creator>
  <cp:lastModifiedBy>LevroMart</cp:lastModifiedBy>
  <cp:revision>1</cp:revision>
  <dcterms:created xsi:type="dcterms:W3CDTF">2026-10-25T00:06:51Z</dcterms:created>
  <dcterms:modified xsi:type="dcterms:W3CDTF">2026-10-25T00:06:51Z</dcterms:modified>
</cp:coreProperties>
</file>